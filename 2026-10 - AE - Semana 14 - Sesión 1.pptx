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6" r:id="rId3"/>
    <p:sldId id="287" r:id="rId4"/>
    <p:sldId id="306" r:id="rId5"/>
    <p:sldId id="382" r:id="rId6"/>
    <p:sldId id="352" r:id="rId7"/>
    <p:sldId id="353" r:id="rId8"/>
    <p:sldId id="354" r:id="rId9"/>
    <p:sldId id="355" r:id="rId10"/>
    <p:sldId id="356" r:id="rId11"/>
    <p:sldId id="357" r:id="rId12"/>
    <p:sldId id="358" r:id="rId13"/>
    <p:sldId id="359" r:id="rId14"/>
    <p:sldId id="361" r:id="rId15"/>
    <p:sldId id="362" r:id="rId16"/>
    <p:sldId id="363" r:id="rId17"/>
    <p:sldId id="365" r:id="rId18"/>
    <p:sldId id="366" r:id="rId19"/>
    <p:sldId id="367" r:id="rId20"/>
    <p:sldId id="368" r:id="rId21"/>
    <p:sldId id="370" r:id="rId22"/>
    <p:sldId id="373" r:id="rId23"/>
    <p:sldId id="374" r:id="rId24"/>
    <p:sldId id="383" r:id="rId25"/>
    <p:sldId id="384" r:id="rId26"/>
    <p:sldId id="806" r:id="rId27"/>
    <p:sldId id="276" r:id="rId28"/>
    <p:sldId id="320"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1020"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6/29/2026</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ebookcentral.upc.elogim.com/lib/upc-ebooks/detail.action?docID=5332142"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doi.org/10.21017/rimci.2021.v8.n15.a9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130426"/>
            <a:ext cx="9144000" cy="1470025"/>
          </a:xfrm>
        </p:spPr>
        <p:txBody>
          <a:bodyPr>
            <a:normAutofit/>
          </a:bodyPr>
          <a:lstStyle/>
          <a:p>
            <a:r>
              <a:rPr lang="es-PE" noProof="0" dirty="0"/>
              <a:t>Semana 14 - Sesión 1: </a:t>
            </a:r>
            <a:br>
              <a:rPr lang="es-PE" noProof="0" dirty="0"/>
            </a:br>
            <a:r>
              <a:rPr lang="es-PE" noProof="0" dirty="0"/>
              <a:t>Robotización de procesos con RPA</a:t>
            </a:r>
          </a:p>
        </p:txBody>
      </p:sp>
      <p:sp>
        <p:nvSpPr>
          <p:cNvPr id="3" name="Subtitle 2"/>
          <p:cNvSpPr>
            <a:spLocks noGrp="1"/>
          </p:cNvSpPr>
          <p:nvPr>
            <p:ph type="subTitle" idx="1"/>
          </p:nvPr>
        </p:nvSpPr>
        <p:spPr/>
        <p:txBody>
          <a:bodyPr/>
          <a:lstStyle/>
          <a:p>
            <a:r>
              <a:rPr lang="es-PE" noProof="0" dirty="0"/>
              <a:t>Curso: Arquitectura Empresarial</a:t>
            </a:r>
          </a:p>
          <a:p>
            <a:r>
              <a:rPr lang="es-PE" dirty="0"/>
              <a:t>Programa: Ingeniería de Sistemas de Información</a:t>
            </a:r>
            <a:endParaRPr lang="es-PE" noProof="0" dirty="0"/>
          </a:p>
        </p:txBody>
      </p:sp>
      <p:pic>
        <p:nvPicPr>
          <p:cNvPr id="5" name="Imagen 4">
            <a:extLst>
              <a:ext uri="{FF2B5EF4-FFF2-40B4-BE49-F238E27FC236}">
                <a16:creationId xmlns:a16="http://schemas.microsoft.com/office/drawing/2014/main" id="{B8DD8B53-BB02-BB44-2662-2617F276EDE2}"/>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FF7D5F28-A033-2D8B-4FA1-EA17949EE036}"/>
              </a:ext>
            </a:extLst>
          </p:cNvPr>
          <p:cNvSpPr txBox="1"/>
          <p:nvPr/>
        </p:nvSpPr>
        <p:spPr>
          <a:xfrm>
            <a:off x="11385427" y="669302"/>
            <a:ext cx="702436" cy="276999"/>
          </a:xfrm>
          <a:prstGeom prst="rect">
            <a:avLst/>
          </a:prstGeom>
          <a:noFill/>
        </p:spPr>
        <p:txBody>
          <a:bodyPr wrap="none" lIns="91440" tIns="45720" rIns="91440" bIns="45720" rtlCol="0" anchor="t">
            <a:spAutoFit/>
          </a:bodyPr>
          <a:lstStyle/>
          <a:p>
            <a:r>
              <a:rPr lang="es-ES" sz="1200" b="1" dirty="0">
                <a:solidFill>
                  <a:srgbClr val="C00000"/>
                </a:solidFill>
              </a:rPr>
              <a:t>2026-10</a:t>
            </a:r>
            <a:endParaRPr lang="es-PE" sz="1200"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A3994-5864-9E92-AE38-35BAF92A1C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A0EFF-652E-2127-62B7-17D3CC862A1E}"/>
              </a:ext>
            </a:extLst>
          </p:cNvPr>
          <p:cNvSpPr>
            <a:spLocks noGrp="1"/>
          </p:cNvSpPr>
          <p:nvPr>
            <p:ph type="title"/>
          </p:nvPr>
        </p:nvSpPr>
        <p:spPr/>
        <p:txBody>
          <a:bodyPr>
            <a:normAutofit/>
          </a:bodyPr>
          <a:lstStyle/>
          <a:p>
            <a:r>
              <a:rPr lang="es-ES" dirty="0"/>
              <a:t>Agenda</a:t>
            </a:r>
            <a:endParaRPr dirty="0"/>
          </a:p>
        </p:txBody>
      </p:sp>
      <p:sp>
        <p:nvSpPr>
          <p:cNvPr id="3" name="Content Placeholder 2">
            <a:extLst>
              <a:ext uri="{FF2B5EF4-FFF2-40B4-BE49-F238E27FC236}">
                <a16:creationId xmlns:a16="http://schemas.microsoft.com/office/drawing/2014/main" id="{25995D9A-6D07-9D19-6897-4EB5138D3A4C}"/>
              </a:ext>
            </a:extLst>
          </p:cNvPr>
          <p:cNvSpPr>
            <a:spLocks noGrp="1"/>
          </p:cNvSpPr>
          <p:nvPr>
            <p:ph idx="1"/>
          </p:nvPr>
        </p:nvSpPr>
        <p:spPr/>
        <p:txBody>
          <a:bodyPr>
            <a:normAutofit/>
          </a:bodyPr>
          <a:lstStyle/>
          <a:p>
            <a:r>
              <a:rPr lang="es-ES" sz="2600" dirty="0"/>
              <a:t>Modelos operativos de RPA (RPA atendida, Rpa no atendida, RPA hibrida)</a:t>
            </a:r>
          </a:p>
          <a:p>
            <a:r>
              <a:rPr lang="es-ES" sz="2600" dirty="0"/>
              <a:t>Técnicas de RPA</a:t>
            </a:r>
          </a:p>
          <a:p>
            <a:pPr marL="0" indent="0">
              <a:buNone/>
            </a:pPr>
            <a:endParaRPr lang="es-ES" sz="2000" dirty="0"/>
          </a:p>
          <a:p>
            <a:pPr marL="0" indent="0">
              <a:buNone/>
            </a:pPr>
            <a:endParaRPr lang="es-ES" sz="2000" dirty="0"/>
          </a:p>
          <a:p>
            <a:endParaRPr lang="es-ES" sz="2000" dirty="0"/>
          </a:p>
          <a:p>
            <a:endParaRPr lang="es-ES" sz="1600" dirty="0"/>
          </a:p>
          <a:p>
            <a:pPr lvl="1"/>
            <a:endParaRPr sz="1600" dirty="0"/>
          </a:p>
        </p:txBody>
      </p:sp>
      <p:pic>
        <p:nvPicPr>
          <p:cNvPr id="5" name="Imagen 4">
            <a:extLst>
              <a:ext uri="{FF2B5EF4-FFF2-40B4-BE49-F238E27FC236}">
                <a16:creationId xmlns:a16="http://schemas.microsoft.com/office/drawing/2014/main" id="{839F051E-C08B-7174-9F3F-077FAAC60897}"/>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833E3462-0449-3D5C-64C7-7311A459BA2C}"/>
              </a:ext>
            </a:extLst>
          </p:cNvPr>
          <p:cNvSpPr txBox="1"/>
          <p:nvPr/>
        </p:nvSpPr>
        <p:spPr>
          <a:xfrm>
            <a:off x="11385427" y="669302"/>
            <a:ext cx="702436" cy="276999"/>
          </a:xfrm>
          <a:prstGeom prst="rect">
            <a:avLst/>
          </a:prstGeom>
          <a:noFill/>
        </p:spPr>
        <p:txBody>
          <a:bodyPr wrap="none" lIns="91440" tIns="45720" rIns="91440" bIns="45720" rtlCol="0" anchor="t">
            <a:spAutoFit/>
          </a:bodyPr>
          <a:lstStyle/>
          <a:p>
            <a:r>
              <a:rPr lang="es-ES" sz="1200" b="1" dirty="0">
                <a:solidFill>
                  <a:srgbClr val="C00000"/>
                </a:solidFill>
              </a:rPr>
              <a:t>2026-10</a:t>
            </a:r>
            <a:endParaRPr lang="es-PE" sz="1200" b="1" dirty="0">
              <a:solidFill>
                <a:srgbClr val="C00000"/>
              </a:solidFill>
            </a:endParaRPr>
          </a:p>
        </p:txBody>
      </p:sp>
    </p:spTree>
    <p:extLst>
      <p:ext uri="{BB962C8B-B14F-4D97-AF65-F5344CB8AC3E}">
        <p14:creationId xmlns:p14="http://schemas.microsoft.com/office/powerpoint/2010/main" val="601510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61EC0-8262-8477-A042-15FC6570F1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132FCC-9C04-8051-2B0C-F044007C8A5F}"/>
              </a:ext>
            </a:extLst>
          </p:cNvPr>
          <p:cNvSpPr>
            <a:spLocks noGrp="1"/>
          </p:cNvSpPr>
          <p:nvPr>
            <p:ph type="title"/>
          </p:nvPr>
        </p:nvSpPr>
        <p:spPr/>
        <p:txBody>
          <a:bodyPr>
            <a:normAutofit/>
          </a:bodyPr>
          <a:lstStyle/>
          <a:p>
            <a:r>
              <a:rPr lang="es-ES" dirty="0"/>
              <a:t>Logros</a:t>
            </a:r>
            <a:endParaRPr dirty="0"/>
          </a:p>
        </p:txBody>
      </p:sp>
      <p:sp>
        <p:nvSpPr>
          <p:cNvPr id="3" name="Content Placeholder 2">
            <a:extLst>
              <a:ext uri="{FF2B5EF4-FFF2-40B4-BE49-F238E27FC236}">
                <a16:creationId xmlns:a16="http://schemas.microsoft.com/office/drawing/2014/main" id="{9E894D74-409A-31F7-A8ED-E93568E5F263}"/>
              </a:ext>
            </a:extLst>
          </p:cNvPr>
          <p:cNvSpPr>
            <a:spLocks noGrp="1"/>
          </p:cNvSpPr>
          <p:nvPr>
            <p:ph idx="1"/>
          </p:nvPr>
        </p:nvSpPr>
        <p:spPr/>
        <p:txBody>
          <a:bodyPr>
            <a:normAutofit/>
          </a:bodyPr>
          <a:lstStyle/>
          <a:p>
            <a:pPr marL="0" indent="0">
              <a:buNone/>
            </a:pPr>
            <a:r>
              <a:rPr lang="es-MX" sz="2600" b="1" dirty="0"/>
              <a:t>Al finalizar la sesión, el estudiante será capaz de:</a:t>
            </a:r>
            <a:endParaRPr lang="es-MX" sz="2600" dirty="0"/>
          </a:p>
          <a:p>
            <a:pPr>
              <a:buFont typeface="Arial" panose="020B0604020202020204" pitchFamily="34" charset="0"/>
              <a:buChar char="•"/>
            </a:pPr>
            <a:r>
              <a:rPr lang="es-MX" sz="2600" dirty="0"/>
              <a:t>Comprender los modelos operativos de RPA: atendida, no atendida e híbrida. </a:t>
            </a:r>
          </a:p>
          <a:p>
            <a:pPr>
              <a:buFont typeface="Arial" panose="020B0604020202020204" pitchFamily="34" charset="0"/>
              <a:buChar char="•"/>
            </a:pPr>
            <a:r>
              <a:rPr lang="es-MX" sz="2600" dirty="0"/>
              <a:t>Identificar las principales técnicas de RPA utilizadas para automatizar procesos de negocio. </a:t>
            </a:r>
          </a:p>
          <a:p>
            <a:pPr>
              <a:buFont typeface="Arial" panose="020B0604020202020204" pitchFamily="34" charset="0"/>
              <a:buChar char="•"/>
            </a:pPr>
            <a:r>
              <a:rPr lang="es-MX" sz="2600" dirty="0"/>
              <a:t>Diferenciar las características, ventajas y aplicaciones de los modelos operativos y las técnicas de RPA.</a:t>
            </a:r>
          </a:p>
          <a:p>
            <a:pPr algn="just"/>
            <a:endParaRPr lang="es-ES" sz="2400" dirty="0">
              <a:solidFill>
                <a:srgbClr val="FF0000"/>
              </a:solidFill>
            </a:endParaRPr>
          </a:p>
          <a:p>
            <a:pPr lvl="1"/>
            <a:endParaRPr sz="1600" dirty="0"/>
          </a:p>
        </p:txBody>
      </p:sp>
      <p:pic>
        <p:nvPicPr>
          <p:cNvPr id="5" name="Imagen 4">
            <a:extLst>
              <a:ext uri="{FF2B5EF4-FFF2-40B4-BE49-F238E27FC236}">
                <a16:creationId xmlns:a16="http://schemas.microsoft.com/office/drawing/2014/main" id="{92204C67-55EC-D15A-D74E-67D1C6323B2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E513F96A-5A93-9A91-119C-BFC916EE920F}"/>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Tree>
    <p:extLst>
      <p:ext uri="{BB962C8B-B14F-4D97-AF65-F5344CB8AC3E}">
        <p14:creationId xmlns:p14="http://schemas.microsoft.com/office/powerpoint/2010/main" val="1305179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sz="4000" dirty="0"/>
              <a:t>Modelo operativo RPA</a:t>
            </a:r>
            <a:endParaRPr sz="4000"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4" name="CuadroTexto 3">
            <a:extLst>
              <a:ext uri="{FF2B5EF4-FFF2-40B4-BE49-F238E27FC236}">
                <a16:creationId xmlns:a16="http://schemas.microsoft.com/office/drawing/2014/main" id="{7DBE9806-0FF2-6100-96C4-87CF34CDFFE6}"/>
              </a:ext>
            </a:extLst>
          </p:cNvPr>
          <p:cNvSpPr txBox="1"/>
          <p:nvPr/>
        </p:nvSpPr>
        <p:spPr>
          <a:xfrm>
            <a:off x="680895" y="1143000"/>
            <a:ext cx="6467596" cy="4770537"/>
          </a:xfrm>
          <a:prstGeom prst="rect">
            <a:avLst/>
          </a:prstGeom>
          <a:noFill/>
        </p:spPr>
        <p:txBody>
          <a:bodyPr wrap="square">
            <a:spAutoFit/>
          </a:bodyPr>
          <a:lstStyle/>
          <a:p>
            <a:pPr algn="just"/>
            <a:r>
              <a:rPr lang="es-MX" sz="2600" b="1" dirty="0"/>
              <a:t>Un modelo operativo de RPA </a:t>
            </a:r>
            <a:r>
              <a:rPr lang="es-MX" sz="2600" dirty="0"/>
              <a:t>es la forma en que se organiza y ejecuta la automatización de procesos mediante robots de software dentro de una organización. Define cómo interactúan los bots con las personas, los sistemas y los procesos de negocio para realizar tareas automatizadas de manera eficiente.</a:t>
            </a:r>
          </a:p>
          <a:p>
            <a:pPr algn="just"/>
            <a:r>
              <a:rPr lang="es-MX" sz="2600" dirty="0"/>
              <a:t>Es decir, el modelo operativo establece cómo funcionarán los bots, cuándo intervendrán y qué nivel de participación tendrán los usuarios en la ejecución de los procesos.</a:t>
            </a:r>
          </a:p>
          <a:p>
            <a:endParaRPr lang="es-MX" dirty="0"/>
          </a:p>
        </p:txBody>
      </p:sp>
      <p:pic>
        <p:nvPicPr>
          <p:cNvPr id="7" name="Imagen 6" descr="Imagen de la pantalla de un celular con la imagen de un video juego&#10;&#10;Descripción generada automáticamente con confianza baja">
            <a:extLst>
              <a:ext uri="{FF2B5EF4-FFF2-40B4-BE49-F238E27FC236}">
                <a16:creationId xmlns:a16="http://schemas.microsoft.com/office/drawing/2014/main" id="{BAD7F6A5-8BD9-493C-A943-B78ED0F38066}"/>
              </a:ext>
            </a:extLst>
          </p:cNvPr>
          <p:cNvPicPr>
            <a:picLocks noChangeAspect="1"/>
          </p:cNvPicPr>
          <p:nvPr/>
        </p:nvPicPr>
        <p:blipFill>
          <a:blip r:embed="rId3"/>
          <a:stretch>
            <a:fillRect/>
          </a:stretch>
        </p:blipFill>
        <p:spPr>
          <a:xfrm>
            <a:off x="7256318" y="1870363"/>
            <a:ext cx="4675910" cy="3117273"/>
          </a:xfrm>
          <a:prstGeom prst="rect">
            <a:avLst/>
          </a:prstGeom>
        </p:spPr>
      </p:pic>
    </p:spTree>
    <p:extLst>
      <p:ext uri="{BB962C8B-B14F-4D97-AF65-F5344CB8AC3E}">
        <p14:creationId xmlns:p14="http://schemas.microsoft.com/office/powerpoint/2010/main" val="3953530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sz="4000" b="1" dirty="0"/>
              <a:t>RPA Atendida</a:t>
            </a:r>
            <a:endParaRPr sz="4000"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4" name="CuadroTexto 3">
            <a:extLst>
              <a:ext uri="{FF2B5EF4-FFF2-40B4-BE49-F238E27FC236}">
                <a16:creationId xmlns:a16="http://schemas.microsoft.com/office/drawing/2014/main" id="{7DBE9806-0FF2-6100-96C4-87CF34CDFFE6}"/>
              </a:ext>
            </a:extLst>
          </p:cNvPr>
          <p:cNvSpPr txBox="1"/>
          <p:nvPr/>
        </p:nvSpPr>
        <p:spPr>
          <a:xfrm>
            <a:off x="680894" y="948690"/>
            <a:ext cx="10704533" cy="5909310"/>
          </a:xfrm>
          <a:prstGeom prst="rect">
            <a:avLst/>
          </a:prstGeom>
          <a:noFill/>
        </p:spPr>
        <p:txBody>
          <a:bodyPr wrap="square">
            <a:spAutoFit/>
          </a:bodyPr>
          <a:lstStyle/>
          <a:p>
            <a:pPr algn="just"/>
            <a:r>
              <a:rPr lang="es-MX" sz="2600" dirty="0"/>
              <a:t>Este RPA es un modelo de automatización donde el robot de software trabaja directamente junto al usuario. El bot se ejecuta en la computadora del empleado y requiere que este lo active para realizar determinadas tareas.</a:t>
            </a:r>
          </a:p>
          <a:p>
            <a:pPr algn="just"/>
            <a:r>
              <a:rPr lang="es-MX" sz="2400" b="1" dirty="0"/>
              <a:t>Características:</a:t>
            </a:r>
          </a:p>
          <a:p>
            <a:pPr marL="342900" indent="-342900" algn="just">
              <a:buFont typeface="Arial" panose="020B0604020202020204" pitchFamily="34" charset="0"/>
              <a:buChar char="•"/>
            </a:pPr>
            <a:r>
              <a:rPr lang="es-MX" sz="2600" dirty="0"/>
              <a:t>Funciona como un asistente digital. </a:t>
            </a:r>
          </a:p>
          <a:p>
            <a:pPr marL="342900" indent="-342900" algn="just">
              <a:buFont typeface="Arial" panose="020B0604020202020204" pitchFamily="34" charset="0"/>
              <a:buChar char="•"/>
            </a:pPr>
            <a:r>
              <a:rPr lang="es-MX" sz="2600" dirty="0"/>
              <a:t>Requiere intervención humana para iniciar el proceso. </a:t>
            </a:r>
          </a:p>
          <a:p>
            <a:pPr marL="342900" indent="-342900" algn="just">
              <a:buFont typeface="Arial" panose="020B0604020202020204" pitchFamily="34" charset="0"/>
              <a:buChar char="•"/>
            </a:pPr>
            <a:r>
              <a:rPr lang="es-MX" sz="2600" dirty="0"/>
              <a:t>Se ejecuta en el equipo del usuario. </a:t>
            </a:r>
          </a:p>
          <a:p>
            <a:pPr marL="342900" indent="-342900" algn="just">
              <a:buFont typeface="Arial" panose="020B0604020202020204" pitchFamily="34" charset="0"/>
              <a:buChar char="•"/>
            </a:pPr>
            <a:r>
              <a:rPr lang="es-MX" sz="2600" dirty="0"/>
              <a:t>Automatiza tareas repetitivas y de corta duración. </a:t>
            </a:r>
          </a:p>
          <a:p>
            <a:pPr marL="342900" indent="-342900" algn="just">
              <a:buFont typeface="Arial" panose="020B0604020202020204" pitchFamily="34" charset="0"/>
              <a:buChar char="•"/>
            </a:pPr>
            <a:r>
              <a:rPr lang="es-MX" sz="2600" dirty="0"/>
              <a:t>Permite la interacción en tiempo real entre el empleado y el bot. </a:t>
            </a:r>
          </a:p>
          <a:p>
            <a:pPr algn="just"/>
            <a:r>
              <a:rPr lang="es-MX" sz="2400" b="1" dirty="0"/>
              <a:t>Beneficios:</a:t>
            </a:r>
          </a:p>
          <a:p>
            <a:pPr indent="-342900" algn="just">
              <a:buFont typeface="Arial" panose="020B0604020202020204" pitchFamily="34" charset="0"/>
              <a:buChar char="•"/>
            </a:pPr>
            <a:r>
              <a:rPr lang="es-MX" sz="2600" dirty="0"/>
              <a:t>Reduce el tiempo dedicado a tareas manuales. </a:t>
            </a:r>
          </a:p>
          <a:p>
            <a:pPr indent="-342900" algn="just">
              <a:buFont typeface="Arial" panose="020B0604020202020204" pitchFamily="34" charset="0"/>
              <a:buChar char="•"/>
            </a:pPr>
            <a:r>
              <a:rPr lang="es-MX" sz="2600" dirty="0"/>
              <a:t>Disminuye errores de digitación y procesamiento. </a:t>
            </a:r>
          </a:p>
          <a:p>
            <a:pPr indent="-342900" algn="just">
              <a:buFont typeface="Arial" panose="020B0604020202020204" pitchFamily="34" charset="0"/>
              <a:buChar char="•"/>
            </a:pPr>
            <a:r>
              <a:rPr lang="es-MX" sz="2600" dirty="0"/>
              <a:t>Incrementa la productividad del personal. </a:t>
            </a:r>
          </a:p>
          <a:p>
            <a:pPr indent="-342900" algn="just">
              <a:buFont typeface="Arial" panose="020B0604020202020204" pitchFamily="34" charset="0"/>
              <a:buChar char="•"/>
            </a:pPr>
            <a:r>
              <a:rPr lang="es-MX" sz="2600" dirty="0"/>
              <a:t>Mejora la experiencia del cliente al reducir tiempos de atención.</a:t>
            </a:r>
          </a:p>
          <a:p>
            <a:endParaRPr lang="es-MX" dirty="0"/>
          </a:p>
        </p:txBody>
      </p:sp>
    </p:spTree>
    <p:extLst>
      <p:ext uri="{BB962C8B-B14F-4D97-AF65-F5344CB8AC3E}">
        <p14:creationId xmlns:p14="http://schemas.microsoft.com/office/powerpoint/2010/main" val="4154767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dirty="0"/>
              <a:t>Ejemplo Rpa atendida</a:t>
            </a:r>
            <a:endParaRPr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4" name="CuadroTexto 3">
            <a:extLst>
              <a:ext uri="{FF2B5EF4-FFF2-40B4-BE49-F238E27FC236}">
                <a16:creationId xmlns:a16="http://schemas.microsoft.com/office/drawing/2014/main" id="{7DBE9806-0FF2-6100-96C4-87CF34CDFFE6}"/>
              </a:ext>
            </a:extLst>
          </p:cNvPr>
          <p:cNvSpPr txBox="1"/>
          <p:nvPr/>
        </p:nvSpPr>
        <p:spPr>
          <a:xfrm>
            <a:off x="680894" y="1059874"/>
            <a:ext cx="10704533" cy="5909310"/>
          </a:xfrm>
          <a:prstGeom prst="rect">
            <a:avLst/>
          </a:prstGeom>
          <a:noFill/>
        </p:spPr>
        <p:txBody>
          <a:bodyPr wrap="square">
            <a:spAutoFit/>
          </a:bodyPr>
          <a:lstStyle/>
          <a:p>
            <a:pPr algn="just"/>
            <a:r>
              <a:rPr lang="es-MX" sz="2400" b="1" dirty="0"/>
              <a:t>Ejemplo: RPA Atendida en un Centro de Atención al Cliente</a:t>
            </a:r>
          </a:p>
          <a:p>
            <a:pPr algn="just"/>
            <a:r>
              <a:rPr lang="es-MX" sz="2400" b="1" dirty="0"/>
              <a:t>Situación Inicial</a:t>
            </a:r>
          </a:p>
          <a:p>
            <a:pPr algn="just"/>
            <a:r>
              <a:rPr lang="es-MX" sz="2400" dirty="0"/>
              <a:t>Un cliente llama al centro de atención para consultar el estado de su pedido. El agente debe identificar rápidamente al cliente y acceder a la información necesaria para responder sus consultas.</a:t>
            </a:r>
          </a:p>
          <a:p>
            <a:pPr algn="just"/>
            <a:endParaRPr lang="es-MX" sz="2400" dirty="0"/>
          </a:p>
          <a:p>
            <a:pPr algn="just"/>
            <a:r>
              <a:rPr lang="es-MX" sz="2400" b="1" dirty="0"/>
              <a:t>Proceso Tradicional (Sin RPA)</a:t>
            </a:r>
          </a:p>
          <a:p>
            <a:pPr marL="342900" indent="-342900" algn="just">
              <a:buFont typeface="Arial" panose="020B0604020202020204" pitchFamily="34" charset="0"/>
              <a:buChar char="•"/>
            </a:pPr>
            <a:r>
              <a:rPr lang="es-MX" sz="2400" dirty="0"/>
              <a:t>El agente solicita el número de documento o código de cliente. </a:t>
            </a:r>
          </a:p>
          <a:p>
            <a:pPr marL="342900" indent="-342900" algn="just">
              <a:buFont typeface="Arial" panose="020B0604020202020204" pitchFamily="34" charset="0"/>
              <a:buChar char="•"/>
            </a:pPr>
            <a:r>
              <a:rPr lang="es-MX" sz="2400" dirty="0"/>
              <a:t>Ingresa manualmente a varios sistemas (CRM, sistema de ventas, sistema de logística). </a:t>
            </a:r>
          </a:p>
          <a:p>
            <a:pPr marL="342900" indent="-342900" algn="just">
              <a:buFont typeface="Arial" panose="020B0604020202020204" pitchFamily="34" charset="0"/>
              <a:buChar char="•"/>
            </a:pPr>
            <a:r>
              <a:rPr lang="es-MX" sz="2400" dirty="0"/>
              <a:t>Busca la información en cada plataforma. </a:t>
            </a:r>
          </a:p>
          <a:p>
            <a:pPr marL="342900" indent="-342900" algn="just">
              <a:buFont typeface="Arial" panose="020B0604020202020204" pitchFamily="34" charset="0"/>
              <a:buChar char="•"/>
            </a:pPr>
            <a:r>
              <a:rPr lang="es-MX" sz="2400" dirty="0"/>
              <a:t>Copia y consolida los datos manualmente. </a:t>
            </a:r>
          </a:p>
          <a:p>
            <a:pPr marL="342900" indent="-342900" algn="just">
              <a:buFont typeface="Arial" panose="020B0604020202020204" pitchFamily="34" charset="0"/>
              <a:buChar char="•"/>
            </a:pPr>
            <a:r>
              <a:rPr lang="es-MX" sz="2400" dirty="0"/>
              <a:t>Finalmente responde al cliente. </a:t>
            </a:r>
          </a:p>
          <a:p>
            <a:pPr algn="just"/>
            <a:endParaRPr lang="es-MX" sz="2400" dirty="0"/>
          </a:p>
          <a:p>
            <a:pPr algn="just"/>
            <a:r>
              <a:rPr lang="es-MX" sz="2400" b="1" dirty="0"/>
              <a:t>Tiempo estimado:</a:t>
            </a:r>
            <a:r>
              <a:rPr lang="es-MX" sz="2400" dirty="0"/>
              <a:t> 3 a 5 minutos por consulta.</a:t>
            </a:r>
          </a:p>
          <a:p>
            <a:endParaRPr lang="es-MX" dirty="0"/>
          </a:p>
        </p:txBody>
      </p:sp>
    </p:spTree>
    <p:extLst>
      <p:ext uri="{BB962C8B-B14F-4D97-AF65-F5344CB8AC3E}">
        <p14:creationId xmlns:p14="http://schemas.microsoft.com/office/powerpoint/2010/main" val="1724152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dirty="0"/>
              <a:t>Ejemplo Rpa atendida</a:t>
            </a:r>
            <a:endParaRPr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4" name="CuadroTexto 3">
            <a:extLst>
              <a:ext uri="{FF2B5EF4-FFF2-40B4-BE49-F238E27FC236}">
                <a16:creationId xmlns:a16="http://schemas.microsoft.com/office/drawing/2014/main" id="{7DBE9806-0FF2-6100-96C4-87CF34CDFFE6}"/>
              </a:ext>
            </a:extLst>
          </p:cNvPr>
          <p:cNvSpPr txBox="1"/>
          <p:nvPr/>
        </p:nvSpPr>
        <p:spPr>
          <a:xfrm>
            <a:off x="882279" y="1087583"/>
            <a:ext cx="10704533" cy="4247317"/>
          </a:xfrm>
          <a:prstGeom prst="rect">
            <a:avLst/>
          </a:prstGeom>
          <a:noFill/>
        </p:spPr>
        <p:txBody>
          <a:bodyPr wrap="square">
            <a:spAutoFit/>
          </a:bodyPr>
          <a:lstStyle/>
          <a:p>
            <a:pPr algn="just">
              <a:lnSpc>
                <a:spcPct val="150000"/>
              </a:lnSpc>
            </a:pPr>
            <a:r>
              <a:rPr lang="es-MX" sz="2400" b="1" dirty="0"/>
              <a:t>Proceso con RPA Atendida:</a:t>
            </a:r>
          </a:p>
          <a:p>
            <a:pPr marL="342900" indent="-342900" algn="just">
              <a:buFont typeface="Arial" panose="020B0604020202020204" pitchFamily="34" charset="0"/>
              <a:buChar char="•"/>
            </a:pPr>
            <a:r>
              <a:rPr lang="es-MX" sz="2400" dirty="0"/>
              <a:t>El cliente llama y proporciona su número de documento. </a:t>
            </a:r>
          </a:p>
          <a:p>
            <a:pPr marL="342900" indent="-342900" algn="just">
              <a:buFont typeface="Arial" panose="020B0604020202020204" pitchFamily="34" charset="0"/>
              <a:buChar char="•"/>
            </a:pPr>
            <a:r>
              <a:rPr lang="es-MX" sz="2400" dirty="0"/>
              <a:t>El agente presiona un botón en la interfaz del bot. </a:t>
            </a:r>
          </a:p>
          <a:p>
            <a:pPr marL="342900" indent="-342900" algn="just">
              <a:buFont typeface="Arial" panose="020B0604020202020204" pitchFamily="34" charset="0"/>
              <a:buChar char="•"/>
            </a:pPr>
            <a:r>
              <a:rPr lang="es-MX" sz="2400" b="1" dirty="0"/>
              <a:t>El bot </a:t>
            </a:r>
            <a:r>
              <a:rPr lang="es-MX" sz="2400" dirty="0"/>
              <a:t>accede automáticamente al CRM de clientes. </a:t>
            </a:r>
          </a:p>
          <a:p>
            <a:pPr marL="342900" indent="-342900" algn="just">
              <a:buFont typeface="Arial" panose="020B0604020202020204" pitchFamily="34" charset="0"/>
              <a:buChar char="•"/>
            </a:pPr>
            <a:r>
              <a:rPr lang="es-MX" sz="2400" dirty="0"/>
              <a:t>Consulta el historial de compras del cliente. </a:t>
            </a:r>
          </a:p>
          <a:p>
            <a:pPr marL="342900" indent="-342900" algn="just">
              <a:buFont typeface="Arial" panose="020B0604020202020204" pitchFamily="34" charset="0"/>
              <a:buChar char="•"/>
            </a:pPr>
            <a:r>
              <a:rPr lang="es-MX" sz="2400" dirty="0"/>
              <a:t>Ingresa al sistema logístico para verificar el estado del pedido. </a:t>
            </a:r>
          </a:p>
          <a:p>
            <a:pPr marL="342900" indent="-342900" algn="just">
              <a:buFont typeface="Arial" panose="020B0604020202020204" pitchFamily="34" charset="0"/>
              <a:buChar char="•"/>
            </a:pPr>
            <a:r>
              <a:rPr lang="es-MX" sz="2400" dirty="0"/>
              <a:t>Revisa si existen reclamos o incidencias registradas. </a:t>
            </a:r>
          </a:p>
          <a:p>
            <a:pPr marL="342900" indent="-342900" algn="just">
              <a:buFont typeface="Arial" panose="020B0604020202020204" pitchFamily="34" charset="0"/>
              <a:buChar char="•"/>
            </a:pPr>
            <a:r>
              <a:rPr lang="es-MX" sz="2400" dirty="0"/>
              <a:t>Consolida toda la información en una única pantalla. </a:t>
            </a:r>
          </a:p>
          <a:p>
            <a:pPr marL="342900" indent="-342900" algn="just">
              <a:buFont typeface="Arial" panose="020B0604020202020204" pitchFamily="34" charset="0"/>
              <a:buChar char="•"/>
            </a:pPr>
            <a:r>
              <a:rPr lang="es-MX" sz="2400" dirty="0"/>
              <a:t>Presenta al agente un resumen completo en pocos segundos. </a:t>
            </a:r>
          </a:p>
          <a:p>
            <a:pPr marL="342900" indent="-342900" algn="just">
              <a:buFont typeface="Arial" panose="020B0604020202020204" pitchFamily="34" charset="0"/>
              <a:buChar char="•"/>
            </a:pPr>
            <a:r>
              <a:rPr lang="es-MX" sz="2400" dirty="0"/>
              <a:t>El agente comunica la información al cliente y resuelve la consulta.</a:t>
            </a:r>
          </a:p>
          <a:p>
            <a:endParaRPr lang="es-MX" dirty="0"/>
          </a:p>
        </p:txBody>
      </p:sp>
    </p:spTree>
    <p:extLst>
      <p:ext uri="{BB962C8B-B14F-4D97-AF65-F5344CB8AC3E}">
        <p14:creationId xmlns:p14="http://schemas.microsoft.com/office/powerpoint/2010/main" val="2406910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dirty="0"/>
              <a:t>Ejemplo Rpa atendida</a:t>
            </a:r>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graphicFrame>
        <p:nvGraphicFramePr>
          <p:cNvPr id="9" name="Tabla 8">
            <a:extLst>
              <a:ext uri="{FF2B5EF4-FFF2-40B4-BE49-F238E27FC236}">
                <a16:creationId xmlns:a16="http://schemas.microsoft.com/office/drawing/2014/main" id="{9596B143-CDE6-765E-98BB-279C60336585}"/>
              </a:ext>
            </a:extLst>
          </p:cNvPr>
          <p:cNvGraphicFramePr>
            <a:graphicFrameLocks noGrp="1"/>
          </p:cNvGraphicFramePr>
          <p:nvPr>
            <p:extLst>
              <p:ext uri="{D42A27DB-BD31-4B8C-83A1-F6EECF244321}">
                <p14:modId xmlns:p14="http://schemas.microsoft.com/office/powerpoint/2010/main" val="1476963265"/>
              </p:ext>
            </p:extLst>
          </p:nvPr>
        </p:nvGraphicFramePr>
        <p:xfrm>
          <a:off x="2390275" y="946301"/>
          <a:ext cx="8229599" cy="5630964"/>
        </p:xfrm>
        <a:graphic>
          <a:graphicData uri="http://schemas.openxmlformats.org/drawingml/2006/table">
            <a:tbl>
              <a:tblPr>
                <a:tableStyleId>{5C22544A-7EE6-4342-B048-85BDC9FD1C3A}</a:tableStyleId>
              </a:tblPr>
              <a:tblGrid>
                <a:gridCol w="5814926">
                  <a:extLst>
                    <a:ext uri="{9D8B030D-6E8A-4147-A177-3AD203B41FA5}">
                      <a16:colId xmlns:a16="http://schemas.microsoft.com/office/drawing/2014/main" val="3033068585"/>
                    </a:ext>
                  </a:extLst>
                </a:gridCol>
                <a:gridCol w="2414673">
                  <a:extLst>
                    <a:ext uri="{9D8B030D-6E8A-4147-A177-3AD203B41FA5}">
                      <a16:colId xmlns:a16="http://schemas.microsoft.com/office/drawing/2014/main" val="1572093213"/>
                    </a:ext>
                  </a:extLst>
                </a:gridCol>
              </a:tblGrid>
              <a:tr h="469247">
                <a:tc>
                  <a:txBody>
                    <a:bodyPr/>
                    <a:lstStyle/>
                    <a:p>
                      <a:pPr algn="ctr" fontAlgn="ctr"/>
                      <a:r>
                        <a:rPr lang="es-PE" sz="1400" b="1" u="none" strike="noStrike" dirty="0">
                          <a:effectLst/>
                        </a:rPr>
                        <a:t>Actividad</a:t>
                      </a:r>
                      <a:endParaRPr lang="es-PE" sz="1400" b="1" i="0" u="none" strike="noStrike" dirty="0">
                        <a:solidFill>
                          <a:srgbClr val="000000"/>
                        </a:solidFill>
                        <a:effectLst/>
                        <a:latin typeface="Calibri" panose="020F0502020204030204" pitchFamily="34" charset="0"/>
                      </a:endParaRPr>
                    </a:p>
                  </a:txBody>
                  <a:tcPr marL="9429" marR="9429" marT="9429" marB="0" anchor="ctr"/>
                </a:tc>
                <a:tc>
                  <a:txBody>
                    <a:bodyPr/>
                    <a:lstStyle/>
                    <a:p>
                      <a:pPr algn="ctr" fontAlgn="ctr"/>
                      <a:r>
                        <a:rPr lang="es-PE" sz="1400" b="1" u="none" strike="noStrike" dirty="0">
                          <a:effectLst/>
                        </a:rPr>
                        <a:t>Responsable</a:t>
                      </a:r>
                      <a:endParaRPr lang="es-PE" sz="1400" b="1" i="0" u="none" strike="noStrike" dirty="0">
                        <a:solidFill>
                          <a:srgbClr val="000000"/>
                        </a:solidFill>
                        <a:effectLst/>
                        <a:latin typeface="Calibri" panose="020F0502020204030204" pitchFamily="34" charset="0"/>
                      </a:endParaRPr>
                    </a:p>
                  </a:txBody>
                  <a:tcPr marL="9429" marR="9429" marT="9429" marB="0" anchor="ctr"/>
                </a:tc>
                <a:extLst>
                  <a:ext uri="{0D108BD9-81ED-4DB2-BD59-A6C34878D82A}">
                    <a16:rowId xmlns:a16="http://schemas.microsoft.com/office/drawing/2014/main" val="1409688749"/>
                  </a:ext>
                </a:extLst>
              </a:tr>
              <a:tr h="469247">
                <a:tc>
                  <a:txBody>
                    <a:bodyPr/>
                    <a:lstStyle/>
                    <a:p>
                      <a:pPr algn="l" fontAlgn="ctr"/>
                      <a:r>
                        <a:rPr lang="es-MX" sz="1400" u="none" strike="noStrike" dirty="0">
                          <a:effectLst/>
                        </a:rPr>
                        <a:t>Atender la llamada del cliente.</a:t>
                      </a:r>
                      <a:endParaRPr lang="es-MX" sz="1400" b="0" i="0" u="none" strike="noStrike" dirty="0">
                        <a:solidFill>
                          <a:srgbClr val="000000"/>
                        </a:solidFill>
                        <a:effectLst/>
                        <a:latin typeface="Calibri" panose="020F0502020204030204" pitchFamily="34" charset="0"/>
                      </a:endParaRPr>
                    </a:p>
                  </a:txBody>
                  <a:tcPr marL="9429" marR="9429" marT="9429" marB="0" anchor="ctr"/>
                </a:tc>
                <a:tc>
                  <a:txBody>
                    <a:bodyPr/>
                    <a:lstStyle/>
                    <a:p>
                      <a:pPr algn="ctr" fontAlgn="ctr"/>
                      <a:r>
                        <a:rPr lang="es-PE" sz="1400" u="none" strike="noStrike" dirty="0">
                          <a:effectLst/>
                        </a:rPr>
                        <a:t>Agente</a:t>
                      </a:r>
                      <a:endParaRPr lang="es-PE" sz="1400" b="0" i="0" u="none" strike="noStrike" dirty="0">
                        <a:solidFill>
                          <a:srgbClr val="000000"/>
                        </a:solidFill>
                        <a:effectLst/>
                        <a:latin typeface="Calibri" panose="020F0502020204030204" pitchFamily="34" charset="0"/>
                      </a:endParaRPr>
                    </a:p>
                  </a:txBody>
                  <a:tcPr marL="9429" marR="9429" marT="9429" marB="0" anchor="ctr"/>
                </a:tc>
                <a:extLst>
                  <a:ext uri="{0D108BD9-81ED-4DB2-BD59-A6C34878D82A}">
                    <a16:rowId xmlns:a16="http://schemas.microsoft.com/office/drawing/2014/main" val="1678347495"/>
                  </a:ext>
                </a:extLst>
              </a:tr>
              <a:tr h="469247">
                <a:tc>
                  <a:txBody>
                    <a:bodyPr/>
                    <a:lstStyle/>
                    <a:p>
                      <a:pPr algn="l" fontAlgn="ctr"/>
                      <a:r>
                        <a:rPr lang="es-MX" sz="1400" u="none" strike="noStrike" dirty="0">
                          <a:effectLst/>
                        </a:rPr>
                        <a:t>Solicitar y registrar el número de documento del cliente.</a:t>
                      </a:r>
                      <a:endParaRPr lang="es-MX" sz="1400" b="0" i="0" u="none" strike="noStrike" dirty="0">
                        <a:solidFill>
                          <a:srgbClr val="000000"/>
                        </a:solidFill>
                        <a:effectLst/>
                        <a:latin typeface="Calibri" panose="020F0502020204030204" pitchFamily="34" charset="0"/>
                      </a:endParaRPr>
                    </a:p>
                  </a:txBody>
                  <a:tcPr marL="9429" marR="9429" marT="9429" marB="0" anchor="ctr"/>
                </a:tc>
                <a:tc>
                  <a:txBody>
                    <a:bodyPr/>
                    <a:lstStyle/>
                    <a:p>
                      <a:pPr algn="ctr" fontAlgn="ctr"/>
                      <a:r>
                        <a:rPr lang="es-PE" sz="1400" u="none" strike="noStrike" dirty="0">
                          <a:effectLst/>
                        </a:rPr>
                        <a:t>Agente</a:t>
                      </a:r>
                      <a:endParaRPr lang="es-PE" sz="1400" b="0" i="0" u="none" strike="noStrike" dirty="0">
                        <a:solidFill>
                          <a:srgbClr val="000000"/>
                        </a:solidFill>
                        <a:effectLst/>
                        <a:latin typeface="Calibri" panose="020F0502020204030204" pitchFamily="34" charset="0"/>
                      </a:endParaRPr>
                    </a:p>
                  </a:txBody>
                  <a:tcPr marL="9429" marR="9429" marT="9429" marB="0" anchor="ctr"/>
                </a:tc>
                <a:extLst>
                  <a:ext uri="{0D108BD9-81ED-4DB2-BD59-A6C34878D82A}">
                    <a16:rowId xmlns:a16="http://schemas.microsoft.com/office/drawing/2014/main" val="4054185866"/>
                  </a:ext>
                </a:extLst>
              </a:tr>
              <a:tr h="469247">
                <a:tc>
                  <a:txBody>
                    <a:bodyPr/>
                    <a:lstStyle/>
                    <a:p>
                      <a:pPr algn="l" fontAlgn="ctr"/>
                      <a:r>
                        <a:rPr lang="es-MX" sz="1400" u="none" strike="noStrike" dirty="0">
                          <a:effectLst/>
                        </a:rPr>
                        <a:t>Presionar el botón para iniciar la automatización.</a:t>
                      </a:r>
                      <a:endParaRPr lang="es-MX" sz="1400" b="0" i="0" u="none" strike="noStrike" dirty="0">
                        <a:solidFill>
                          <a:srgbClr val="000000"/>
                        </a:solidFill>
                        <a:effectLst/>
                        <a:latin typeface="Calibri" panose="020F0502020204030204" pitchFamily="34" charset="0"/>
                      </a:endParaRPr>
                    </a:p>
                  </a:txBody>
                  <a:tcPr marL="9429" marR="9429" marT="9429" marB="0" anchor="ctr"/>
                </a:tc>
                <a:tc>
                  <a:txBody>
                    <a:bodyPr/>
                    <a:lstStyle/>
                    <a:p>
                      <a:pPr algn="ctr" fontAlgn="ctr"/>
                      <a:r>
                        <a:rPr lang="es-PE" sz="1400" u="none" strike="noStrike" dirty="0">
                          <a:effectLst/>
                        </a:rPr>
                        <a:t>Agente</a:t>
                      </a:r>
                      <a:endParaRPr lang="es-PE" sz="1400" b="0" i="0" u="none" strike="noStrike" dirty="0">
                        <a:solidFill>
                          <a:srgbClr val="000000"/>
                        </a:solidFill>
                        <a:effectLst/>
                        <a:latin typeface="Calibri" panose="020F0502020204030204" pitchFamily="34" charset="0"/>
                      </a:endParaRPr>
                    </a:p>
                  </a:txBody>
                  <a:tcPr marL="9429" marR="9429" marT="9429" marB="0" anchor="ctr"/>
                </a:tc>
                <a:extLst>
                  <a:ext uri="{0D108BD9-81ED-4DB2-BD59-A6C34878D82A}">
                    <a16:rowId xmlns:a16="http://schemas.microsoft.com/office/drawing/2014/main" val="1938770321"/>
                  </a:ext>
                </a:extLst>
              </a:tr>
              <a:tr h="469247">
                <a:tc>
                  <a:txBody>
                    <a:bodyPr/>
                    <a:lstStyle/>
                    <a:p>
                      <a:pPr algn="l" fontAlgn="ctr"/>
                      <a:r>
                        <a:rPr lang="es-PE" sz="1400" u="none" strike="noStrike" dirty="0">
                          <a:effectLst/>
                        </a:rPr>
                        <a:t>Acceder automáticamente al sistema CRM de clientes.</a:t>
                      </a:r>
                      <a:endParaRPr lang="es-PE" sz="1400" b="0" i="0" u="none" strike="noStrike" dirty="0">
                        <a:solidFill>
                          <a:srgbClr val="000000"/>
                        </a:solidFill>
                        <a:effectLst/>
                        <a:latin typeface="Calibri" panose="020F0502020204030204" pitchFamily="34" charset="0"/>
                      </a:endParaRPr>
                    </a:p>
                  </a:txBody>
                  <a:tcPr marL="9429" marR="9429" marT="9429" marB="0" anchor="ctr"/>
                </a:tc>
                <a:tc>
                  <a:txBody>
                    <a:bodyPr/>
                    <a:lstStyle/>
                    <a:p>
                      <a:pPr algn="ctr" fontAlgn="ctr"/>
                      <a:r>
                        <a:rPr lang="es-PE" sz="1400" u="none" strike="noStrike" dirty="0">
                          <a:effectLst/>
                        </a:rPr>
                        <a:t>Bot</a:t>
                      </a:r>
                      <a:endParaRPr lang="es-PE" sz="1400" b="0" i="0" u="none" strike="noStrike" dirty="0">
                        <a:solidFill>
                          <a:srgbClr val="000000"/>
                        </a:solidFill>
                        <a:effectLst/>
                        <a:latin typeface="Calibri" panose="020F0502020204030204" pitchFamily="34" charset="0"/>
                      </a:endParaRPr>
                    </a:p>
                  </a:txBody>
                  <a:tcPr marL="9429" marR="9429" marT="9429" marB="0" anchor="ctr"/>
                </a:tc>
                <a:extLst>
                  <a:ext uri="{0D108BD9-81ED-4DB2-BD59-A6C34878D82A}">
                    <a16:rowId xmlns:a16="http://schemas.microsoft.com/office/drawing/2014/main" val="2115393372"/>
                  </a:ext>
                </a:extLst>
              </a:tr>
              <a:tr h="469247">
                <a:tc>
                  <a:txBody>
                    <a:bodyPr/>
                    <a:lstStyle/>
                    <a:p>
                      <a:pPr algn="l" fontAlgn="ctr"/>
                      <a:r>
                        <a:rPr lang="es-MX" sz="1400" u="none" strike="noStrike" dirty="0">
                          <a:effectLst/>
                        </a:rPr>
                        <a:t>Consultar el historial de compras del cliente.</a:t>
                      </a:r>
                      <a:endParaRPr lang="es-MX" sz="1400" b="0" i="0" u="none" strike="noStrike" dirty="0">
                        <a:solidFill>
                          <a:srgbClr val="000000"/>
                        </a:solidFill>
                        <a:effectLst/>
                        <a:latin typeface="Calibri" panose="020F0502020204030204" pitchFamily="34" charset="0"/>
                      </a:endParaRPr>
                    </a:p>
                  </a:txBody>
                  <a:tcPr marL="9429" marR="9429" marT="9429" marB="0" anchor="ctr"/>
                </a:tc>
                <a:tc>
                  <a:txBody>
                    <a:bodyPr/>
                    <a:lstStyle/>
                    <a:p>
                      <a:pPr algn="ctr" fontAlgn="ctr"/>
                      <a:r>
                        <a:rPr lang="es-PE" sz="1400" u="none" strike="noStrike" dirty="0">
                          <a:effectLst/>
                        </a:rPr>
                        <a:t>Bot</a:t>
                      </a:r>
                      <a:endParaRPr lang="es-PE" sz="1400" b="0" i="0" u="none" strike="noStrike" dirty="0">
                        <a:solidFill>
                          <a:srgbClr val="000000"/>
                        </a:solidFill>
                        <a:effectLst/>
                        <a:latin typeface="Calibri" panose="020F0502020204030204" pitchFamily="34" charset="0"/>
                      </a:endParaRPr>
                    </a:p>
                  </a:txBody>
                  <a:tcPr marL="9429" marR="9429" marT="9429" marB="0" anchor="ctr"/>
                </a:tc>
                <a:extLst>
                  <a:ext uri="{0D108BD9-81ED-4DB2-BD59-A6C34878D82A}">
                    <a16:rowId xmlns:a16="http://schemas.microsoft.com/office/drawing/2014/main" val="3960988410"/>
                  </a:ext>
                </a:extLst>
              </a:tr>
              <a:tr h="469247">
                <a:tc>
                  <a:txBody>
                    <a:bodyPr/>
                    <a:lstStyle/>
                    <a:p>
                      <a:pPr algn="l" fontAlgn="ctr"/>
                      <a:r>
                        <a:rPr lang="es-MX" sz="1400" u="none" strike="noStrike" dirty="0">
                          <a:effectLst/>
                        </a:rPr>
                        <a:t>Acceder al sistema logístico para verificar el estado del pedido.</a:t>
                      </a:r>
                      <a:endParaRPr lang="es-MX" sz="1400" b="0" i="0" u="none" strike="noStrike" dirty="0">
                        <a:solidFill>
                          <a:srgbClr val="000000"/>
                        </a:solidFill>
                        <a:effectLst/>
                        <a:latin typeface="Calibri" panose="020F0502020204030204" pitchFamily="34" charset="0"/>
                      </a:endParaRPr>
                    </a:p>
                  </a:txBody>
                  <a:tcPr marL="9429" marR="9429" marT="9429" marB="0" anchor="ctr"/>
                </a:tc>
                <a:tc>
                  <a:txBody>
                    <a:bodyPr/>
                    <a:lstStyle/>
                    <a:p>
                      <a:pPr algn="ctr" fontAlgn="ctr"/>
                      <a:r>
                        <a:rPr lang="es-PE" sz="1400" u="none" strike="noStrike" dirty="0">
                          <a:effectLst/>
                        </a:rPr>
                        <a:t>Bot</a:t>
                      </a:r>
                      <a:endParaRPr lang="es-PE" sz="1400" b="0" i="0" u="none" strike="noStrike" dirty="0">
                        <a:solidFill>
                          <a:srgbClr val="000000"/>
                        </a:solidFill>
                        <a:effectLst/>
                        <a:latin typeface="Calibri" panose="020F0502020204030204" pitchFamily="34" charset="0"/>
                      </a:endParaRPr>
                    </a:p>
                  </a:txBody>
                  <a:tcPr marL="9429" marR="9429" marT="9429" marB="0" anchor="ctr"/>
                </a:tc>
                <a:extLst>
                  <a:ext uri="{0D108BD9-81ED-4DB2-BD59-A6C34878D82A}">
                    <a16:rowId xmlns:a16="http://schemas.microsoft.com/office/drawing/2014/main" val="1068911582"/>
                  </a:ext>
                </a:extLst>
              </a:tr>
              <a:tr h="469247">
                <a:tc>
                  <a:txBody>
                    <a:bodyPr/>
                    <a:lstStyle/>
                    <a:p>
                      <a:pPr algn="l" fontAlgn="ctr"/>
                      <a:r>
                        <a:rPr lang="es-PE" sz="1400" u="none" strike="noStrike" dirty="0">
                          <a:effectLst/>
                        </a:rPr>
                        <a:t>Revisar si existen reclamos o incidencias registradas.</a:t>
                      </a:r>
                      <a:endParaRPr lang="es-PE" sz="1400" b="0" i="0" u="none" strike="noStrike" dirty="0">
                        <a:solidFill>
                          <a:srgbClr val="000000"/>
                        </a:solidFill>
                        <a:effectLst/>
                        <a:latin typeface="Calibri" panose="020F0502020204030204" pitchFamily="34" charset="0"/>
                      </a:endParaRPr>
                    </a:p>
                  </a:txBody>
                  <a:tcPr marL="9429" marR="9429" marT="9429" marB="0" anchor="ctr"/>
                </a:tc>
                <a:tc>
                  <a:txBody>
                    <a:bodyPr/>
                    <a:lstStyle/>
                    <a:p>
                      <a:pPr algn="ctr" fontAlgn="ctr"/>
                      <a:r>
                        <a:rPr lang="es-PE" sz="1400" u="none" strike="noStrike" dirty="0">
                          <a:effectLst/>
                        </a:rPr>
                        <a:t>Bot</a:t>
                      </a:r>
                      <a:endParaRPr lang="es-PE" sz="1400" b="0" i="0" u="none" strike="noStrike" dirty="0">
                        <a:solidFill>
                          <a:srgbClr val="000000"/>
                        </a:solidFill>
                        <a:effectLst/>
                        <a:latin typeface="Calibri" panose="020F0502020204030204" pitchFamily="34" charset="0"/>
                      </a:endParaRPr>
                    </a:p>
                  </a:txBody>
                  <a:tcPr marL="9429" marR="9429" marT="9429" marB="0" anchor="ctr"/>
                </a:tc>
                <a:extLst>
                  <a:ext uri="{0D108BD9-81ED-4DB2-BD59-A6C34878D82A}">
                    <a16:rowId xmlns:a16="http://schemas.microsoft.com/office/drawing/2014/main" val="1919429216"/>
                  </a:ext>
                </a:extLst>
              </a:tr>
              <a:tr h="469247">
                <a:tc>
                  <a:txBody>
                    <a:bodyPr/>
                    <a:lstStyle/>
                    <a:p>
                      <a:pPr algn="l" fontAlgn="ctr"/>
                      <a:r>
                        <a:rPr lang="es-MX" sz="1400" u="none" strike="noStrike" dirty="0">
                          <a:effectLst/>
                        </a:rPr>
                        <a:t>Consolidar la información obtenida de los diferentes sistemas.</a:t>
                      </a:r>
                      <a:endParaRPr lang="es-MX" sz="1400" b="0" i="0" u="none" strike="noStrike" dirty="0">
                        <a:solidFill>
                          <a:srgbClr val="000000"/>
                        </a:solidFill>
                        <a:effectLst/>
                        <a:latin typeface="Calibri" panose="020F0502020204030204" pitchFamily="34" charset="0"/>
                      </a:endParaRPr>
                    </a:p>
                  </a:txBody>
                  <a:tcPr marL="9429" marR="9429" marT="9429" marB="0" anchor="ctr"/>
                </a:tc>
                <a:tc>
                  <a:txBody>
                    <a:bodyPr/>
                    <a:lstStyle/>
                    <a:p>
                      <a:pPr algn="ctr" fontAlgn="ctr"/>
                      <a:r>
                        <a:rPr lang="es-PE" sz="1400" u="none" strike="noStrike" dirty="0">
                          <a:effectLst/>
                        </a:rPr>
                        <a:t>Bot</a:t>
                      </a:r>
                      <a:endParaRPr lang="es-PE" sz="1400" b="0" i="0" u="none" strike="noStrike" dirty="0">
                        <a:solidFill>
                          <a:srgbClr val="000000"/>
                        </a:solidFill>
                        <a:effectLst/>
                        <a:latin typeface="Calibri" panose="020F0502020204030204" pitchFamily="34" charset="0"/>
                      </a:endParaRPr>
                    </a:p>
                  </a:txBody>
                  <a:tcPr marL="9429" marR="9429" marT="9429" marB="0" anchor="ctr"/>
                </a:tc>
                <a:extLst>
                  <a:ext uri="{0D108BD9-81ED-4DB2-BD59-A6C34878D82A}">
                    <a16:rowId xmlns:a16="http://schemas.microsoft.com/office/drawing/2014/main" val="74784626"/>
                  </a:ext>
                </a:extLst>
              </a:tr>
              <a:tr h="469247">
                <a:tc>
                  <a:txBody>
                    <a:bodyPr/>
                    <a:lstStyle/>
                    <a:p>
                      <a:pPr algn="l" fontAlgn="ctr"/>
                      <a:r>
                        <a:rPr lang="es-MX" sz="1400" u="none" strike="noStrike" dirty="0">
                          <a:effectLst/>
                        </a:rPr>
                        <a:t>Presentar al agente un resumen completo de la información.</a:t>
                      </a:r>
                      <a:endParaRPr lang="es-MX" sz="1400" b="0" i="0" u="none" strike="noStrike" dirty="0">
                        <a:solidFill>
                          <a:srgbClr val="000000"/>
                        </a:solidFill>
                        <a:effectLst/>
                        <a:latin typeface="Calibri" panose="020F0502020204030204" pitchFamily="34" charset="0"/>
                      </a:endParaRPr>
                    </a:p>
                  </a:txBody>
                  <a:tcPr marL="9429" marR="9429" marT="9429" marB="0" anchor="ctr"/>
                </a:tc>
                <a:tc>
                  <a:txBody>
                    <a:bodyPr/>
                    <a:lstStyle/>
                    <a:p>
                      <a:pPr algn="ctr" fontAlgn="ctr"/>
                      <a:r>
                        <a:rPr lang="es-PE" sz="1400" u="none" strike="noStrike" dirty="0">
                          <a:effectLst/>
                        </a:rPr>
                        <a:t>Bot</a:t>
                      </a:r>
                      <a:endParaRPr lang="es-PE" sz="1400" b="0" i="0" u="none" strike="noStrike" dirty="0">
                        <a:solidFill>
                          <a:srgbClr val="000000"/>
                        </a:solidFill>
                        <a:effectLst/>
                        <a:latin typeface="Calibri" panose="020F0502020204030204" pitchFamily="34" charset="0"/>
                      </a:endParaRPr>
                    </a:p>
                  </a:txBody>
                  <a:tcPr marL="9429" marR="9429" marT="9429" marB="0" anchor="ctr"/>
                </a:tc>
                <a:extLst>
                  <a:ext uri="{0D108BD9-81ED-4DB2-BD59-A6C34878D82A}">
                    <a16:rowId xmlns:a16="http://schemas.microsoft.com/office/drawing/2014/main" val="2399127999"/>
                  </a:ext>
                </a:extLst>
              </a:tr>
              <a:tr h="469247">
                <a:tc>
                  <a:txBody>
                    <a:bodyPr/>
                    <a:lstStyle/>
                    <a:p>
                      <a:pPr algn="l" fontAlgn="ctr"/>
                      <a:r>
                        <a:rPr lang="es-MX" sz="1400" u="none" strike="noStrike" dirty="0">
                          <a:effectLst/>
                        </a:rPr>
                        <a:t>Comunicar la información al cliente y resolver la consulta.</a:t>
                      </a:r>
                      <a:endParaRPr lang="es-MX" sz="1400" b="0" i="0" u="none" strike="noStrike" dirty="0">
                        <a:solidFill>
                          <a:srgbClr val="000000"/>
                        </a:solidFill>
                        <a:effectLst/>
                        <a:latin typeface="Calibri" panose="020F0502020204030204" pitchFamily="34" charset="0"/>
                      </a:endParaRPr>
                    </a:p>
                  </a:txBody>
                  <a:tcPr marL="9429" marR="9429" marT="9429" marB="0" anchor="ctr"/>
                </a:tc>
                <a:tc>
                  <a:txBody>
                    <a:bodyPr/>
                    <a:lstStyle/>
                    <a:p>
                      <a:pPr algn="ctr" fontAlgn="ctr"/>
                      <a:r>
                        <a:rPr lang="es-PE" sz="1400" u="none" strike="noStrike" dirty="0">
                          <a:effectLst/>
                        </a:rPr>
                        <a:t>Agente</a:t>
                      </a:r>
                      <a:endParaRPr lang="es-PE" sz="1400" b="0" i="0" u="none" strike="noStrike" dirty="0">
                        <a:solidFill>
                          <a:srgbClr val="000000"/>
                        </a:solidFill>
                        <a:effectLst/>
                        <a:latin typeface="Calibri" panose="020F0502020204030204" pitchFamily="34" charset="0"/>
                      </a:endParaRPr>
                    </a:p>
                  </a:txBody>
                  <a:tcPr marL="9429" marR="9429" marT="9429" marB="0" anchor="ctr"/>
                </a:tc>
                <a:extLst>
                  <a:ext uri="{0D108BD9-81ED-4DB2-BD59-A6C34878D82A}">
                    <a16:rowId xmlns:a16="http://schemas.microsoft.com/office/drawing/2014/main" val="3090219781"/>
                  </a:ext>
                </a:extLst>
              </a:tr>
              <a:tr h="469247">
                <a:tc>
                  <a:txBody>
                    <a:bodyPr/>
                    <a:lstStyle/>
                    <a:p>
                      <a:pPr algn="l" fontAlgn="ctr"/>
                      <a:r>
                        <a:rPr lang="es-MX" sz="1400" u="none" strike="noStrike" dirty="0">
                          <a:effectLst/>
                        </a:rPr>
                        <a:t>Finalizar y cerrar la atención.</a:t>
                      </a:r>
                      <a:endParaRPr lang="es-MX" sz="1400" b="0" i="0" u="none" strike="noStrike" dirty="0">
                        <a:solidFill>
                          <a:srgbClr val="000000"/>
                        </a:solidFill>
                        <a:effectLst/>
                        <a:latin typeface="Calibri" panose="020F0502020204030204" pitchFamily="34" charset="0"/>
                      </a:endParaRPr>
                    </a:p>
                  </a:txBody>
                  <a:tcPr marL="9429" marR="9429" marT="9429" marB="0" anchor="ctr"/>
                </a:tc>
                <a:tc>
                  <a:txBody>
                    <a:bodyPr/>
                    <a:lstStyle/>
                    <a:p>
                      <a:pPr algn="ctr" fontAlgn="ctr"/>
                      <a:r>
                        <a:rPr lang="es-PE" sz="1400" u="none" strike="noStrike" dirty="0">
                          <a:effectLst/>
                        </a:rPr>
                        <a:t>Agente</a:t>
                      </a:r>
                      <a:endParaRPr lang="es-PE" sz="1400" b="0" i="0" u="none" strike="noStrike" dirty="0">
                        <a:solidFill>
                          <a:srgbClr val="000000"/>
                        </a:solidFill>
                        <a:effectLst/>
                        <a:latin typeface="Calibri" panose="020F0502020204030204" pitchFamily="34" charset="0"/>
                      </a:endParaRPr>
                    </a:p>
                  </a:txBody>
                  <a:tcPr marL="9429" marR="9429" marT="9429" marB="0" anchor="ctr"/>
                </a:tc>
                <a:extLst>
                  <a:ext uri="{0D108BD9-81ED-4DB2-BD59-A6C34878D82A}">
                    <a16:rowId xmlns:a16="http://schemas.microsoft.com/office/drawing/2014/main" val="1347788997"/>
                  </a:ext>
                </a:extLst>
              </a:tr>
            </a:tbl>
          </a:graphicData>
        </a:graphic>
      </p:graphicFrame>
    </p:spTree>
    <p:extLst>
      <p:ext uri="{BB962C8B-B14F-4D97-AF65-F5344CB8AC3E}">
        <p14:creationId xmlns:p14="http://schemas.microsoft.com/office/powerpoint/2010/main" val="2037240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sz="4000" dirty="0"/>
              <a:t>Ejemplo Rpa atendida</a:t>
            </a:r>
            <a:endParaRPr sz="4000"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4" name="CuadroTexto 3">
            <a:extLst>
              <a:ext uri="{FF2B5EF4-FFF2-40B4-BE49-F238E27FC236}">
                <a16:creationId xmlns:a16="http://schemas.microsoft.com/office/drawing/2014/main" id="{7DBE9806-0FF2-6100-96C4-87CF34CDFFE6}"/>
              </a:ext>
            </a:extLst>
          </p:cNvPr>
          <p:cNvSpPr txBox="1"/>
          <p:nvPr/>
        </p:nvSpPr>
        <p:spPr>
          <a:xfrm>
            <a:off x="916422" y="1143000"/>
            <a:ext cx="9529906" cy="3508653"/>
          </a:xfrm>
          <a:prstGeom prst="rect">
            <a:avLst/>
          </a:prstGeom>
          <a:noFill/>
        </p:spPr>
        <p:txBody>
          <a:bodyPr wrap="square">
            <a:spAutoFit/>
          </a:bodyPr>
          <a:lstStyle/>
          <a:p>
            <a:pPr algn="just"/>
            <a:r>
              <a:rPr lang="es-MX" sz="2400" b="1" dirty="0"/>
              <a:t>Beneficios Obtenidos:</a:t>
            </a:r>
          </a:p>
          <a:p>
            <a:pPr algn="just"/>
            <a:endParaRPr lang="es-MX" sz="2400" b="1" dirty="0"/>
          </a:p>
          <a:p>
            <a:pPr marL="342900" indent="-342900" algn="just">
              <a:buFont typeface="Arial" panose="020B0604020202020204" pitchFamily="34" charset="0"/>
              <a:buChar char="•"/>
            </a:pPr>
            <a:r>
              <a:rPr lang="es-MX" sz="2600" dirty="0"/>
              <a:t>Reducción del tiempo de atención de 5 minutos a menos de 1 minuto. </a:t>
            </a:r>
          </a:p>
          <a:p>
            <a:pPr marL="342900" indent="-342900" algn="just">
              <a:buFont typeface="Arial" panose="020B0604020202020204" pitchFamily="34" charset="0"/>
              <a:buChar char="•"/>
            </a:pPr>
            <a:r>
              <a:rPr lang="es-MX" sz="2600" dirty="0"/>
              <a:t>Eliminación de búsquedas manuales en múltiples sistemas. </a:t>
            </a:r>
          </a:p>
          <a:p>
            <a:pPr marL="342900" indent="-342900" algn="just">
              <a:buFont typeface="Arial" panose="020B0604020202020204" pitchFamily="34" charset="0"/>
              <a:buChar char="•"/>
            </a:pPr>
            <a:r>
              <a:rPr lang="es-MX" sz="2600" dirty="0"/>
              <a:t>Menor probabilidad de errores. </a:t>
            </a:r>
          </a:p>
          <a:p>
            <a:pPr marL="342900" indent="-342900" algn="just">
              <a:buFont typeface="Arial" panose="020B0604020202020204" pitchFamily="34" charset="0"/>
              <a:buChar char="•"/>
            </a:pPr>
            <a:r>
              <a:rPr lang="es-MX" sz="2600" dirty="0"/>
              <a:t>Mayor productividad de los agentes. </a:t>
            </a:r>
          </a:p>
          <a:p>
            <a:pPr marL="342900" indent="-342900" algn="just">
              <a:buFont typeface="Arial" panose="020B0604020202020204" pitchFamily="34" charset="0"/>
              <a:buChar char="•"/>
            </a:pPr>
            <a:r>
              <a:rPr lang="es-MX" sz="2600" dirty="0"/>
              <a:t>Mejor experiencia para el cliente gracias a respuestas más rápidas.</a:t>
            </a:r>
          </a:p>
          <a:p>
            <a:endParaRPr lang="es-MX" dirty="0"/>
          </a:p>
        </p:txBody>
      </p:sp>
    </p:spTree>
    <p:extLst>
      <p:ext uri="{BB962C8B-B14F-4D97-AF65-F5344CB8AC3E}">
        <p14:creationId xmlns:p14="http://schemas.microsoft.com/office/powerpoint/2010/main" val="1953329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dirty="0"/>
              <a:t>RPA No Atendida</a:t>
            </a:r>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4" name="CuadroTexto 3">
            <a:extLst>
              <a:ext uri="{FF2B5EF4-FFF2-40B4-BE49-F238E27FC236}">
                <a16:creationId xmlns:a16="http://schemas.microsoft.com/office/drawing/2014/main" id="{7DBE9806-0FF2-6100-96C4-87CF34CDFFE6}"/>
              </a:ext>
            </a:extLst>
          </p:cNvPr>
          <p:cNvSpPr txBox="1"/>
          <p:nvPr/>
        </p:nvSpPr>
        <p:spPr>
          <a:xfrm>
            <a:off x="680894" y="946301"/>
            <a:ext cx="10704533" cy="5539978"/>
          </a:xfrm>
          <a:prstGeom prst="rect">
            <a:avLst/>
          </a:prstGeom>
          <a:noFill/>
        </p:spPr>
        <p:txBody>
          <a:bodyPr wrap="square">
            <a:spAutoFit/>
          </a:bodyPr>
          <a:lstStyle/>
          <a:p>
            <a:pPr algn="just"/>
            <a:r>
              <a:rPr lang="es-MX" sz="2400" dirty="0"/>
              <a:t>Este RPA es un modelo en el que los robots ejecutan procesos de forma totalmente autónoma, sin requerir intervención humana. Los bots trabajan desde servidores o máquinas virtuales y pueden operar de manera continua.</a:t>
            </a:r>
          </a:p>
          <a:p>
            <a:pPr algn="just"/>
            <a:endParaRPr lang="es-MX" sz="2400" dirty="0"/>
          </a:p>
          <a:p>
            <a:pPr algn="just"/>
            <a:r>
              <a:rPr lang="es-MX" sz="2400" b="1" dirty="0"/>
              <a:t>Características:</a:t>
            </a:r>
          </a:p>
          <a:p>
            <a:pPr marL="342900" indent="-342900" algn="just">
              <a:buFont typeface="Arial" panose="020B0604020202020204" pitchFamily="34" charset="0"/>
              <a:buChar char="•"/>
            </a:pPr>
            <a:r>
              <a:rPr lang="es-MX" sz="2400" dirty="0"/>
              <a:t>No requiere supervisión humana constante. </a:t>
            </a:r>
          </a:p>
          <a:p>
            <a:pPr marL="342900" indent="-342900" algn="just">
              <a:buFont typeface="Arial" panose="020B0604020202020204" pitchFamily="34" charset="0"/>
              <a:buChar char="•"/>
            </a:pPr>
            <a:r>
              <a:rPr lang="es-MX" sz="2400" dirty="0"/>
              <a:t>Puede ejecutarse las 24 horas del día. </a:t>
            </a:r>
          </a:p>
          <a:p>
            <a:pPr marL="342900" indent="-342900" algn="just">
              <a:buFont typeface="Arial" panose="020B0604020202020204" pitchFamily="34" charset="0"/>
              <a:buChar char="•"/>
            </a:pPr>
            <a:r>
              <a:rPr lang="es-MX" sz="2400" dirty="0"/>
              <a:t>Se activa mediante horarios, eventos o reglas definidas. </a:t>
            </a:r>
          </a:p>
          <a:p>
            <a:pPr marL="342900" indent="-342900" algn="just">
              <a:buFont typeface="Arial" panose="020B0604020202020204" pitchFamily="34" charset="0"/>
              <a:buChar char="•"/>
            </a:pPr>
            <a:r>
              <a:rPr lang="es-MX" sz="2400" dirty="0"/>
              <a:t>Procesa grandes volúmenes de información. </a:t>
            </a:r>
          </a:p>
          <a:p>
            <a:pPr algn="just"/>
            <a:endParaRPr lang="es-MX" sz="2400" dirty="0"/>
          </a:p>
          <a:p>
            <a:pPr algn="just"/>
            <a:r>
              <a:rPr lang="es-MX" sz="2400" b="1" dirty="0"/>
              <a:t>Beneficios:</a:t>
            </a:r>
          </a:p>
          <a:p>
            <a:pPr marL="342900" indent="-342900" algn="just">
              <a:buFont typeface="Arial" panose="020B0604020202020204" pitchFamily="34" charset="0"/>
              <a:buChar char="•"/>
            </a:pPr>
            <a:r>
              <a:rPr lang="es-MX" sz="2400" dirty="0"/>
              <a:t>Incrementa significativamente la productividad. </a:t>
            </a:r>
          </a:p>
          <a:p>
            <a:pPr marL="342900" indent="-342900" algn="just">
              <a:buFont typeface="Arial" panose="020B0604020202020204" pitchFamily="34" charset="0"/>
              <a:buChar char="•"/>
            </a:pPr>
            <a:r>
              <a:rPr lang="es-MX" sz="2400" dirty="0"/>
              <a:t>Reduce costos operativos. </a:t>
            </a:r>
          </a:p>
          <a:p>
            <a:pPr marL="342900" indent="-342900" algn="just">
              <a:buFont typeface="Arial" panose="020B0604020202020204" pitchFamily="34" charset="0"/>
              <a:buChar char="•"/>
            </a:pPr>
            <a:r>
              <a:rPr lang="es-MX" sz="2400" dirty="0"/>
              <a:t>Garantiza mayor velocidad y precisión. </a:t>
            </a:r>
          </a:p>
          <a:p>
            <a:endParaRPr lang="es-MX" dirty="0"/>
          </a:p>
        </p:txBody>
      </p:sp>
    </p:spTree>
    <p:extLst>
      <p:ext uri="{BB962C8B-B14F-4D97-AF65-F5344CB8AC3E}">
        <p14:creationId xmlns:p14="http://schemas.microsoft.com/office/powerpoint/2010/main" val="3687131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sz="4000" dirty="0"/>
              <a:t>RPA No Atendida</a:t>
            </a:r>
            <a:endParaRPr sz="4000"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4" name="CuadroTexto 3">
            <a:extLst>
              <a:ext uri="{FF2B5EF4-FFF2-40B4-BE49-F238E27FC236}">
                <a16:creationId xmlns:a16="http://schemas.microsoft.com/office/drawing/2014/main" id="{7DBE9806-0FF2-6100-96C4-87CF34CDFFE6}"/>
              </a:ext>
            </a:extLst>
          </p:cNvPr>
          <p:cNvSpPr txBox="1"/>
          <p:nvPr/>
        </p:nvSpPr>
        <p:spPr>
          <a:xfrm>
            <a:off x="680894" y="811993"/>
            <a:ext cx="10704533" cy="6278642"/>
          </a:xfrm>
          <a:prstGeom prst="rect">
            <a:avLst/>
          </a:prstGeom>
          <a:noFill/>
        </p:spPr>
        <p:txBody>
          <a:bodyPr wrap="square">
            <a:spAutoFit/>
          </a:bodyPr>
          <a:lstStyle/>
          <a:p>
            <a:pPr algn="just"/>
            <a:r>
              <a:rPr lang="es-MX" sz="2400" b="1" dirty="0"/>
              <a:t>Ejemplo: RPA No Atendida en el Procesamiento de Facturas</a:t>
            </a:r>
          </a:p>
          <a:p>
            <a:pPr algn="just"/>
            <a:r>
              <a:rPr lang="es-MX" sz="2400" b="1" dirty="0"/>
              <a:t>Situación Inicial</a:t>
            </a:r>
          </a:p>
          <a:p>
            <a:pPr algn="just"/>
            <a:r>
              <a:rPr lang="es-MX" sz="2400" dirty="0"/>
              <a:t>Una empresa recibe diariamente cientos de facturas de proveedores en formato PDF por correo electrónico. El área de contabilidad debe revisar cada factura, validar los datos, registrarla en el sistema ERP y generar reportes para la gerencia.</a:t>
            </a:r>
          </a:p>
          <a:p>
            <a:pPr algn="just"/>
            <a:endParaRPr lang="es-MX" sz="2400" dirty="0"/>
          </a:p>
          <a:p>
            <a:pPr algn="just"/>
            <a:r>
              <a:rPr lang="es-MX" sz="2400" b="1" dirty="0"/>
              <a:t>Proceso Tradicional (Sin RPA)</a:t>
            </a:r>
          </a:p>
          <a:p>
            <a:pPr marL="342900" indent="-342900" algn="just">
              <a:buFont typeface="Arial" panose="020B0604020202020204" pitchFamily="34" charset="0"/>
              <a:buChar char="•"/>
            </a:pPr>
            <a:r>
              <a:rPr lang="es-MX" sz="2400" dirty="0"/>
              <a:t>Un empleado descarga manualmente las facturas del correo electrónico. </a:t>
            </a:r>
          </a:p>
          <a:p>
            <a:pPr marL="342900" indent="-342900" algn="just">
              <a:buFont typeface="Arial" panose="020B0604020202020204" pitchFamily="34" charset="0"/>
              <a:buChar char="•"/>
            </a:pPr>
            <a:r>
              <a:rPr lang="es-MX" sz="2400" dirty="0"/>
              <a:t>Abre cada documento y revisa los datos. </a:t>
            </a:r>
          </a:p>
          <a:p>
            <a:pPr marL="342900" indent="-342900" algn="just">
              <a:buFont typeface="Arial" panose="020B0604020202020204" pitchFamily="34" charset="0"/>
              <a:buChar char="•"/>
            </a:pPr>
            <a:r>
              <a:rPr lang="es-MX" sz="2400" dirty="0"/>
              <a:t>Verifica que el proveedor esté registrado. </a:t>
            </a:r>
          </a:p>
          <a:p>
            <a:pPr marL="342900" indent="-342900" algn="just">
              <a:buFont typeface="Arial" panose="020B0604020202020204" pitchFamily="34" charset="0"/>
              <a:buChar char="•"/>
            </a:pPr>
            <a:r>
              <a:rPr lang="es-MX" sz="2400" dirty="0"/>
              <a:t>Comprueba que el monto coincida con la orden de compra. </a:t>
            </a:r>
          </a:p>
          <a:p>
            <a:pPr marL="342900" indent="-342900" algn="just">
              <a:buFont typeface="Arial" panose="020B0604020202020204" pitchFamily="34" charset="0"/>
              <a:buChar char="•"/>
            </a:pPr>
            <a:r>
              <a:rPr lang="es-MX" sz="2400" dirty="0"/>
              <a:t>Ingresa la información manualmente al ERP. </a:t>
            </a:r>
          </a:p>
          <a:p>
            <a:pPr marL="342900" indent="-342900" algn="just">
              <a:buFont typeface="Arial" panose="020B0604020202020204" pitchFamily="34" charset="0"/>
              <a:buChar char="•"/>
            </a:pPr>
            <a:r>
              <a:rPr lang="es-MX" sz="2400" dirty="0"/>
              <a:t>Archiva la factura digitalmente. </a:t>
            </a:r>
          </a:p>
          <a:p>
            <a:pPr marL="342900" indent="-342900" algn="just">
              <a:buFont typeface="Arial" panose="020B0604020202020204" pitchFamily="34" charset="0"/>
              <a:buChar char="•"/>
            </a:pPr>
            <a:r>
              <a:rPr lang="es-MX" sz="2400" dirty="0"/>
              <a:t>Elabora reportes de facturas procesadas. </a:t>
            </a:r>
          </a:p>
          <a:p>
            <a:pPr algn="just">
              <a:buFont typeface="+mj-lt"/>
              <a:buAutoNum type="arabicPeriod"/>
            </a:pPr>
            <a:endParaRPr lang="es-MX" sz="2400" dirty="0"/>
          </a:p>
          <a:p>
            <a:pPr algn="just"/>
            <a:r>
              <a:rPr lang="es-MX" sz="2400" b="1" dirty="0"/>
              <a:t>Tiempo estimado:</a:t>
            </a:r>
            <a:r>
              <a:rPr lang="es-MX" sz="2400" dirty="0"/>
              <a:t> 5 a 10 minutos por factura.</a:t>
            </a:r>
          </a:p>
          <a:p>
            <a:endParaRPr lang="es-MX" dirty="0"/>
          </a:p>
        </p:txBody>
      </p:sp>
    </p:spTree>
    <p:extLst>
      <p:ext uri="{BB962C8B-B14F-4D97-AF65-F5344CB8AC3E}">
        <p14:creationId xmlns:p14="http://schemas.microsoft.com/office/powerpoint/2010/main" val="1408604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8360" y="-168388"/>
            <a:ext cx="8229600" cy="1143000"/>
          </a:xfrm>
        </p:spPr>
        <p:txBody>
          <a:bodyPr>
            <a:normAutofit/>
          </a:bodyPr>
          <a:lstStyle/>
          <a:p>
            <a:r>
              <a:rPr lang="es-MX" sz="4000" dirty="0"/>
              <a:t>RPA No Atendida</a:t>
            </a:r>
            <a:endParaRPr sz="4000"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4" name="CuadroTexto 3">
            <a:extLst>
              <a:ext uri="{FF2B5EF4-FFF2-40B4-BE49-F238E27FC236}">
                <a16:creationId xmlns:a16="http://schemas.microsoft.com/office/drawing/2014/main" id="{7DBE9806-0FF2-6100-96C4-87CF34CDFFE6}"/>
              </a:ext>
            </a:extLst>
          </p:cNvPr>
          <p:cNvSpPr txBox="1"/>
          <p:nvPr/>
        </p:nvSpPr>
        <p:spPr>
          <a:xfrm>
            <a:off x="656143" y="627740"/>
            <a:ext cx="10704533" cy="6647974"/>
          </a:xfrm>
          <a:prstGeom prst="rect">
            <a:avLst/>
          </a:prstGeom>
          <a:noFill/>
        </p:spPr>
        <p:txBody>
          <a:bodyPr wrap="square">
            <a:spAutoFit/>
          </a:bodyPr>
          <a:lstStyle/>
          <a:p>
            <a:pPr algn="just"/>
            <a:r>
              <a:rPr lang="es-MX" sz="2350" b="1" dirty="0"/>
              <a:t>Proceso con RPA No Atendida</a:t>
            </a:r>
          </a:p>
          <a:p>
            <a:pPr algn="just"/>
            <a:r>
              <a:rPr lang="es-MX" sz="2350" b="1" dirty="0"/>
              <a:t>A las 11:00 p.m., el bot inicia automáticamente el proceso:</a:t>
            </a:r>
            <a:endParaRPr lang="es-MX" sz="2350" dirty="0"/>
          </a:p>
          <a:p>
            <a:pPr algn="just"/>
            <a:r>
              <a:rPr lang="es-MX" sz="2350" b="1" dirty="0"/>
              <a:t>Paso 1: Recepción de Facturas</a:t>
            </a:r>
          </a:p>
          <a:p>
            <a:pPr marL="342900" indent="-342900" algn="just">
              <a:buFont typeface="Arial" panose="020B0604020202020204" pitchFamily="34" charset="0"/>
              <a:buChar char="•"/>
            </a:pPr>
            <a:r>
              <a:rPr lang="es-MX" sz="2350" dirty="0"/>
              <a:t>El bot accede al buzón de correo corporativo. </a:t>
            </a:r>
          </a:p>
          <a:p>
            <a:pPr marL="342900" indent="-342900" algn="just">
              <a:buFont typeface="Arial" panose="020B0604020202020204" pitchFamily="34" charset="0"/>
              <a:buChar char="•"/>
            </a:pPr>
            <a:r>
              <a:rPr lang="es-MX" sz="2350" dirty="0"/>
              <a:t>Identifica los correos que contienen facturas de proveedores. </a:t>
            </a:r>
          </a:p>
          <a:p>
            <a:pPr marL="342900" indent="-342900" algn="just">
              <a:buFont typeface="Arial" panose="020B0604020202020204" pitchFamily="34" charset="0"/>
              <a:buChar char="•"/>
            </a:pPr>
            <a:r>
              <a:rPr lang="es-MX" sz="2350" dirty="0"/>
              <a:t>Descarga automáticamente los archivos adjuntos. </a:t>
            </a:r>
          </a:p>
          <a:p>
            <a:pPr algn="just"/>
            <a:endParaRPr lang="es-MX" sz="2350" dirty="0"/>
          </a:p>
          <a:p>
            <a:pPr algn="just"/>
            <a:r>
              <a:rPr lang="es-MX" sz="2350" b="1" dirty="0"/>
              <a:t>Paso 2: Extracción de Información</a:t>
            </a:r>
          </a:p>
          <a:p>
            <a:pPr marL="342900" indent="-342900" algn="just">
              <a:buFont typeface="Arial" panose="020B0604020202020204" pitchFamily="34" charset="0"/>
              <a:buChar char="•"/>
            </a:pPr>
            <a:r>
              <a:rPr lang="es-MX" sz="2350" dirty="0"/>
              <a:t>Lee cada factura mediante OCR o reconocimiento inteligente de documentos. </a:t>
            </a:r>
          </a:p>
          <a:p>
            <a:pPr marL="342900" indent="-342900" algn="just">
              <a:buFont typeface="Arial" panose="020B0604020202020204" pitchFamily="34" charset="0"/>
              <a:buChar char="•"/>
            </a:pPr>
            <a:r>
              <a:rPr lang="es-MX" sz="2350" dirty="0"/>
              <a:t>Extrae datos como: Número de factura, nombre del proveedor, RUC, fecha de emisión, importe total, impuestos aplicados. </a:t>
            </a:r>
          </a:p>
          <a:p>
            <a:pPr marL="342900" indent="-342900" algn="just">
              <a:buFont typeface="Arial" panose="020B0604020202020204" pitchFamily="34" charset="0"/>
              <a:buChar char="•"/>
            </a:pPr>
            <a:endParaRPr lang="es-MX" sz="2350" dirty="0"/>
          </a:p>
          <a:p>
            <a:pPr algn="just"/>
            <a:r>
              <a:rPr lang="es-MX" sz="2350" b="1" dirty="0"/>
              <a:t>Paso 3: Validación de Datos</a:t>
            </a:r>
          </a:p>
          <a:p>
            <a:pPr marL="342900" indent="-342900" algn="just">
              <a:buFont typeface="Arial" panose="020B0604020202020204" pitchFamily="34" charset="0"/>
              <a:buChar char="•"/>
            </a:pPr>
            <a:r>
              <a:rPr lang="es-MX" sz="2350" dirty="0"/>
              <a:t>Verifica que el proveedor exista en la base de datos. </a:t>
            </a:r>
          </a:p>
          <a:p>
            <a:pPr marL="342900" indent="-342900" algn="just">
              <a:buFont typeface="Arial" panose="020B0604020202020204" pitchFamily="34" charset="0"/>
              <a:buChar char="•"/>
            </a:pPr>
            <a:r>
              <a:rPr lang="es-MX" sz="2350" dirty="0"/>
              <a:t>Comprueba que no se trate de una factura duplicada. </a:t>
            </a:r>
          </a:p>
          <a:p>
            <a:pPr marL="342900" indent="-342900" algn="just">
              <a:buFont typeface="Arial" panose="020B0604020202020204" pitchFamily="34" charset="0"/>
              <a:buChar char="•"/>
            </a:pPr>
            <a:r>
              <a:rPr lang="es-MX" sz="2350" dirty="0"/>
              <a:t>Valida que los montos coincidan con la orden de compra registrada. </a:t>
            </a:r>
          </a:p>
          <a:p>
            <a:pPr marL="342900" indent="-342900" algn="just">
              <a:buFont typeface="Arial" panose="020B0604020202020204" pitchFamily="34" charset="0"/>
              <a:buChar char="•"/>
            </a:pPr>
            <a:r>
              <a:rPr lang="es-MX" sz="2350" dirty="0"/>
              <a:t>Revisa que los campos obligatorios estén completos. </a:t>
            </a:r>
          </a:p>
          <a:p>
            <a:endParaRPr lang="es-MX" dirty="0"/>
          </a:p>
        </p:txBody>
      </p:sp>
    </p:spTree>
    <p:extLst>
      <p:ext uri="{BB962C8B-B14F-4D97-AF65-F5344CB8AC3E}">
        <p14:creationId xmlns:p14="http://schemas.microsoft.com/office/powerpoint/2010/main" val="873395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68388"/>
            <a:ext cx="8229600" cy="1143000"/>
          </a:xfrm>
        </p:spPr>
        <p:txBody>
          <a:bodyPr>
            <a:normAutofit/>
          </a:bodyPr>
          <a:lstStyle/>
          <a:p>
            <a:r>
              <a:rPr lang="es-MX" sz="4400" dirty="0"/>
              <a:t>RPA No Atendida</a:t>
            </a:r>
            <a:endParaRPr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4" name="CuadroTexto 3">
            <a:extLst>
              <a:ext uri="{FF2B5EF4-FFF2-40B4-BE49-F238E27FC236}">
                <a16:creationId xmlns:a16="http://schemas.microsoft.com/office/drawing/2014/main" id="{7DBE9806-0FF2-6100-96C4-87CF34CDFFE6}"/>
              </a:ext>
            </a:extLst>
          </p:cNvPr>
          <p:cNvSpPr txBox="1"/>
          <p:nvPr/>
        </p:nvSpPr>
        <p:spPr>
          <a:xfrm>
            <a:off x="680894" y="516902"/>
            <a:ext cx="10704533" cy="6740307"/>
          </a:xfrm>
          <a:prstGeom prst="rect">
            <a:avLst/>
          </a:prstGeom>
          <a:noFill/>
        </p:spPr>
        <p:txBody>
          <a:bodyPr wrap="square">
            <a:spAutoFit/>
          </a:bodyPr>
          <a:lstStyle/>
          <a:p>
            <a:pPr algn="just"/>
            <a:r>
              <a:rPr lang="es-MX" sz="2250" b="1" dirty="0"/>
              <a:t>Paso 4: Registro en el ERP</a:t>
            </a:r>
          </a:p>
          <a:p>
            <a:pPr marL="342900" indent="-342900" algn="just">
              <a:buFont typeface="Arial" panose="020B0604020202020204" pitchFamily="34" charset="0"/>
              <a:buChar char="•"/>
            </a:pPr>
            <a:r>
              <a:rPr lang="es-MX" sz="2250" dirty="0"/>
              <a:t>Ingresa automáticamente al ERP. </a:t>
            </a:r>
          </a:p>
          <a:p>
            <a:pPr marL="342900" indent="-342900" algn="just">
              <a:buFont typeface="Arial" panose="020B0604020202020204" pitchFamily="34" charset="0"/>
              <a:buChar char="•"/>
            </a:pPr>
            <a:r>
              <a:rPr lang="es-MX" sz="2250" dirty="0"/>
              <a:t>Registra la factura en el módulo de cuentas por pagar. </a:t>
            </a:r>
          </a:p>
          <a:p>
            <a:pPr marL="342900" indent="-342900" algn="just">
              <a:buFont typeface="Arial" panose="020B0604020202020204" pitchFamily="34" charset="0"/>
              <a:buChar char="•"/>
            </a:pPr>
            <a:r>
              <a:rPr lang="es-MX" sz="2250" dirty="0"/>
              <a:t>Actualiza los saldos pendientes. </a:t>
            </a:r>
          </a:p>
          <a:p>
            <a:pPr marL="342900" indent="-342900" algn="just">
              <a:buFont typeface="Arial" panose="020B0604020202020204" pitchFamily="34" charset="0"/>
              <a:buChar char="•"/>
            </a:pPr>
            <a:r>
              <a:rPr lang="es-MX" sz="2250" dirty="0"/>
              <a:t>Genera el asiento contable correspondiente. </a:t>
            </a:r>
          </a:p>
          <a:p>
            <a:pPr algn="just"/>
            <a:endParaRPr lang="es-MX" sz="2250" dirty="0"/>
          </a:p>
          <a:p>
            <a:pPr algn="just"/>
            <a:r>
              <a:rPr lang="es-MX" sz="2250" b="1" dirty="0"/>
              <a:t>Paso 5: Gestión de Excepciones</a:t>
            </a:r>
          </a:p>
          <a:p>
            <a:pPr algn="just"/>
            <a:r>
              <a:rPr lang="es-MX" sz="2250" dirty="0"/>
              <a:t>Si detecta errores o inconsistencias: </a:t>
            </a:r>
          </a:p>
          <a:p>
            <a:pPr marL="342900" indent="-342900" algn="just">
              <a:buFont typeface="Arial" panose="020B0604020202020204" pitchFamily="34" charset="0"/>
              <a:buChar char="•"/>
            </a:pPr>
            <a:r>
              <a:rPr lang="es-MX" sz="2250" dirty="0"/>
              <a:t>Genera una alerta. </a:t>
            </a:r>
          </a:p>
          <a:p>
            <a:pPr marL="342900" indent="-342900" algn="just">
              <a:buFont typeface="Arial" panose="020B0604020202020204" pitchFamily="34" charset="0"/>
              <a:buChar char="•"/>
            </a:pPr>
            <a:r>
              <a:rPr lang="es-MX" sz="2250" dirty="0"/>
              <a:t>Envía un correo al analista responsable. </a:t>
            </a:r>
          </a:p>
          <a:p>
            <a:pPr marL="342900" indent="-342900" algn="just">
              <a:buFont typeface="Arial" panose="020B0604020202020204" pitchFamily="34" charset="0"/>
              <a:buChar char="•"/>
            </a:pPr>
            <a:r>
              <a:rPr lang="es-MX" sz="2250" dirty="0"/>
              <a:t>Coloca la factura en una bandeja de revisión. </a:t>
            </a:r>
          </a:p>
          <a:p>
            <a:pPr algn="just"/>
            <a:endParaRPr lang="es-MX" sz="2250" dirty="0"/>
          </a:p>
          <a:p>
            <a:pPr algn="just"/>
            <a:r>
              <a:rPr lang="es-MX" sz="2250" b="1" dirty="0"/>
              <a:t>Paso 6: Generación de Reportes</a:t>
            </a:r>
          </a:p>
          <a:p>
            <a:pPr algn="just"/>
            <a:r>
              <a:rPr lang="es-MX" sz="2250" dirty="0"/>
              <a:t>Elabora un reporte consolidado con: </a:t>
            </a:r>
          </a:p>
          <a:p>
            <a:pPr marL="342900" indent="-342900" algn="just">
              <a:buFont typeface="Arial" panose="020B0604020202020204" pitchFamily="34" charset="0"/>
              <a:buChar char="•"/>
            </a:pPr>
            <a:r>
              <a:rPr lang="es-MX" sz="2250" dirty="0"/>
              <a:t>Facturas procesadas. </a:t>
            </a:r>
          </a:p>
          <a:p>
            <a:pPr marL="342900" indent="-342900" algn="just">
              <a:buFont typeface="Arial" panose="020B0604020202020204" pitchFamily="34" charset="0"/>
              <a:buChar char="•"/>
            </a:pPr>
            <a:r>
              <a:rPr lang="es-MX" sz="2250" dirty="0"/>
              <a:t>Facturas rechazadas. </a:t>
            </a:r>
          </a:p>
          <a:p>
            <a:pPr marL="342900" indent="-342900" algn="just">
              <a:buFont typeface="Arial" panose="020B0604020202020204" pitchFamily="34" charset="0"/>
              <a:buChar char="•"/>
            </a:pPr>
            <a:r>
              <a:rPr lang="es-MX" sz="2250" dirty="0"/>
              <a:t>Montos totales registrados. </a:t>
            </a:r>
          </a:p>
          <a:p>
            <a:pPr marL="342900" indent="-342900" algn="just">
              <a:buFont typeface="Arial" panose="020B0604020202020204" pitchFamily="34" charset="0"/>
              <a:buChar char="•"/>
            </a:pPr>
            <a:r>
              <a:rPr lang="es-MX" sz="2250" dirty="0"/>
              <a:t>Errores detectados. </a:t>
            </a:r>
          </a:p>
          <a:p>
            <a:endParaRPr lang="es-MX" dirty="0"/>
          </a:p>
        </p:txBody>
      </p:sp>
    </p:spTree>
    <p:extLst>
      <p:ext uri="{BB962C8B-B14F-4D97-AF65-F5344CB8AC3E}">
        <p14:creationId xmlns:p14="http://schemas.microsoft.com/office/powerpoint/2010/main" val="1510678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sz="4000" dirty="0"/>
              <a:t>RPA No Atendida</a:t>
            </a:r>
            <a:endParaRPr sz="4000"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7" name="CuadroTexto 6">
            <a:extLst>
              <a:ext uri="{FF2B5EF4-FFF2-40B4-BE49-F238E27FC236}">
                <a16:creationId xmlns:a16="http://schemas.microsoft.com/office/drawing/2014/main" id="{BB3F4701-2F2F-6446-178B-00AB6819F082}"/>
              </a:ext>
            </a:extLst>
          </p:cNvPr>
          <p:cNvSpPr txBox="1"/>
          <p:nvPr/>
        </p:nvSpPr>
        <p:spPr>
          <a:xfrm>
            <a:off x="806574" y="946301"/>
            <a:ext cx="9404226" cy="4524315"/>
          </a:xfrm>
          <a:prstGeom prst="rect">
            <a:avLst/>
          </a:prstGeom>
          <a:noFill/>
        </p:spPr>
        <p:txBody>
          <a:bodyPr wrap="square">
            <a:spAutoFit/>
          </a:bodyPr>
          <a:lstStyle/>
          <a:p>
            <a:pPr algn="just"/>
            <a:r>
              <a:rPr lang="es-MX" sz="2400" b="1" dirty="0"/>
              <a:t>Paso 7: Envío de Resultados:</a:t>
            </a:r>
          </a:p>
          <a:p>
            <a:pPr marL="342900" indent="-342900" algn="just">
              <a:buFont typeface="Arial" panose="020B0604020202020204" pitchFamily="34" charset="0"/>
              <a:buChar char="•"/>
            </a:pPr>
            <a:r>
              <a:rPr lang="es-MX" sz="2400" dirty="0"/>
              <a:t>Envía automáticamente el reporte a los responsables de contabilidad y finanzas. </a:t>
            </a:r>
          </a:p>
          <a:p>
            <a:pPr marL="342900" indent="-342900" algn="just">
              <a:buFont typeface="Arial" panose="020B0604020202020204" pitchFamily="34" charset="0"/>
              <a:buChar char="•"/>
            </a:pPr>
            <a:r>
              <a:rPr lang="es-MX" sz="2400" dirty="0"/>
              <a:t>Archiva las facturas en el repositorio documental de la empresa.</a:t>
            </a:r>
          </a:p>
          <a:p>
            <a:pPr algn="just">
              <a:buFont typeface="Arial" panose="020B0604020202020204" pitchFamily="34" charset="0"/>
              <a:buChar char="•"/>
            </a:pPr>
            <a:endParaRPr lang="es-MX" sz="2400" dirty="0"/>
          </a:p>
          <a:p>
            <a:pPr algn="just"/>
            <a:r>
              <a:rPr lang="es-MX" sz="2400" b="1" dirty="0"/>
              <a:t>Beneficios Obtenidos:</a:t>
            </a:r>
          </a:p>
          <a:p>
            <a:pPr marL="342900" indent="-342900" algn="just">
              <a:buFont typeface="Arial" panose="020B0604020202020204" pitchFamily="34" charset="0"/>
              <a:buChar char="•"/>
            </a:pPr>
            <a:r>
              <a:rPr lang="es-MX" sz="2400" dirty="0"/>
              <a:t>Procesamiento continuo las 24 horas. </a:t>
            </a:r>
          </a:p>
          <a:p>
            <a:pPr marL="342900" indent="-342900" algn="just">
              <a:buFont typeface="Arial" panose="020B0604020202020204" pitchFamily="34" charset="0"/>
              <a:buChar char="•"/>
            </a:pPr>
            <a:r>
              <a:rPr lang="es-MX" sz="2400" dirty="0"/>
              <a:t>Reducción de hasta un 80% del tiempo operativo. </a:t>
            </a:r>
          </a:p>
          <a:p>
            <a:pPr marL="342900" indent="-342900" algn="just">
              <a:buFont typeface="Arial" panose="020B0604020202020204" pitchFamily="34" charset="0"/>
              <a:buChar char="•"/>
            </a:pPr>
            <a:r>
              <a:rPr lang="es-MX" sz="2400" dirty="0"/>
              <a:t>Eliminación de errores de digitación. </a:t>
            </a:r>
          </a:p>
          <a:p>
            <a:pPr marL="342900" indent="-342900" algn="just">
              <a:buFont typeface="Arial" panose="020B0604020202020204" pitchFamily="34" charset="0"/>
              <a:buChar char="•"/>
            </a:pPr>
            <a:r>
              <a:rPr lang="es-MX" sz="2400" dirty="0"/>
              <a:t>Mayor velocidad en el registro contable. </a:t>
            </a:r>
          </a:p>
          <a:p>
            <a:pPr marL="342900" indent="-342900" algn="just">
              <a:buFont typeface="Arial" panose="020B0604020202020204" pitchFamily="34" charset="0"/>
              <a:buChar char="•"/>
            </a:pPr>
            <a:r>
              <a:rPr lang="es-MX" sz="2400" dirty="0"/>
              <a:t>Disponibilidad de información actualizada al inicio de la jornada laboral. </a:t>
            </a:r>
          </a:p>
          <a:p>
            <a:pPr marL="342900" indent="-342900" algn="just">
              <a:buFont typeface="Arial" panose="020B0604020202020204" pitchFamily="34" charset="0"/>
              <a:buChar char="•"/>
            </a:pPr>
            <a:r>
              <a:rPr lang="es-MX" sz="2400" dirty="0"/>
              <a:t>Liberación del personal para actividades de mayor valor analítico.</a:t>
            </a:r>
          </a:p>
        </p:txBody>
      </p:sp>
    </p:spTree>
    <p:extLst>
      <p:ext uri="{BB962C8B-B14F-4D97-AF65-F5344CB8AC3E}">
        <p14:creationId xmlns:p14="http://schemas.microsoft.com/office/powerpoint/2010/main" val="2835050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sz="4400" dirty="0"/>
              <a:t>RPA Híbrida</a:t>
            </a:r>
            <a:endParaRPr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7" name="CuadroTexto 6">
            <a:extLst>
              <a:ext uri="{FF2B5EF4-FFF2-40B4-BE49-F238E27FC236}">
                <a16:creationId xmlns:a16="http://schemas.microsoft.com/office/drawing/2014/main" id="{BB3F4701-2F2F-6446-178B-00AB6819F082}"/>
              </a:ext>
            </a:extLst>
          </p:cNvPr>
          <p:cNvSpPr txBox="1"/>
          <p:nvPr/>
        </p:nvSpPr>
        <p:spPr>
          <a:xfrm>
            <a:off x="997526" y="946301"/>
            <a:ext cx="9989127" cy="5662317"/>
          </a:xfrm>
          <a:prstGeom prst="rect">
            <a:avLst/>
          </a:prstGeom>
          <a:noFill/>
        </p:spPr>
        <p:txBody>
          <a:bodyPr wrap="square">
            <a:spAutoFit/>
          </a:bodyPr>
          <a:lstStyle/>
          <a:p>
            <a:pPr algn="just"/>
            <a:r>
              <a:rPr lang="es-MX" sz="2400" dirty="0"/>
              <a:t>Este RPA combina la automatización atendida y no atendida, permitiendo que personas y robots colaboren dentro de un mismo proceso de negocio.</a:t>
            </a:r>
          </a:p>
          <a:p>
            <a:pPr algn="just"/>
            <a:endParaRPr lang="es-MX" sz="2400" dirty="0"/>
          </a:p>
          <a:p>
            <a:pPr algn="just"/>
            <a:r>
              <a:rPr lang="es-MX" sz="2400" b="1" dirty="0"/>
              <a:t>Características:</a:t>
            </a:r>
          </a:p>
          <a:p>
            <a:pPr marL="342900" indent="-342900" algn="just">
              <a:buFont typeface="Arial" panose="020B0604020202020204" pitchFamily="34" charset="0"/>
              <a:buChar char="•"/>
            </a:pPr>
            <a:r>
              <a:rPr lang="es-MX" sz="2400" dirty="0"/>
              <a:t>Integra actividades humanas y automatizadas. </a:t>
            </a:r>
          </a:p>
          <a:p>
            <a:pPr marL="342900" indent="-342900" algn="just">
              <a:buFont typeface="Arial" panose="020B0604020202020204" pitchFamily="34" charset="0"/>
              <a:buChar char="•"/>
            </a:pPr>
            <a:r>
              <a:rPr lang="es-MX" sz="2400" dirty="0"/>
              <a:t>Combina procesos de front-office y back-office. </a:t>
            </a:r>
          </a:p>
          <a:p>
            <a:pPr marL="342900" indent="-342900" algn="just">
              <a:buFont typeface="Arial" panose="020B0604020202020204" pitchFamily="34" charset="0"/>
              <a:buChar char="•"/>
            </a:pPr>
            <a:r>
              <a:rPr lang="es-MX" sz="2400" dirty="0"/>
              <a:t>Permite gestionar excepciones mediante intervención humana. </a:t>
            </a:r>
          </a:p>
          <a:p>
            <a:pPr marL="342900" indent="-342900" algn="just">
              <a:buFont typeface="Arial" panose="020B0604020202020204" pitchFamily="34" charset="0"/>
              <a:buChar char="•"/>
            </a:pPr>
            <a:r>
              <a:rPr lang="es-MX" sz="2400" dirty="0"/>
              <a:t>Facilita la automatización de procesos de extremo a extremo. </a:t>
            </a:r>
          </a:p>
          <a:p>
            <a:pPr marL="342900" indent="-342900" algn="just">
              <a:buFont typeface="Arial" panose="020B0604020202020204" pitchFamily="34" charset="0"/>
              <a:buChar char="•"/>
            </a:pPr>
            <a:endParaRPr lang="es-MX" sz="2400" dirty="0"/>
          </a:p>
          <a:p>
            <a:pPr algn="just"/>
            <a:r>
              <a:rPr lang="es-MX" sz="2400" b="1" dirty="0"/>
              <a:t>Beneficios:</a:t>
            </a:r>
          </a:p>
          <a:p>
            <a:pPr marL="342900" indent="-342900" algn="just">
              <a:buFont typeface="Arial" panose="020B0604020202020204" pitchFamily="34" charset="0"/>
              <a:buChar char="•"/>
            </a:pPr>
            <a:r>
              <a:rPr lang="es-MX" sz="2400" dirty="0"/>
              <a:t>Mayor nivel de automatización. </a:t>
            </a:r>
          </a:p>
          <a:p>
            <a:pPr marL="342900" indent="-342900" algn="just">
              <a:buFont typeface="Arial" panose="020B0604020202020204" pitchFamily="34" charset="0"/>
              <a:buChar char="•"/>
            </a:pPr>
            <a:r>
              <a:rPr lang="es-MX" sz="2400" dirty="0"/>
              <a:t>Mejor aprovechamiento de recursos humanos. </a:t>
            </a:r>
          </a:p>
          <a:p>
            <a:pPr marL="342900" indent="-342900" algn="just">
              <a:buFont typeface="Arial" panose="020B0604020202020204" pitchFamily="34" charset="0"/>
              <a:buChar char="•"/>
            </a:pPr>
            <a:r>
              <a:rPr lang="es-MX" sz="2400" dirty="0"/>
              <a:t>Mayor flexibilidad para manejar casos complejos. </a:t>
            </a:r>
          </a:p>
          <a:p>
            <a:pPr marL="342900" indent="-342900" algn="just">
              <a:buFont typeface="Arial" panose="020B0604020202020204" pitchFamily="34" charset="0"/>
              <a:buChar char="•"/>
            </a:pPr>
            <a:r>
              <a:rPr lang="es-MX" sz="2400" dirty="0"/>
              <a:t>Optimización de procesos empresariales completos.</a:t>
            </a:r>
          </a:p>
          <a:p>
            <a:endParaRPr lang="es-MX" dirty="0"/>
          </a:p>
        </p:txBody>
      </p:sp>
    </p:spTree>
    <p:extLst>
      <p:ext uri="{BB962C8B-B14F-4D97-AF65-F5344CB8AC3E}">
        <p14:creationId xmlns:p14="http://schemas.microsoft.com/office/powerpoint/2010/main" val="4050572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sz="4400" dirty="0"/>
              <a:t>RPA Híbrida</a:t>
            </a:r>
            <a:endParaRPr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7" name="CuadroTexto 6">
            <a:extLst>
              <a:ext uri="{FF2B5EF4-FFF2-40B4-BE49-F238E27FC236}">
                <a16:creationId xmlns:a16="http://schemas.microsoft.com/office/drawing/2014/main" id="{BB3F4701-2F2F-6446-178B-00AB6819F082}"/>
              </a:ext>
            </a:extLst>
          </p:cNvPr>
          <p:cNvSpPr txBox="1"/>
          <p:nvPr/>
        </p:nvSpPr>
        <p:spPr>
          <a:xfrm>
            <a:off x="1044514" y="807801"/>
            <a:ext cx="10233086" cy="6463308"/>
          </a:xfrm>
          <a:prstGeom prst="rect">
            <a:avLst/>
          </a:prstGeom>
          <a:noFill/>
        </p:spPr>
        <p:txBody>
          <a:bodyPr wrap="square">
            <a:spAutoFit/>
          </a:bodyPr>
          <a:lstStyle/>
          <a:p>
            <a:pPr algn="just"/>
            <a:r>
              <a:rPr lang="es-MX" sz="2200" b="1" dirty="0"/>
              <a:t>Ejemplo: RPA Híbrida en el Proceso de Otorgamiento de Créditos</a:t>
            </a:r>
          </a:p>
          <a:p>
            <a:pPr algn="just"/>
            <a:r>
              <a:rPr lang="es-MX" sz="2200" b="1" dirty="0"/>
              <a:t>Situación Inicial</a:t>
            </a:r>
          </a:p>
          <a:p>
            <a:pPr algn="just"/>
            <a:r>
              <a:rPr lang="es-MX" sz="2200" dirty="0"/>
              <a:t>Un cliente solicita un préstamo en una entidad financiera. Para aprobar el crédito es necesario recopilar información personal, verificar antecedentes, validar documentos, evaluar la capacidad de pago y generar la documentación contractual.</a:t>
            </a:r>
          </a:p>
          <a:p>
            <a:pPr algn="just"/>
            <a:r>
              <a:rPr lang="es-MX" sz="2200" dirty="0"/>
              <a:t>Este proceso involucra actividades que requieren criterio humano y otras que pueden ser automatizadas, por lo que se utiliza un modelo de </a:t>
            </a:r>
            <a:r>
              <a:rPr lang="es-MX" sz="2200" b="1" dirty="0"/>
              <a:t>RPA Híbrida</a:t>
            </a:r>
            <a:r>
              <a:rPr lang="es-MX" sz="2200" dirty="0"/>
              <a:t>.</a:t>
            </a:r>
          </a:p>
          <a:p>
            <a:pPr algn="just"/>
            <a:r>
              <a:rPr lang="es-MX" sz="2200" b="1" dirty="0"/>
              <a:t>Proceso Tradicional (Sin RPA)</a:t>
            </a:r>
          </a:p>
          <a:p>
            <a:pPr marL="342900" indent="-342900" algn="just">
              <a:buFont typeface="Arial" panose="020B0604020202020204" pitchFamily="34" charset="0"/>
              <a:buChar char="•"/>
            </a:pPr>
            <a:r>
              <a:rPr lang="es-MX" sz="2200" dirty="0"/>
              <a:t>El asesor recopila los datos del cliente. </a:t>
            </a:r>
          </a:p>
          <a:p>
            <a:pPr marL="342900" indent="-342900" algn="just">
              <a:buFont typeface="Arial" panose="020B0604020202020204" pitchFamily="34" charset="0"/>
              <a:buChar char="•"/>
            </a:pPr>
            <a:r>
              <a:rPr lang="es-MX" sz="2200" dirty="0"/>
              <a:t>Ingresa manualmente la información en varios sistemas. </a:t>
            </a:r>
          </a:p>
          <a:p>
            <a:pPr marL="342900" indent="-342900" algn="just">
              <a:buFont typeface="Arial" panose="020B0604020202020204" pitchFamily="34" charset="0"/>
              <a:buChar char="•"/>
            </a:pPr>
            <a:r>
              <a:rPr lang="es-MX" sz="2200" dirty="0"/>
              <a:t>Consulta a la central de riesgo para conocer el historial crediticio del cliente.</a:t>
            </a:r>
          </a:p>
          <a:p>
            <a:pPr marL="342900" indent="-342900" algn="just">
              <a:buFont typeface="Arial" panose="020B0604020202020204" pitchFamily="34" charset="0"/>
              <a:buChar char="•"/>
            </a:pPr>
            <a:r>
              <a:rPr lang="es-MX" sz="2200" dirty="0"/>
              <a:t>Verifica documentos de identidad y sustento de ingresos. </a:t>
            </a:r>
          </a:p>
          <a:p>
            <a:pPr marL="342900" indent="-342900" algn="just">
              <a:buFont typeface="Arial" panose="020B0604020202020204" pitchFamily="34" charset="0"/>
              <a:buChar char="•"/>
            </a:pPr>
            <a:r>
              <a:rPr lang="es-MX" sz="2200" dirty="0"/>
              <a:t>Calcula la capacidad de pago. </a:t>
            </a:r>
          </a:p>
          <a:p>
            <a:pPr marL="342900" indent="-342900" algn="just">
              <a:buFont typeface="Arial" panose="020B0604020202020204" pitchFamily="34" charset="0"/>
              <a:buChar char="•"/>
            </a:pPr>
            <a:r>
              <a:rPr lang="es-MX" sz="2200" dirty="0"/>
              <a:t>Elabora contratos. </a:t>
            </a:r>
          </a:p>
          <a:p>
            <a:pPr marL="342900" indent="-342900" algn="just">
              <a:buFont typeface="Arial" panose="020B0604020202020204" pitchFamily="34" charset="0"/>
              <a:buChar char="•"/>
            </a:pPr>
            <a:r>
              <a:rPr lang="es-MX" sz="2200" dirty="0"/>
              <a:t>Solicita aprobaciones internas. </a:t>
            </a:r>
          </a:p>
          <a:p>
            <a:pPr marL="342900" indent="-342900" algn="just">
              <a:buFont typeface="Arial" panose="020B0604020202020204" pitchFamily="34" charset="0"/>
              <a:buChar char="•"/>
            </a:pPr>
            <a:r>
              <a:rPr lang="es-MX" sz="2200" dirty="0"/>
              <a:t>Comunica el resultado al cliente. </a:t>
            </a:r>
          </a:p>
          <a:p>
            <a:pPr algn="just"/>
            <a:r>
              <a:rPr lang="es-MX" sz="2200" b="1" dirty="0"/>
              <a:t>Tiempo estimado:</a:t>
            </a:r>
            <a:r>
              <a:rPr lang="es-MX" sz="2200" dirty="0"/>
              <a:t> entre 1 y 3 días.</a:t>
            </a:r>
          </a:p>
          <a:p>
            <a:pPr algn="just"/>
            <a:endParaRPr lang="es-MX" sz="2200" dirty="0"/>
          </a:p>
          <a:p>
            <a:endParaRPr lang="es-MX" dirty="0"/>
          </a:p>
        </p:txBody>
      </p:sp>
    </p:spTree>
    <p:extLst>
      <p:ext uri="{BB962C8B-B14F-4D97-AF65-F5344CB8AC3E}">
        <p14:creationId xmlns:p14="http://schemas.microsoft.com/office/powerpoint/2010/main" val="2054531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sz="4400" dirty="0"/>
              <a:t>RPA Híbrida</a:t>
            </a:r>
            <a:endParaRPr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7" name="CuadroTexto 6">
            <a:extLst>
              <a:ext uri="{FF2B5EF4-FFF2-40B4-BE49-F238E27FC236}">
                <a16:creationId xmlns:a16="http://schemas.microsoft.com/office/drawing/2014/main" id="{BB3F4701-2F2F-6446-178B-00AB6819F082}"/>
              </a:ext>
            </a:extLst>
          </p:cNvPr>
          <p:cNvSpPr txBox="1"/>
          <p:nvPr/>
        </p:nvSpPr>
        <p:spPr>
          <a:xfrm>
            <a:off x="1219200" y="953228"/>
            <a:ext cx="9753600" cy="5539978"/>
          </a:xfrm>
          <a:prstGeom prst="rect">
            <a:avLst/>
          </a:prstGeom>
          <a:noFill/>
        </p:spPr>
        <p:txBody>
          <a:bodyPr wrap="square">
            <a:spAutoFit/>
          </a:bodyPr>
          <a:lstStyle/>
          <a:p>
            <a:pPr algn="just"/>
            <a:r>
              <a:rPr lang="es-MX" sz="2400" b="1" dirty="0"/>
              <a:t>Proceso con RPA Híbrida</a:t>
            </a:r>
          </a:p>
          <a:p>
            <a:pPr algn="just"/>
            <a:r>
              <a:rPr lang="es-MX" sz="2400" b="1" dirty="0"/>
              <a:t>Fase 1: Registro de la Solicitud (Humano + Bot Atendido)</a:t>
            </a:r>
          </a:p>
          <a:p>
            <a:pPr algn="just"/>
            <a:r>
              <a:rPr lang="es-MX" sz="2400" b="1" dirty="0"/>
              <a:t>Actividad del Asesor</a:t>
            </a:r>
          </a:p>
          <a:p>
            <a:pPr marL="342900" indent="-342900" algn="just">
              <a:buFont typeface="Arial" panose="020B0604020202020204" pitchFamily="34" charset="0"/>
              <a:buChar char="•"/>
            </a:pPr>
            <a:r>
              <a:rPr lang="es-MX" sz="2400" dirty="0"/>
              <a:t>Atiende al cliente. </a:t>
            </a:r>
          </a:p>
          <a:p>
            <a:pPr marL="342900" indent="-342900" algn="just">
              <a:buFont typeface="Arial" panose="020B0604020202020204" pitchFamily="34" charset="0"/>
              <a:buChar char="•"/>
            </a:pPr>
            <a:r>
              <a:rPr lang="es-MX" sz="2400" dirty="0"/>
              <a:t>Recoge información personal. </a:t>
            </a:r>
          </a:p>
          <a:p>
            <a:pPr marL="342900" indent="-342900" algn="just">
              <a:buFont typeface="Arial" panose="020B0604020202020204" pitchFamily="34" charset="0"/>
              <a:buChar char="•"/>
            </a:pPr>
            <a:r>
              <a:rPr lang="es-MX" sz="2400" dirty="0"/>
              <a:t>Solicita documentos requeridos. </a:t>
            </a:r>
          </a:p>
          <a:p>
            <a:pPr marL="342900" indent="-342900" algn="just">
              <a:buFont typeface="Arial" panose="020B0604020202020204" pitchFamily="34" charset="0"/>
              <a:buChar char="•"/>
            </a:pPr>
            <a:r>
              <a:rPr lang="es-MX" sz="2400" dirty="0"/>
              <a:t>Registra la solicitud en el sistema. </a:t>
            </a:r>
          </a:p>
          <a:p>
            <a:pPr algn="just"/>
            <a:r>
              <a:rPr lang="es-MX" sz="2400" b="1" dirty="0"/>
              <a:t>Actividad del Bot Atendido</a:t>
            </a:r>
          </a:p>
          <a:p>
            <a:pPr marL="342900" indent="-342900" algn="just">
              <a:buFont typeface="Arial" panose="020B0604020202020204" pitchFamily="34" charset="0"/>
              <a:buChar char="•"/>
            </a:pPr>
            <a:r>
              <a:rPr lang="es-MX" sz="2400" dirty="0"/>
              <a:t>Completa automáticamente formularios. </a:t>
            </a:r>
          </a:p>
          <a:p>
            <a:pPr marL="342900" indent="-342900" algn="just">
              <a:buFont typeface="Arial" panose="020B0604020202020204" pitchFamily="34" charset="0"/>
              <a:buChar char="•"/>
            </a:pPr>
            <a:r>
              <a:rPr lang="es-MX" sz="2400" dirty="0"/>
              <a:t>Valida formatos de documentos. </a:t>
            </a:r>
          </a:p>
          <a:p>
            <a:pPr marL="342900" indent="-342900" algn="just">
              <a:buFont typeface="Arial" panose="020B0604020202020204" pitchFamily="34" charset="0"/>
              <a:buChar char="•"/>
            </a:pPr>
            <a:r>
              <a:rPr lang="es-MX" sz="2400" dirty="0"/>
              <a:t>Verifica que no falte información. </a:t>
            </a:r>
          </a:p>
          <a:p>
            <a:pPr marL="342900" indent="-342900" algn="just">
              <a:buFont typeface="Arial" panose="020B0604020202020204" pitchFamily="34" charset="0"/>
              <a:buChar char="•"/>
            </a:pPr>
            <a:r>
              <a:rPr lang="es-MX" sz="2400" dirty="0"/>
              <a:t>Genera un expediente digital. </a:t>
            </a:r>
          </a:p>
          <a:p>
            <a:pPr algn="just"/>
            <a:endParaRPr lang="es-MX" sz="2400" dirty="0"/>
          </a:p>
          <a:p>
            <a:pPr algn="just"/>
            <a:r>
              <a:rPr lang="es-MX" sz="2400" b="1" dirty="0"/>
              <a:t>Resultado:</a:t>
            </a:r>
            <a:r>
              <a:rPr lang="es-MX" sz="2400" dirty="0"/>
              <a:t> solicitud registrada en pocos minutos.</a:t>
            </a:r>
          </a:p>
          <a:p>
            <a:endParaRPr lang="es-MX" dirty="0"/>
          </a:p>
        </p:txBody>
      </p:sp>
    </p:spTree>
    <p:extLst>
      <p:ext uri="{BB962C8B-B14F-4D97-AF65-F5344CB8AC3E}">
        <p14:creationId xmlns:p14="http://schemas.microsoft.com/office/powerpoint/2010/main" val="40249061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sz="4400" dirty="0"/>
              <a:t>RPA Híbrida</a:t>
            </a:r>
            <a:endParaRPr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7" name="CuadroTexto 6">
            <a:extLst>
              <a:ext uri="{FF2B5EF4-FFF2-40B4-BE49-F238E27FC236}">
                <a16:creationId xmlns:a16="http://schemas.microsoft.com/office/drawing/2014/main" id="{BB3F4701-2F2F-6446-178B-00AB6819F082}"/>
              </a:ext>
            </a:extLst>
          </p:cNvPr>
          <p:cNvSpPr txBox="1"/>
          <p:nvPr/>
        </p:nvSpPr>
        <p:spPr>
          <a:xfrm>
            <a:off x="1219200" y="710775"/>
            <a:ext cx="9753600" cy="6386364"/>
          </a:xfrm>
          <a:prstGeom prst="rect">
            <a:avLst/>
          </a:prstGeom>
          <a:noFill/>
        </p:spPr>
        <p:txBody>
          <a:bodyPr wrap="square">
            <a:spAutoFit/>
          </a:bodyPr>
          <a:lstStyle/>
          <a:p>
            <a:pPr algn="just"/>
            <a:r>
              <a:rPr lang="es-MX" sz="2300" b="1" dirty="0"/>
              <a:t>Fase 2: Verificaciones Automáticas (Bot No Atendido)</a:t>
            </a:r>
          </a:p>
          <a:p>
            <a:pPr algn="just"/>
            <a:r>
              <a:rPr lang="es-MX" sz="2300" dirty="0"/>
              <a:t>Una vez registrada la solicitud, el proceso continúa automáticamente.</a:t>
            </a:r>
          </a:p>
          <a:p>
            <a:pPr algn="just"/>
            <a:r>
              <a:rPr lang="es-MX" sz="2300" b="1" dirty="0"/>
              <a:t>El bot realiza:</a:t>
            </a:r>
          </a:p>
          <a:p>
            <a:pPr marL="342900" indent="-342900" algn="just">
              <a:buFont typeface="Arial" panose="020B0604020202020204" pitchFamily="34" charset="0"/>
              <a:buChar char="•"/>
            </a:pPr>
            <a:r>
              <a:rPr lang="es-MX" sz="2300" dirty="0"/>
              <a:t>Consulta de antecedentes crediticios. </a:t>
            </a:r>
          </a:p>
          <a:p>
            <a:pPr marL="342900" indent="-342900" algn="just">
              <a:buFont typeface="Arial" panose="020B0604020202020204" pitchFamily="34" charset="0"/>
              <a:buChar char="•"/>
            </a:pPr>
            <a:r>
              <a:rPr lang="es-MX" sz="2300" dirty="0"/>
              <a:t>Verificación de identidad. </a:t>
            </a:r>
          </a:p>
          <a:p>
            <a:pPr marL="342900" indent="-342900" algn="just">
              <a:buFont typeface="Arial" panose="020B0604020202020204" pitchFamily="34" charset="0"/>
              <a:buChar char="•"/>
            </a:pPr>
            <a:r>
              <a:rPr lang="es-MX" sz="2300" dirty="0"/>
              <a:t>Validación de ingresos declarados. </a:t>
            </a:r>
          </a:p>
          <a:p>
            <a:pPr marL="342900" indent="-342900" algn="just">
              <a:buFont typeface="Arial" panose="020B0604020202020204" pitchFamily="34" charset="0"/>
              <a:buChar char="•"/>
            </a:pPr>
            <a:r>
              <a:rPr lang="es-MX" sz="2300" dirty="0"/>
              <a:t>Consulta de deudas vigentes. </a:t>
            </a:r>
          </a:p>
          <a:p>
            <a:pPr marL="342900" indent="-342900" algn="just">
              <a:buFont typeface="Arial" panose="020B0604020202020204" pitchFamily="34" charset="0"/>
              <a:buChar char="•"/>
            </a:pPr>
            <a:r>
              <a:rPr lang="es-MX" sz="2300" dirty="0"/>
              <a:t>Revisión de historial financiero. </a:t>
            </a:r>
          </a:p>
          <a:p>
            <a:pPr marL="342900" indent="-342900" algn="just">
              <a:buFont typeface="Arial" panose="020B0604020202020204" pitchFamily="34" charset="0"/>
              <a:buChar char="•"/>
            </a:pPr>
            <a:r>
              <a:rPr lang="es-MX" sz="2300" dirty="0"/>
              <a:t>Verificación de listas de riesgo y fraude. </a:t>
            </a:r>
          </a:p>
          <a:p>
            <a:pPr algn="just"/>
            <a:r>
              <a:rPr lang="es-MX" sz="2300" b="1" dirty="0"/>
              <a:t>Sistemas consultados:</a:t>
            </a:r>
          </a:p>
          <a:p>
            <a:pPr marL="342900" indent="-342900" algn="just">
              <a:buFont typeface="Arial" panose="020B0604020202020204" pitchFamily="34" charset="0"/>
              <a:buChar char="•"/>
            </a:pPr>
            <a:r>
              <a:rPr lang="es-MX" sz="2300" dirty="0"/>
              <a:t>Central de riesgos. </a:t>
            </a:r>
          </a:p>
          <a:p>
            <a:pPr marL="342900" indent="-342900" algn="just">
              <a:buFont typeface="Arial" panose="020B0604020202020204" pitchFamily="34" charset="0"/>
              <a:buChar char="•"/>
            </a:pPr>
            <a:r>
              <a:rPr lang="es-MX" sz="2300" dirty="0"/>
              <a:t>Base de clientes. </a:t>
            </a:r>
          </a:p>
          <a:p>
            <a:pPr marL="342900" indent="-342900" algn="just">
              <a:buFont typeface="Arial" panose="020B0604020202020204" pitchFamily="34" charset="0"/>
              <a:buChar char="•"/>
            </a:pPr>
            <a:r>
              <a:rPr lang="es-MX" sz="2300" dirty="0"/>
              <a:t>Sistema financiero interno. </a:t>
            </a:r>
          </a:p>
          <a:p>
            <a:pPr marL="342900" indent="-342900" algn="just">
              <a:buFont typeface="Arial" panose="020B0604020202020204" pitchFamily="34" charset="0"/>
              <a:buChar char="•"/>
            </a:pPr>
            <a:r>
              <a:rPr lang="es-MX" sz="2300" dirty="0"/>
              <a:t>Plataforma de validación documental. </a:t>
            </a:r>
          </a:p>
          <a:p>
            <a:pPr marL="342900" indent="-342900" algn="just">
              <a:buFont typeface="Arial" panose="020B0604020202020204" pitchFamily="34" charset="0"/>
              <a:buChar char="•"/>
            </a:pPr>
            <a:r>
              <a:rPr lang="es-MX" sz="2300" dirty="0"/>
              <a:t>Registros gubernamentales. </a:t>
            </a:r>
          </a:p>
          <a:p>
            <a:pPr algn="just"/>
            <a:r>
              <a:rPr lang="es-MX" sz="2300" b="1" dirty="0"/>
              <a:t>Resultado:</a:t>
            </a:r>
            <a:r>
              <a:rPr lang="es-MX" sz="2300" dirty="0"/>
              <a:t> obtención automática de toda la información necesaria para la evaluación.</a:t>
            </a:r>
          </a:p>
          <a:p>
            <a:endParaRPr lang="es-MX" dirty="0"/>
          </a:p>
        </p:txBody>
      </p:sp>
    </p:spTree>
    <p:extLst>
      <p:ext uri="{BB962C8B-B14F-4D97-AF65-F5344CB8AC3E}">
        <p14:creationId xmlns:p14="http://schemas.microsoft.com/office/powerpoint/2010/main" val="2911488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sz="4400" dirty="0"/>
              <a:t>RPA Híbrida</a:t>
            </a:r>
            <a:endParaRPr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7" name="CuadroTexto 6">
            <a:extLst>
              <a:ext uri="{FF2B5EF4-FFF2-40B4-BE49-F238E27FC236}">
                <a16:creationId xmlns:a16="http://schemas.microsoft.com/office/drawing/2014/main" id="{BB3F4701-2F2F-6446-178B-00AB6819F082}"/>
              </a:ext>
            </a:extLst>
          </p:cNvPr>
          <p:cNvSpPr txBox="1"/>
          <p:nvPr/>
        </p:nvSpPr>
        <p:spPr>
          <a:xfrm>
            <a:off x="1219200" y="946301"/>
            <a:ext cx="9753600" cy="5539978"/>
          </a:xfrm>
          <a:prstGeom prst="rect">
            <a:avLst/>
          </a:prstGeom>
          <a:noFill/>
        </p:spPr>
        <p:txBody>
          <a:bodyPr wrap="square">
            <a:spAutoFit/>
          </a:bodyPr>
          <a:lstStyle/>
          <a:p>
            <a:pPr algn="just"/>
            <a:r>
              <a:rPr lang="es-MX" sz="2400" b="1" dirty="0"/>
              <a:t>Fase 3: Evaluación del Crédito (Bot No Atendido)</a:t>
            </a:r>
          </a:p>
          <a:p>
            <a:pPr algn="just"/>
            <a:r>
              <a:rPr lang="es-MX" sz="2400" dirty="0"/>
              <a:t>El robot analiza la información obtenida.</a:t>
            </a:r>
          </a:p>
          <a:p>
            <a:pPr algn="just"/>
            <a:endParaRPr lang="es-MX" sz="2400" dirty="0"/>
          </a:p>
          <a:p>
            <a:pPr algn="just"/>
            <a:r>
              <a:rPr lang="es-MX" sz="2400" b="1" dirty="0"/>
              <a:t>Actividades:</a:t>
            </a:r>
          </a:p>
          <a:p>
            <a:pPr marL="342900" indent="-342900" algn="just">
              <a:buFont typeface="Arial" panose="020B0604020202020204" pitchFamily="34" charset="0"/>
              <a:buChar char="•"/>
            </a:pPr>
            <a:r>
              <a:rPr lang="es-MX" sz="2400" dirty="0"/>
              <a:t>Calcula capacidad de endeudamiento. </a:t>
            </a:r>
          </a:p>
          <a:p>
            <a:pPr marL="342900" indent="-342900" algn="just">
              <a:buFont typeface="Arial" panose="020B0604020202020204" pitchFamily="34" charset="0"/>
              <a:buChar char="•"/>
            </a:pPr>
            <a:r>
              <a:rPr lang="es-MX" sz="2400" dirty="0"/>
              <a:t>Determina nivel de riesgo. </a:t>
            </a:r>
          </a:p>
          <a:p>
            <a:pPr marL="342900" indent="-342900" algn="just">
              <a:buFont typeface="Arial" panose="020B0604020202020204" pitchFamily="34" charset="0"/>
              <a:buChar char="•"/>
            </a:pPr>
            <a:r>
              <a:rPr lang="es-MX" sz="2400" dirty="0"/>
              <a:t>Verifica cumplimiento de políticas internas. </a:t>
            </a:r>
          </a:p>
          <a:p>
            <a:pPr marL="342900" indent="-342900" algn="just">
              <a:buFont typeface="Arial" panose="020B0604020202020204" pitchFamily="34" charset="0"/>
              <a:buChar char="•"/>
            </a:pPr>
            <a:r>
              <a:rPr lang="es-MX" sz="2400" dirty="0"/>
              <a:t>Calcula monto máximo aprobable. </a:t>
            </a:r>
          </a:p>
          <a:p>
            <a:pPr marL="342900" indent="-342900" algn="just">
              <a:buFont typeface="Arial" panose="020B0604020202020204" pitchFamily="34" charset="0"/>
              <a:buChar char="•"/>
            </a:pPr>
            <a:r>
              <a:rPr lang="es-MX" sz="2400" dirty="0"/>
              <a:t>Genera una recomendación automática. </a:t>
            </a:r>
          </a:p>
          <a:p>
            <a:pPr algn="just"/>
            <a:endParaRPr lang="es-MX" sz="2400" dirty="0"/>
          </a:p>
          <a:p>
            <a:pPr algn="just"/>
            <a:r>
              <a:rPr lang="es-MX" sz="2400" b="1" dirty="0"/>
              <a:t>Resultado:</a:t>
            </a:r>
            <a:endParaRPr lang="es-MX" sz="2400" dirty="0"/>
          </a:p>
          <a:p>
            <a:pPr marL="342900" indent="-342900" algn="just">
              <a:buFont typeface="Arial" panose="020B0604020202020204" pitchFamily="34" charset="0"/>
              <a:buChar char="•"/>
            </a:pPr>
            <a:r>
              <a:rPr lang="es-MX" sz="2400" dirty="0"/>
              <a:t>Crédito recomendable. </a:t>
            </a:r>
          </a:p>
          <a:p>
            <a:pPr marL="342900" indent="-342900" algn="just">
              <a:buFont typeface="Arial" panose="020B0604020202020204" pitchFamily="34" charset="0"/>
              <a:buChar char="•"/>
            </a:pPr>
            <a:r>
              <a:rPr lang="es-MX" sz="2400" dirty="0"/>
              <a:t>Crédito sujeto a revisión. </a:t>
            </a:r>
          </a:p>
          <a:p>
            <a:pPr marL="342900" indent="-342900" algn="just">
              <a:buFont typeface="Arial" panose="020B0604020202020204" pitchFamily="34" charset="0"/>
              <a:buChar char="•"/>
            </a:pPr>
            <a:r>
              <a:rPr lang="es-MX" sz="2400" dirty="0"/>
              <a:t>Crédito rechazado.</a:t>
            </a:r>
          </a:p>
          <a:p>
            <a:endParaRPr lang="es-MX" dirty="0"/>
          </a:p>
        </p:txBody>
      </p:sp>
    </p:spTree>
    <p:extLst>
      <p:ext uri="{BB962C8B-B14F-4D97-AF65-F5344CB8AC3E}">
        <p14:creationId xmlns:p14="http://schemas.microsoft.com/office/powerpoint/2010/main" val="1398599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sz="4400" dirty="0"/>
              <a:t>RPA Híbrida</a:t>
            </a:r>
            <a:endParaRPr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7" name="CuadroTexto 6">
            <a:extLst>
              <a:ext uri="{FF2B5EF4-FFF2-40B4-BE49-F238E27FC236}">
                <a16:creationId xmlns:a16="http://schemas.microsoft.com/office/drawing/2014/main" id="{BB3F4701-2F2F-6446-178B-00AB6819F082}"/>
              </a:ext>
            </a:extLst>
          </p:cNvPr>
          <p:cNvSpPr txBox="1"/>
          <p:nvPr/>
        </p:nvSpPr>
        <p:spPr>
          <a:xfrm>
            <a:off x="1219200" y="946301"/>
            <a:ext cx="9753600" cy="5909310"/>
          </a:xfrm>
          <a:prstGeom prst="rect">
            <a:avLst/>
          </a:prstGeom>
          <a:noFill/>
        </p:spPr>
        <p:txBody>
          <a:bodyPr wrap="square">
            <a:spAutoFit/>
          </a:bodyPr>
          <a:lstStyle/>
          <a:p>
            <a:pPr algn="just"/>
            <a:r>
              <a:rPr lang="es-MX" sz="2400" b="1" dirty="0"/>
              <a:t>Fase 4: Revisión Humana</a:t>
            </a:r>
          </a:p>
          <a:p>
            <a:pPr algn="just"/>
            <a:r>
              <a:rPr lang="es-MX" sz="2400" b="1" dirty="0"/>
              <a:t>Actividad del Analista o Asesor</a:t>
            </a:r>
          </a:p>
          <a:p>
            <a:pPr algn="just"/>
            <a:r>
              <a:rPr lang="es-MX" sz="2400" dirty="0"/>
              <a:t>El sistema presenta un resumen consolidado: Datos personales, Historial crediticio, Nivel de riesgo, Capacidad de pago, Recomendación del sistema. </a:t>
            </a:r>
          </a:p>
          <a:p>
            <a:pPr algn="just"/>
            <a:r>
              <a:rPr lang="es-MX" sz="2400" dirty="0"/>
              <a:t>El analista: Revisa casos especiales, evalúa excepciones, toma la decisión final. </a:t>
            </a:r>
          </a:p>
          <a:p>
            <a:pPr algn="just"/>
            <a:endParaRPr lang="es-MX" sz="2400" dirty="0"/>
          </a:p>
          <a:p>
            <a:pPr algn="just"/>
            <a:r>
              <a:rPr lang="es-MX" sz="2400" b="1" dirty="0"/>
              <a:t>Resultado:</a:t>
            </a:r>
            <a:r>
              <a:rPr lang="es-MX" sz="2400" dirty="0"/>
              <a:t> aprobación o rechazo definitivo.</a:t>
            </a:r>
          </a:p>
          <a:p>
            <a:pPr algn="just"/>
            <a:endParaRPr lang="es-MX" sz="2400" dirty="0"/>
          </a:p>
          <a:p>
            <a:r>
              <a:rPr lang="es-MX" sz="2400" b="1" dirty="0"/>
              <a:t>Fase 5: Generación Automática de Contratos (Bot No Atendido)</a:t>
            </a:r>
          </a:p>
          <a:p>
            <a:r>
              <a:rPr lang="es-MX" sz="2400" dirty="0"/>
              <a:t>Si el crédito es aprobado:</a:t>
            </a:r>
          </a:p>
          <a:p>
            <a:r>
              <a:rPr lang="es-MX" sz="2400" b="1" dirty="0"/>
              <a:t>El bot: </a:t>
            </a:r>
            <a:r>
              <a:rPr lang="es-MX" sz="2400" dirty="0"/>
              <a:t>Genera el contrato, completa los datos del cliente, calcula cuotas e intereses, genera cronograma de pagos, envía documentos para firma electrónica, registra la operación en los sistemas internos.</a:t>
            </a:r>
          </a:p>
          <a:p>
            <a:pPr algn="just"/>
            <a:endParaRPr lang="es-MX" sz="2400" dirty="0"/>
          </a:p>
          <a:p>
            <a:endParaRPr lang="es-MX" dirty="0"/>
          </a:p>
        </p:txBody>
      </p:sp>
    </p:spTree>
    <p:extLst>
      <p:ext uri="{BB962C8B-B14F-4D97-AF65-F5344CB8AC3E}">
        <p14:creationId xmlns:p14="http://schemas.microsoft.com/office/powerpoint/2010/main" val="4204497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sz="4400" dirty="0"/>
              <a:t>RPA Híbrida</a:t>
            </a:r>
            <a:endParaRPr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7" name="CuadroTexto 6">
            <a:extLst>
              <a:ext uri="{FF2B5EF4-FFF2-40B4-BE49-F238E27FC236}">
                <a16:creationId xmlns:a16="http://schemas.microsoft.com/office/drawing/2014/main" id="{BB3F4701-2F2F-6446-178B-00AB6819F082}"/>
              </a:ext>
            </a:extLst>
          </p:cNvPr>
          <p:cNvSpPr txBox="1"/>
          <p:nvPr/>
        </p:nvSpPr>
        <p:spPr>
          <a:xfrm>
            <a:off x="1219200" y="842437"/>
            <a:ext cx="9753600" cy="6555641"/>
          </a:xfrm>
          <a:prstGeom prst="rect">
            <a:avLst/>
          </a:prstGeom>
          <a:noFill/>
        </p:spPr>
        <p:txBody>
          <a:bodyPr wrap="square">
            <a:spAutoFit/>
          </a:bodyPr>
          <a:lstStyle/>
          <a:p>
            <a:pPr algn="just"/>
            <a:r>
              <a:rPr lang="es-MX" sz="2400" b="1" dirty="0"/>
              <a:t>Fase 6: Comunicación al Cliente</a:t>
            </a:r>
          </a:p>
          <a:p>
            <a:pPr algn="just"/>
            <a:r>
              <a:rPr lang="es-MX" sz="2400" b="1" dirty="0"/>
              <a:t>Actividad del Bot:</a:t>
            </a:r>
          </a:p>
          <a:p>
            <a:pPr marL="342900" indent="-342900" algn="just">
              <a:buFont typeface="Arial" panose="020B0604020202020204" pitchFamily="34" charset="0"/>
              <a:buChar char="•"/>
            </a:pPr>
            <a:r>
              <a:rPr lang="es-MX" sz="2400" dirty="0"/>
              <a:t>Envía correo electrónico. </a:t>
            </a:r>
          </a:p>
          <a:p>
            <a:pPr marL="342900" indent="-342900" algn="just">
              <a:buFont typeface="Arial" panose="020B0604020202020204" pitchFamily="34" charset="0"/>
              <a:buChar char="•"/>
            </a:pPr>
            <a:r>
              <a:rPr lang="es-MX" sz="2400" dirty="0"/>
              <a:t>Envía SMS o notificación móvil. </a:t>
            </a:r>
          </a:p>
          <a:p>
            <a:pPr marL="342900" indent="-342900" algn="just">
              <a:buFont typeface="Arial" panose="020B0604020202020204" pitchFamily="34" charset="0"/>
              <a:buChar char="•"/>
            </a:pPr>
            <a:r>
              <a:rPr lang="es-MX" sz="2400" dirty="0"/>
              <a:t>Adjunta contrato y cronograma. </a:t>
            </a:r>
          </a:p>
          <a:p>
            <a:pPr algn="just"/>
            <a:r>
              <a:rPr lang="es-MX" sz="2400" b="1" dirty="0"/>
              <a:t>Actividad del Asesor:</a:t>
            </a:r>
          </a:p>
          <a:p>
            <a:pPr marL="342900" indent="-342900" algn="just">
              <a:buFont typeface="Arial" panose="020B0604020202020204" pitchFamily="34" charset="0"/>
              <a:buChar char="•"/>
            </a:pPr>
            <a:r>
              <a:rPr lang="es-MX" sz="2400" dirty="0"/>
              <a:t>Explica condiciones del crédito. </a:t>
            </a:r>
          </a:p>
          <a:p>
            <a:pPr marL="342900" indent="-342900" algn="just">
              <a:buFont typeface="Arial" panose="020B0604020202020204" pitchFamily="34" charset="0"/>
              <a:buChar char="•"/>
            </a:pPr>
            <a:r>
              <a:rPr lang="es-MX" sz="2400" dirty="0"/>
              <a:t>Resuelve consultas del cliente.</a:t>
            </a:r>
          </a:p>
          <a:p>
            <a:pPr algn="just">
              <a:buFont typeface="Arial" panose="020B0604020202020204" pitchFamily="34" charset="0"/>
              <a:buChar char="•"/>
            </a:pPr>
            <a:endParaRPr lang="es-MX" sz="2400" dirty="0"/>
          </a:p>
          <a:p>
            <a:pPr algn="just"/>
            <a:r>
              <a:rPr lang="es-MX" sz="2400" b="1" dirty="0"/>
              <a:t>Beneficios Obtenidos:</a:t>
            </a:r>
          </a:p>
          <a:p>
            <a:pPr marL="342900" indent="-342900" algn="just">
              <a:buFont typeface="Arial" panose="020B0604020202020204" pitchFamily="34" charset="0"/>
              <a:buChar char="•"/>
            </a:pPr>
            <a:r>
              <a:rPr lang="es-MX" sz="2400" dirty="0"/>
              <a:t>Reducción del tiempo de evaluación de varios días a pocas horas. </a:t>
            </a:r>
          </a:p>
          <a:p>
            <a:pPr marL="342900" indent="-342900" algn="just">
              <a:buFont typeface="Arial" panose="020B0604020202020204" pitchFamily="34" charset="0"/>
              <a:buChar char="•"/>
            </a:pPr>
            <a:r>
              <a:rPr lang="es-MX" sz="2400" dirty="0"/>
              <a:t>Menor carga operativa para asesores y analistas. </a:t>
            </a:r>
          </a:p>
          <a:p>
            <a:pPr marL="342900" indent="-342900" algn="just">
              <a:buFont typeface="Arial" panose="020B0604020202020204" pitchFamily="34" charset="0"/>
              <a:buChar char="•"/>
            </a:pPr>
            <a:r>
              <a:rPr lang="es-MX" sz="2400" dirty="0"/>
              <a:t>Disminución de errores en la validación de información. </a:t>
            </a:r>
          </a:p>
          <a:p>
            <a:pPr marL="342900" indent="-342900" algn="just">
              <a:buFont typeface="Arial" panose="020B0604020202020204" pitchFamily="34" charset="0"/>
              <a:buChar char="•"/>
            </a:pPr>
            <a:r>
              <a:rPr lang="es-MX" sz="2400" dirty="0"/>
              <a:t>Mayor velocidad de respuesta al cliente. </a:t>
            </a:r>
          </a:p>
          <a:p>
            <a:pPr marL="342900" indent="-342900" algn="just">
              <a:buFont typeface="Arial" panose="020B0604020202020204" pitchFamily="34" charset="0"/>
              <a:buChar char="•"/>
            </a:pPr>
            <a:r>
              <a:rPr lang="es-MX" sz="2400" dirty="0"/>
              <a:t>Cumplimiento de políticas y normativas de forma automática. </a:t>
            </a:r>
          </a:p>
          <a:p>
            <a:pPr marL="342900" indent="-342900" algn="just">
              <a:buFont typeface="Arial" panose="020B0604020202020204" pitchFamily="34" charset="0"/>
              <a:buChar char="•"/>
            </a:pPr>
            <a:r>
              <a:rPr lang="es-MX" sz="2400" dirty="0"/>
              <a:t>Mejor experiencia del cliente durante todo el proceso.</a:t>
            </a:r>
          </a:p>
          <a:p>
            <a:endParaRPr lang="es-MX" dirty="0"/>
          </a:p>
          <a:p>
            <a:endParaRPr lang="es-MX" dirty="0"/>
          </a:p>
        </p:txBody>
      </p:sp>
    </p:spTree>
    <p:extLst>
      <p:ext uri="{BB962C8B-B14F-4D97-AF65-F5344CB8AC3E}">
        <p14:creationId xmlns:p14="http://schemas.microsoft.com/office/powerpoint/2010/main" val="5174009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dirty="0"/>
              <a:t>Comparación de RPA</a:t>
            </a:r>
            <a:endParaRPr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graphicFrame>
        <p:nvGraphicFramePr>
          <p:cNvPr id="4" name="Tabla 3">
            <a:extLst>
              <a:ext uri="{FF2B5EF4-FFF2-40B4-BE49-F238E27FC236}">
                <a16:creationId xmlns:a16="http://schemas.microsoft.com/office/drawing/2014/main" id="{F15878A8-906E-C6E2-3714-BE43D9ECAF6F}"/>
              </a:ext>
            </a:extLst>
          </p:cNvPr>
          <p:cNvGraphicFramePr>
            <a:graphicFrameLocks noGrp="1"/>
          </p:cNvGraphicFramePr>
          <p:nvPr>
            <p:extLst>
              <p:ext uri="{D42A27DB-BD31-4B8C-83A1-F6EECF244321}">
                <p14:modId xmlns:p14="http://schemas.microsoft.com/office/powerpoint/2010/main" val="21880236"/>
              </p:ext>
            </p:extLst>
          </p:nvPr>
        </p:nvGraphicFramePr>
        <p:xfrm>
          <a:off x="1648691" y="1143000"/>
          <a:ext cx="9391650" cy="5292441"/>
        </p:xfrm>
        <a:graphic>
          <a:graphicData uri="http://schemas.openxmlformats.org/drawingml/2006/table">
            <a:tbl>
              <a:tblPr>
                <a:tableStyleId>{5C22544A-7EE6-4342-B048-85BDC9FD1C3A}</a:tableStyleId>
              </a:tblPr>
              <a:tblGrid>
                <a:gridCol w="2293309">
                  <a:extLst>
                    <a:ext uri="{9D8B030D-6E8A-4147-A177-3AD203B41FA5}">
                      <a16:colId xmlns:a16="http://schemas.microsoft.com/office/drawing/2014/main" val="3751039998"/>
                    </a:ext>
                  </a:extLst>
                </a:gridCol>
                <a:gridCol w="2131686">
                  <a:extLst>
                    <a:ext uri="{9D8B030D-6E8A-4147-A177-3AD203B41FA5}">
                      <a16:colId xmlns:a16="http://schemas.microsoft.com/office/drawing/2014/main" val="1836828980"/>
                    </a:ext>
                  </a:extLst>
                </a:gridCol>
                <a:gridCol w="2725763">
                  <a:extLst>
                    <a:ext uri="{9D8B030D-6E8A-4147-A177-3AD203B41FA5}">
                      <a16:colId xmlns:a16="http://schemas.microsoft.com/office/drawing/2014/main" val="1460598402"/>
                    </a:ext>
                  </a:extLst>
                </a:gridCol>
                <a:gridCol w="2240892">
                  <a:extLst>
                    <a:ext uri="{9D8B030D-6E8A-4147-A177-3AD203B41FA5}">
                      <a16:colId xmlns:a16="http://schemas.microsoft.com/office/drawing/2014/main" val="2594091177"/>
                    </a:ext>
                  </a:extLst>
                </a:gridCol>
              </a:tblGrid>
              <a:tr h="756063">
                <a:tc>
                  <a:txBody>
                    <a:bodyPr/>
                    <a:lstStyle/>
                    <a:p>
                      <a:pPr algn="ctr" rtl="0" fontAlgn="ctr"/>
                      <a:r>
                        <a:rPr lang="es-PE" sz="1600" b="1" u="none" strike="noStrike" dirty="0">
                          <a:effectLst/>
                        </a:rPr>
                        <a:t>Característica</a:t>
                      </a:r>
                      <a:endParaRPr lang="es-PE"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b="1" u="none" strike="noStrike" dirty="0">
                          <a:effectLst/>
                        </a:rPr>
                        <a:t>RPA Atendida</a:t>
                      </a:r>
                      <a:endParaRPr lang="es-PE"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b="1" u="none" strike="noStrike" dirty="0">
                          <a:effectLst/>
                        </a:rPr>
                        <a:t>RPA No Atendida</a:t>
                      </a:r>
                      <a:endParaRPr lang="es-PE" sz="16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b="1" u="none" strike="noStrike" dirty="0">
                          <a:effectLst/>
                        </a:rPr>
                        <a:t>RPA Híbrida</a:t>
                      </a:r>
                      <a:endParaRPr lang="es-PE" sz="16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1211218"/>
                  </a:ext>
                </a:extLst>
              </a:tr>
              <a:tr h="756063">
                <a:tc>
                  <a:txBody>
                    <a:bodyPr/>
                    <a:lstStyle/>
                    <a:p>
                      <a:pPr algn="ctr" rtl="0" fontAlgn="ctr"/>
                      <a:r>
                        <a:rPr lang="es-PE" sz="1600" u="none" strike="noStrike" dirty="0">
                          <a:effectLst/>
                        </a:rPr>
                        <a:t>Participación humana</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Alta</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Nula</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Parcial</a:t>
                      </a:r>
                      <a:endParaRPr lang="es-PE"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5782837"/>
                  </a:ext>
                </a:extLst>
              </a:tr>
              <a:tr h="756063">
                <a:tc>
                  <a:txBody>
                    <a:bodyPr/>
                    <a:lstStyle/>
                    <a:p>
                      <a:pPr algn="ctr" rtl="0" fontAlgn="ctr"/>
                      <a:r>
                        <a:rPr lang="es-PE" sz="1600" u="none" strike="noStrike" dirty="0">
                          <a:effectLst/>
                        </a:rPr>
                        <a:t>Ejecución automática</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Baja</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Total</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Alta</a:t>
                      </a:r>
                      <a:endParaRPr lang="es-PE"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668411655"/>
                  </a:ext>
                </a:extLst>
              </a:tr>
              <a:tr h="756063">
                <a:tc>
                  <a:txBody>
                    <a:bodyPr/>
                    <a:lstStyle/>
                    <a:p>
                      <a:pPr algn="ctr" rtl="0" fontAlgn="ctr"/>
                      <a:r>
                        <a:rPr lang="es-PE" sz="1600" u="none" strike="noStrike" dirty="0">
                          <a:effectLst/>
                        </a:rPr>
                        <a:t>Operación 24/7</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No</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Sí</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Sí</a:t>
                      </a:r>
                      <a:endParaRPr lang="es-PE"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61552651"/>
                  </a:ext>
                </a:extLst>
              </a:tr>
              <a:tr h="756063">
                <a:tc>
                  <a:txBody>
                    <a:bodyPr/>
                    <a:lstStyle/>
                    <a:p>
                      <a:pPr algn="ctr" rtl="0" fontAlgn="ctr"/>
                      <a:r>
                        <a:rPr lang="es-PE" sz="1600" u="none" strike="noStrike" dirty="0">
                          <a:effectLst/>
                        </a:rPr>
                        <a:t>Ubicación del bot</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PC del usuario</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Servidor/VM</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Ambos</a:t>
                      </a:r>
                      <a:endParaRPr lang="es-PE"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63602399"/>
                  </a:ext>
                </a:extLst>
              </a:tr>
              <a:tr h="756063">
                <a:tc>
                  <a:txBody>
                    <a:bodyPr/>
                    <a:lstStyle/>
                    <a:p>
                      <a:pPr algn="ctr" rtl="0" fontAlgn="ctr"/>
                      <a:r>
                        <a:rPr lang="es-PE" sz="1600" u="none" strike="noStrike" dirty="0">
                          <a:effectLst/>
                        </a:rPr>
                        <a:t>Procesos típicos</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Atención al cliente</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Procesamiento masivo</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Procesos integrales</a:t>
                      </a:r>
                      <a:endParaRPr lang="es-PE"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44030908"/>
                  </a:ext>
                </a:extLst>
              </a:tr>
              <a:tr h="756063">
                <a:tc>
                  <a:txBody>
                    <a:bodyPr/>
                    <a:lstStyle/>
                    <a:p>
                      <a:pPr algn="ctr" rtl="0" fontAlgn="ctr"/>
                      <a:r>
                        <a:rPr lang="es-PE" sz="1600" u="none" strike="noStrike" dirty="0">
                          <a:effectLst/>
                        </a:rPr>
                        <a:t>Complejidad de implementación</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Baja</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Media</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s-PE" sz="1600" u="none" strike="noStrike" dirty="0">
                          <a:effectLst/>
                        </a:rPr>
                        <a:t>Alta</a:t>
                      </a:r>
                      <a:endParaRPr lang="es-PE" sz="16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30747728"/>
                  </a:ext>
                </a:extLst>
              </a:tr>
            </a:tbl>
          </a:graphicData>
        </a:graphic>
      </p:graphicFrame>
    </p:spTree>
    <p:extLst>
      <p:ext uri="{BB962C8B-B14F-4D97-AF65-F5344CB8AC3E}">
        <p14:creationId xmlns:p14="http://schemas.microsoft.com/office/powerpoint/2010/main" val="2684252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dirty="0"/>
              <a:t>Técnicas rpa</a:t>
            </a:r>
            <a:endParaRPr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7" name="CuadroTexto 6">
            <a:extLst>
              <a:ext uri="{FF2B5EF4-FFF2-40B4-BE49-F238E27FC236}">
                <a16:creationId xmlns:a16="http://schemas.microsoft.com/office/drawing/2014/main" id="{01C987D5-E632-EC17-72AA-4909E43F1FE6}"/>
              </a:ext>
            </a:extLst>
          </p:cNvPr>
          <p:cNvSpPr txBox="1"/>
          <p:nvPr/>
        </p:nvSpPr>
        <p:spPr>
          <a:xfrm>
            <a:off x="651163" y="1328402"/>
            <a:ext cx="5375563" cy="3970318"/>
          </a:xfrm>
          <a:prstGeom prst="rect">
            <a:avLst/>
          </a:prstGeom>
          <a:noFill/>
        </p:spPr>
        <p:txBody>
          <a:bodyPr wrap="square">
            <a:spAutoFit/>
          </a:bodyPr>
          <a:lstStyle/>
          <a:p>
            <a:pPr algn="just"/>
            <a:r>
              <a:rPr lang="es-MX" sz="2600" dirty="0"/>
              <a:t>Las </a:t>
            </a:r>
            <a:r>
              <a:rPr lang="es-MX" sz="2600" b="1" dirty="0"/>
              <a:t>técnicas de RPA </a:t>
            </a:r>
            <a:r>
              <a:rPr lang="es-MX" sz="2600" dirty="0"/>
              <a:t>son los </a:t>
            </a:r>
            <a:r>
              <a:rPr lang="es-MX" sz="2600" b="1" dirty="0"/>
              <a:t>métodos o mecanismos</a:t>
            </a:r>
            <a:r>
              <a:rPr lang="es-MX" sz="2600" dirty="0"/>
              <a:t> que utilizan los bots para interactuar con aplicaciones, capturar información, procesar datos y automatizar tareas dentro de un proceso de negocio.</a:t>
            </a:r>
          </a:p>
          <a:p>
            <a:pPr algn="just"/>
            <a:r>
              <a:rPr lang="es-MX" sz="2600" dirty="0"/>
              <a:t>Es decir, son las diferentes formas en que un bot puede realizar el trabajo que normalmente haría una persona.</a:t>
            </a:r>
          </a:p>
          <a:p>
            <a:endParaRPr lang="es-MX" dirty="0"/>
          </a:p>
        </p:txBody>
      </p:sp>
      <p:pic>
        <p:nvPicPr>
          <p:cNvPr id="4" name="Imagen 3" descr="Diagrama&#10;&#10;Descripción generada automáticamente">
            <a:extLst>
              <a:ext uri="{FF2B5EF4-FFF2-40B4-BE49-F238E27FC236}">
                <a16:creationId xmlns:a16="http://schemas.microsoft.com/office/drawing/2014/main" id="{028EA434-7FCB-1DA1-4420-A2E898023C16}"/>
              </a:ext>
            </a:extLst>
          </p:cNvPr>
          <p:cNvPicPr>
            <a:picLocks noChangeAspect="1"/>
          </p:cNvPicPr>
          <p:nvPr/>
        </p:nvPicPr>
        <p:blipFill>
          <a:blip r:embed="rId3"/>
          <a:stretch>
            <a:fillRect/>
          </a:stretch>
        </p:blipFill>
        <p:spPr>
          <a:xfrm>
            <a:off x="6487391" y="1515962"/>
            <a:ext cx="5053446" cy="3368964"/>
          </a:xfrm>
          <a:prstGeom prst="rect">
            <a:avLst/>
          </a:prstGeom>
        </p:spPr>
      </p:pic>
    </p:spTree>
    <p:extLst>
      <p:ext uri="{BB962C8B-B14F-4D97-AF65-F5344CB8AC3E}">
        <p14:creationId xmlns:p14="http://schemas.microsoft.com/office/powerpoint/2010/main" val="9928910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dirty="0"/>
              <a:t>Técnicas rpa</a:t>
            </a:r>
            <a:endParaRPr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9" name="CuadroTexto 8">
            <a:extLst>
              <a:ext uri="{FF2B5EF4-FFF2-40B4-BE49-F238E27FC236}">
                <a16:creationId xmlns:a16="http://schemas.microsoft.com/office/drawing/2014/main" id="{8B024B48-DAEE-D752-384C-3000147B41C3}"/>
              </a:ext>
            </a:extLst>
          </p:cNvPr>
          <p:cNvSpPr txBox="1"/>
          <p:nvPr/>
        </p:nvSpPr>
        <p:spPr>
          <a:xfrm>
            <a:off x="665017" y="856357"/>
            <a:ext cx="10557163" cy="600164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rPr>
              <a:t>Automatización mediante la interfaz de usuario: </a:t>
            </a:r>
            <a:endParaRPr kumimoji="0" lang="es-PE" altLang="es-PE" sz="24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PE" altLang="es-PE" sz="2400" b="0" i="0" u="none" strike="noStrike" cap="none" normalizeH="0" baseline="0" dirty="0">
                <a:ln>
                  <a:noFill/>
                </a:ln>
                <a:solidFill>
                  <a:schemeClr val="tx1"/>
                </a:solidFill>
                <a:effectLst/>
              </a:rPr>
              <a:t>El bot interactúa con la pantalla como lo haría un usuario.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PE" altLang="es-PE" sz="2400" b="0" i="0" u="none" strike="noStrike" cap="none" normalizeH="0" baseline="0" dirty="0">
                <a:ln>
                  <a:noFill/>
                </a:ln>
                <a:solidFill>
                  <a:schemeClr val="tx1"/>
                </a:solidFill>
                <a:effectLst/>
              </a:rPr>
              <a:t>Hace clic en botones, escribe en campos, selecciona opciones y navega por las aplicaciones. </a:t>
            </a:r>
          </a:p>
          <a:p>
            <a:pPr marL="0" marR="0" lvl="0" indent="0" algn="l"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rPr>
              <a:t>Ejemplo:</a:t>
            </a:r>
            <a:r>
              <a:rPr kumimoji="0" lang="es-PE" altLang="es-PE" sz="2400" b="0" i="0" u="none" strike="noStrike" cap="none" normalizeH="0" baseline="0" dirty="0">
                <a:ln>
                  <a:noFill/>
                </a:ln>
                <a:solidFill>
                  <a:schemeClr val="tx1"/>
                </a:solidFill>
                <a:effectLst/>
              </a:rPr>
              <a:t> ingresar datos en un sistema ERP.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PE" altLang="es-PE"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rPr>
              <a:t>Integración mediante APIs</a:t>
            </a:r>
            <a:r>
              <a:rPr kumimoji="0" lang="es-PE" altLang="es-PE" sz="2400" b="0" i="0" u="none" strike="noStrike" cap="none" normalizeH="0" baseline="0" dirty="0">
                <a:ln>
                  <a:noFill/>
                </a:ln>
                <a:solidFill>
                  <a:schemeClr val="tx1"/>
                </a:solidFill>
                <a:effectLst/>
              </a:rPr>
              <a:t>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PE" altLang="es-PE" sz="2400" b="0" i="0" u="none" strike="noStrike" cap="none" normalizeH="0" baseline="0" dirty="0">
                <a:ln>
                  <a:noFill/>
                </a:ln>
                <a:solidFill>
                  <a:schemeClr val="tx1"/>
                </a:solidFill>
                <a:effectLst/>
              </a:rPr>
              <a:t>El bot intercambia información directamente con otros sistemas utilizando APIs, sin necesidad de interactuar con la pantalla.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PE" altLang="es-PE" sz="2400" b="0" i="0" u="none" strike="noStrike" cap="none" normalizeH="0" baseline="0" dirty="0">
                <a:ln>
                  <a:noFill/>
                </a:ln>
                <a:solidFill>
                  <a:schemeClr val="tx1"/>
                </a:solidFill>
                <a:effectLst/>
              </a:rPr>
              <a:t>Es más rápida y estable que la automatización por interfaz. </a:t>
            </a:r>
          </a:p>
          <a:p>
            <a:pPr marL="0" marR="0" lvl="0" indent="0" algn="l"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rPr>
              <a:t>Ejemplo:</a:t>
            </a:r>
            <a:r>
              <a:rPr kumimoji="0" lang="es-PE" altLang="es-PE" sz="2400" b="0" i="0" u="none" strike="noStrike" cap="none" normalizeH="0" baseline="0" dirty="0">
                <a:ln>
                  <a:noFill/>
                </a:ln>
                <a:solidFill>
                  <a:schemeClr val="tx1"/>
                </a:solidFill>
                <a:effectLst/>
              </a:rPr>
              <a:t> consultar el saldo de un cliente mediante una API bancaria. </a:t>
            </a:r>
          </a:p>
          <a:p>
            <a:pPr marL="0" marR="0" lvl="0" indent="0" algn="l" defTabSz="914400" rtl="0" eaLnBrk="0" fontAlgn="base" latinLnBrk="0" hangingPunct="0">
              <a:lnSpc>
                <a:spcPct val="100000"/>
              </a:lnSpc>
              <a:spcBef>
                <a:spcPct val="0"/>
              </a:spcBef>
              <a:spcAft>
                <a:spcPct val="0"/>
              </a:spcAft>
              <a:buClrTx/>
              <a:buSzTx/>
              <a:tabLst/>
            </a:pPr>
            <a:endParaRPr kumimoji="0" lang="es-PE" altLang="es-PE"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rPr>
              <a:t>Reconocimiento Óptico de Caracteres (OCR)</a:t>
            </a:r>
            <a:r>
              <a:rPr kumimoji="0" lang="es-PE" altLang="es-PE" sz="2400" b="0" i="0" u="none" strike="noStrike" cap="none" normalizeH="0" baseline="0" dirty="0">
                <a:ln>
                  <a:noFill/>
                </a:ln>
                <a:solidFill>
                  <a:schemeClr val="tx1"/>
                </a:solidFill>
                <a:effectLst/>
              </a:rPr>
              <a:t>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PE" altLang="es-PE" sz="2400" b="0" i="0" u="none" strike="noStrike" cap="none" normalizeH="0" baseline="0" dirty="0">
                <a:ln>
                  <a:noFill/>
                </a:ln>
                <a:solidFill>
                  <a:schemeClr val="tx1"/>
                </a:solidFill>
                <a:effectLst/>
              </a:rPr>
              <a:t>Convierte documentos escaneados o imágenes en texto que el bot puede leer y procesar. </a:t>
            </a:r>
          </a:p>
          <a:p>
            <a:pPr marL="0" marR="0" lvl="0" indent="0" algn="l"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rPr>
              <a:t>Ejemplo:</a:t>
            </a:r>
            <a:r>
              <a:rPr kumimoji="0" lang="es-PE" altLang="es-PE" sz="2400" b="0" i="0" u="none" strike="noStrike" cap="none" normalizeH="0" baseline="0" dirty="0">
                <a:ln>
                  <a:noFill/>
                </a:ln>
                <a:solidFill>
                  <a:schemeClr val="tx1"/>
                </a:solidFill>
                <a:effectLst/>
              </a:rPr>
              <a:t> extraer datos de una factura en formato PDF escaneado. </a:t>
            </a:r>
          </a:p>
        </p:txBody>
      </p:sp>
    </p:spTree>
    <p:extLst>
      <p:ext uri="{BB962C8B-B14F-4D97-AF65-F5344CB8AC3E}">
        <p14:creationId xmlns:p14="http://schemas.microsoft.com/office/powerpoint/2010/main" val="2070579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r>
              <a:rPr lang="es-MX" dirty="0"/>
              <a:t>Técnicas rpa</a:t>
            </a:r>
            <a:endParaRPr dirty="0"/>
          </a:p>
        </p:txBody>
      </p:sp>
      <p:pic>
        <p:nvPicPr>
          <p:cNvPr id="5" name="Imagen 4">
            <a:extLst>
              <a:ext uri="{FF2B5EF4-FFF2-40B4-BE49-F238E27FC236}">
                <a16:creationId xmlns:a16="http://schemas.microsoft.com/office/drawing/2014/main" id="{83E73EAE-A4BE-9F79-1561-C0E51A31A758}"/>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18BE05AC-ACD9-C94B-3E08-02841F33D7C7}"/>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9" name="CuadroTexto 8">
            <a:extLst>
              <a:ext uri="{FF2B5EF4-FFF2-40B4-BE49-F238E27FC236}">
                <a16:creationId xmlns:a16="http://schemas.microsoft.com/office/drawing/2014/main" id="{8B024B48-DAEE-D752-384C-3000147B41C3}"/>
              </a:ext>
            </a:extLst>
          </p:cNvPr>
          <p:cNvSpPr txBox="1"/>
          <p:nvPr/>
        </p:nvSpPr>
        <p:spPr>
          <a:xfrm>
            <a:off x="706583" y="856357"/>
            <a:ext cx="10557163" cy="6001643"/>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rPr>
              <a:t>Procesamiento Inteligente de Documentos </a:t>
            </a:r>
            <a:r>
              <a:rPr kumimoji="0" lang="es-PE" altLang="es-PE" sz="2400" b="0" i="0" u="none" strike="noStrike" cap="none" normalizeH="0" baseline="0" dirty="0">
                <a:ln>
                  <a:noFill/>
                </a:ln>
                <a:solidFill>
                  <a:schemeClr val="tx1"/>
                </a:solidFill>
                <a:effectLst/>
              </a:rPr>
              <a:t>:</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PE" altLang="es-PE" sz="2400" b="0" i="0" u="none" strike="noStrike" cap="none" normalizeH="0" baseline="0" dirty="0">
                <a:ln>
                  <a:noFill/>
                </a:ln>
                <a:solidFill>
                  <a:schemeClr val="tx1"/>
                </a:solidFill>
                <a:effectLst/>
              </a:rPr>
              <a:t>Combina OCR con Inteligencia Artificial para comprender documentos semiestructurados o no estructurados. </a:t>
            </a:r>
          </a:p>
          <a:p>
            <a:pPr marL="0" marR="0" lvl="0" indent="0" algn="just"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rPr>
              <a:t>Ejemplo:</a:t>
            </a:r>
            <a:r>
              <a:rPr kumimoji="0" lang="es-PE" altLang="es-PE" sz="2400" b="0" i="0" u="none" strike="noStrike" cap="none" normalizeH="0" baseline="0" dirty="0">
                <a:ln>
                  <a:noFill/>
                </a:ln>
                <a:solidFill>
                  <a:schemeClr val="tx1"/>
                </a:solidFill>
                <a:effectLst/>
              </a:rPr>
              <a:t> identificar automáticamente el número de factura, proveedor y monto en diferentes formatos de facturas. </a:t>
            </a:r>
          </a:p>
          <a:p>
            <a:pPr marL="0" marR="0" lvl="0" indent="0" algn="just" defTabSz="914400" rtl="0" eaLnBrk="0" fontAlgn="base" latinLnBrk="0" hangingPunct="0">
              <a:lnSpc>
                <a:spcPct val="100000"/>
              </a:lnSpc>
              <a:spcBef>
                <a:spcPct val="0"/>
              </a:spcBef>
              <a:spcAft>
                <a:spcPct val="0"/>
              </a:spcAft>
              <a:buClrTx/>
              <a:buSzTx/>
              <a:tabLst/>
            </a:pPr>
            <a:endParaRPr kumimoji="0" lang="es-PE" altLang="es-PE"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rPr>
              <a:t>Automatización basada en reglas</a:t>
            </a:r>
            <a:r>
              <a:rPr lang="es-PE" altLang="es-PE" sz="2400" dirty="0"/>
              <a:t>:</a:t>
            </a:r>
            <a:endParaRPr kumimoji="0" lang="es-PE" altLang="es-PE" sz="2400" b="0"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PE" altLang="es-PE" sz="2400" b="0" i="0" u="none" strike="noStrike" cap="none" normalizeH="0" baseline="0" dirty="0">
                <a:ln>
                  <a:noFill/>
                </a:ln>
                <a:solidFill>
                  <a:schemeClr val="tx1"/>
                </a:solidFill>
                <a:effectLst/>
              </a:rPr>
              <a:t>El bot ejecuta acciones siguiendo reglas de negocio previamente definidas. </a:t>
            </a:r>
          </a:p>
          <a:p>
            <a:pPr marL="0" marR="0" lvl="0" indent="0" algn="just"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rPr>
              <a:t>Ejemplo:</a:t>
            </a:r>
            <a:r>
              <a:rPr kumimoji="0" lang="es-PE" altLang="es-PE" sz="2400" b="0" i="0" u="none" strike="noStrike" cap="none" normalizeH="0" baseline="0" dirty="0">
                <a:ln>
                  <a:noFill/>
                </a:ln>
                <a:solidFill>
                  <a:schemeClr val="tx1"/>
                </a:solidFill>
                <a:effectLst/>
              </a:rPr>
              <a:t> aprobar automáticamente solicitudes menores a S/ 1,000 cuando cumplen todos los requisitos. </a:t>
            </a:r>
          </a:p>
          <a:p>
            <a:pPr marL="0" marR="0" lvl="0" indent="0" algn="just" defTabSz="914400" rtl="0" eaLnBrk="0" fontAlgn="base" latinLnBrk="0" hangingPunct="0">
              <a:lnSpc>
                <a:spcPct val="100000"/>
              </a:lnSpc>
              <a:spcBef>
                <a:spcPct val="0"/>
              </a:spcBef>
              <a:spcAft>
                <a:spcPct val="0"/>
              </a:spcAft>
              <a:buClrTx/>
              <a:buSzTx/>
              <a:tabLst/>
            </a:pPr>
            <a:endParaRPr kumimoji="0" lang="es-PE" altLang="es-PE"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rPr>
              <a:t>Integración con Inteligencia Artificial:</a:t>
            </a:r>
            <a:endParaRPr kumimoji="0" lang="es-PE" altLang="es-PE" sz="2400" b="0" i="0" u="none" strike="noStrike" cap="none" normalizeH="0" baseline="0" dirty="0">
              <a:ln>
                <a:noFill/>
              </a:ln>
              <a:solidFill>
                <a:schemeClr val="tx1"/>
              </a:solidFill>
              <a:effectLst/>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PE" altLang="es-PE" sz="2400" b="0" i="0" u="none" strike="noStrike" cap="none" normalizeH="0" baseline="0" dirty="0">
                <a:ln>
                  <a:noFill/>
                </a:ln>
                <a:solidFill>
                  <a:schemeClr val="tx1"/>
                </a:solidFill>
                <a:effectLst/>
              </a:rPr>
              <a:t>Permite que el bot realice tareas que requieren cierto nivel de interpretación o predicción. </a:t>
            </a:r>
          </a:p>
          <a:p>
            <a:pPr marL="0" marR="0" lvl="0" indent="0" algn="just" defTabSz="914400" rtl="0" eaLnBrk="0" fontAlgn="base" latinLnBrk="0" hangingPunct="0">
              <a:lnSpc>
                <a:spcPct val="100000"/>
              </a:lnSpc>
              <a:spcBef>
                <a:spcPct val="0"/>
              </a:spcBef>
              <a:spcAft>
                <a:spcPct val="0"/>
              </a:spcAft>
              <a:buClrTx/>
              <a:buSzTx/>
              <a:tabLst/>
            </a:pPr>
            <a:r>
              <a:rPr kumimoji="0" lang="es-PE" altLang="es-PE" sz="2400" b="1" i="0" u="none" strike="noStrike" cap="none" normalizeH="0" baseline="0" dirty="0">
                <a:ln>
                  <a:noFill/>
                </a:ln>
                <a:solidFill>
                  <a:schemeClr val="tx1"/>
                </a:solidFill>
                <a:effectLst/>
              </a:rPr>
              <a:t>Ejemplo:</a:t>
            </a:r>
            <a:r>
              <a:rPr kumimoji="0" lang="es-PE" altLang="es-PE" sz="2400" b="0" i="0" u="none" strike="noStrike" cap="none" normalizeH="0" baseline="0" dirty="0">
                <a:ln>
                  <a:noFill/>
                </a:ln>
                <a:solidFill>
                  <a:schemeClr val="tx1"/>
                </a:solidFill>
                <a:effectLst/>
              </a:rPr>
              <a:t> clasificar correos electrónicos según su contenido o analizar el sentimiento de comentarios de clientes.</a:t>
            </a:r>
          </a:p>
        </p:txBody>
      </p:sp>
    </p:spTree>
    <p:extLst>
      <p:ext uri="{BB962C8B-B14F-4D97-AF65-F5344CB8AC3E}">
        <p14:creationId xmlns:p14="http://schemas.microsoft.com/office/powerpoint/2010/main" val="11181190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84506-713B-DE61-D78F-3EE96248FBF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0D57C42-7181-11B3-191A-2A454BB1860B}"/>
              </a:ext>
            </a:extLst>
          </p:cNvPr>
          <p:cNvPicPr>
            <a:picLocks noChangeAspect="1"/>
          </p:cNvPicPr>
          <p:nvPr/>
        </p:nvPicPr>
        <p:blipFill>
          <a:blip r:embed="rId2"/>
          <a:stretch>
            <a:fillRect/>
          </a:stretch>
        </p:blipFill>
        <p:spPr>
          <a:xfrm>
            <a:off x="11434928" y="99641"/>
            <a:ext cx="603434" cy="606942"/>
          </a:xfrm>
          <a:prstGeom prst="rect">
            <a:avLst/>
          </a:prstGeom>
        </p:spPr>
      </p:pic>
      <p:sp>
        <p:nvSpPr>
          <p:cNvPr id="6" name="CuadroTexto 5">
            <a:extLst>
              <a:ext uri="{FF2B5EF4-FFF2-40B4-BE49-F238E27FC236}">
                <a16:creationId xmlns:a16="http://schemas.microsoft.com/office/drawing/2014/main" id="{0E13CE73-9DB7-6E85-A860-567AC49AF3FB}"/>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9" name="Rectangle 2">
            <a:extLst>
              <a:ext uri="{FF2B5EF4-FFF2-40B4-BE49-F238E27FC236}">
                <a16:creationId xmlns:a16="http://schemas.microsoft.com/office/drawing/2014/main" id="{74B69CE3-0265-BE88-DC90-FE13B1E2DFC1}"/>
              </a:ext>
            </a:extLst>
          </p:cNvPr>
          <p:cNvSpPr>
            <a:spLocks noChangeArrowheads="1"/>
          </p:cNvSpPr>
          <p:nvPr/>
        </p:nvSpPr>
        <p:spPr bwMode="auto">
          <a:xfrm>
            <a:off x="-2909538" y="1421948"/>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PE" altLang="es-PE"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25251198-087E-8D71-630C-E02FC248C191}"/>
              </a:ext>
            </a:extLst>
          </p:cNvPr>
          <p:cNvSpPr>
            <a:spLocks noChangeArrowheads="1"/>
          </p:cNvSpPr>
          <p:nvPr/>
        </p:nvSpPr>
        <p:spPr bwMode="auto">
          <a:xfrm>
            <a:off x="0" y="-261610"/>
            <a:ext cx="216726" cy="5232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PE" altLang="es-PE" sz="1000" b="0" i="0" u="none" strike="noStrike" cap="none" normalizeH="0" baseline="0" dirty="0">
                <a:ln>
                  <a:noFill/>
                </a:ln>
                <a:solidFill>
                  <a:srgbClr val="303030"/>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PE" altLang="es-PE" sz="1800" b="0" i="0" u="none" strike="noStrike" cap="none" normalizeH="0" baseline="0" dirty="0">
              <a:ln>
                <a:noFill/>
              </a:ln>
              <a:solidFill>
                <a:schemeClr val="tx1"/>
              </a:solidFill>
              <a:effectLst/>
              <a:latin typeface="Arial" panose="020B0604020202020204" pitchFamily="34" charset="0"/>
            </a:endParaRPr>
          </a:p>
        </p:txBody>
      </p:sp>
      <p:sp>
        <p:nvSpPr>
          <p:cNvPr id="8" name="Title 1">
            <a:extLst>
              <a:ext uri="{FF2B5EF4-FFF2-40B4-BE49-F238E27FC236}">
                <a16:creationId xmlns:a16="http://schemas.microsoft.com/office/drawing/2014/main" id="{A00BC689-4149-9142-1F3A-D64B7F237DC5}"/>
              </a:ext>
            </a:extLst>
          </p:cNvPr>
          <p:cNvSpPr txBox="1">
            <a:spLocks/>
          </p:cNvSpPr>
          <p:nvPr/>
        </p:nvSpPr>
        <p:spPr>
          <a:xfrm>
            <a:off x="-344557" y="99641"/>
            <a:ext cx="12192000" cy="790048"/>
          </a:xfrm>
          <a:prstGeom prst="rect">
            <a:avLst/>
          </a:prstGeom>
        </p:spPr>
        <p:txBody>
          <a:bodyPr vert="horz" lIns="91440" tIns="45720" rIns="91440" bIns="45720" rtlCol="0" anchor="ctr">
            <a:normAutofit fontScale="62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ES" dirty="0"/>
              <a:t>Caso de Uso 1: App de Gestión Documental de </a:t>
            </a:r>
          </a:p>
          <a:p>
            <a:r>
              <a:rPr lang="es-ES" dirty="0"/>
              <a:t>Contratos y Facturas</a:t>
            </a:r>
          </a:p>
        </p:txBody>
      </p:sp>
      <p:sp>
        <p:nvSpPr>
          <p:cNvPr id="2" name="Rectangle 1">
            <a:extLst>
              <a:ext uri="{FF2B5EF4-FFF2-40B4-BE49-F238E27FC236}">
                <a16:creationId xmlns:a16="http://schemas.microsoft.com/office/drawing/2014/main" id="{B9BFD9FE-869C-C848-EA16-A598AF2F9DBB}"/>
              </a:ext>
            </a:extLst>
          </p:cNvPr>
          <p:cNvSpPr>
            <a:spLocks noChangeArrowheads="1"/>
          </p:cNvSpPr>
          <p:nvPr/>
        </p:nvSpPr>
        <p:spPr bwMode="auto">
          <a:xfrm>
            <a:off x="533574" y="863632"/>
            <a:ext cx="10291359" cy="6247864"/>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sz="1600" dirty="0"/>
              <a:t>Una empresa recibe contratos y facturas mediante correo electrónico. Actualmente, el personal descarga los adjuntos, los guarda manualmente en SharePoint, convierte documentos Word a PDF y registra los datos principales en una lista.</a:t>
            </a:r>
          </a:p>
          <a:p>
            <a:r>
              <a:rPr lang="es-ES" sz="1600" dirty="0"/>
              <a:t>Se requiere implementar una solución integrada con </a:t>
            </a:r>
            <a:r>
              <a:rPr lang="es-ES" sz="1600" b="1" dirty="0"/>
              <a:t>Power Apps y Power Automate</a:t>
            </a:r>
            <a:r>
              <a:rPr lang="es-ES" sz="1600" dirty="0"/>
              <a:t>.</a:t>
            </a:r>
          </a:p>
          <a:p>
            <a:r>
              <a:rPr lang="es-ES" sz="1600" b="1" dirty="0"/>
              <a:t>Power Apps</a:t>
            </a:r>
            <a:r>
              <a:rPr lang="es-ES" sz="1600" dirty="0"/>
              <a:t> permitirá al usuario registrar o consultar documentos recibidos, visualizar su estado y acceder al enlace del archivo almacenado.</a:t>
            </a:r>
          </a:p>
          <a:p>
            <a:r>
              <a:rPr lang="es-ES" sz="1600" b="1" dirty="0"/>
              <a:t>Power Automate</a:t>
            </a:r>
            <a:r>
              <a:rPr lang="es-ES" sz="1600" dirty="0"/>
              <a:t> se activará cuando llegue un correo con adjunto en la carpeta “Contratos”, guardará el archivo en SharePoint, convertirá el documento Word a PDF, registrará los datos en una lista SharePoint y actualizará el estado del documento.</a:t>
            </a:r>
          </a:p>
          <a:p>
            <a:endParaRPr lang="es-ES" sz="1600" dirty="0"/>
          </a:p>
          <a:p>
            <a:r>
              <a:rPr lang="es-ES" sz="1600" b="1" dirty="0"/>
              <a:t>Componentes a modelar:</a:t>
            </a:r>
          </a:p>
          <a:p>
            <a:endParaRPr lang="es-ES" sz="1600" b="1" dirty="0"/>
          </a:p>
          <a:p>
            <a:pPr marL="342900" indent="-342900">
              <a:buFont typeface="Arial" panose="020B0604020202020204" pitchFamily="34" charset="0"/>
              <a:buChar char="•"/>
            </a:pPr>
            <a:r>
              <a:rPr lang="es-ES" sz="1600" dirty="0"/>
              <a:t>Power Apps: formulario de consulta y seguimiento. </a:t>
            </a:r>
          </a:p>
          <a:p>
            <a:pPr marL="342900" indent="-342900">
              <a:buFont typeface="Arial" panose="020B0604020202020204" pitchFamily="34" charset="0"/>
              <a:buChar char="•"/>
            </a:pPr>
            <a:r>
              <a:rPr lang="es-ES" sz="1600" dirty="0"/>
              <a:t>Outlook: recepción del correo. </a:t>
            </a:r>
          </a:p>
          <a:p>
            <a:pPr marL="342900" indent="-342900">
              <a:buFont typeface="Arial" panose="020B0604020202020204" pitchFamily="34" charset="0"/>
              <a:buChar char="•"/>
            </a:pPr>
            <a:r>
              <a:rPr lang="es-ES" sz="1600" dirty="0"/>
              <a:t>Power Automate: flujo automatizado. </a:t>
            </a:r>
          </a:p>
          <a:p>
            <a:pPr marL="342900" indent="-342900">
              <a:buFont typeface="Arial" panose="020B0604020202020204" pitchFamily="34" charset="0"/>
              <a:buChar char="•"/>
            </a:pPr>
            <a:r>
              <a:rPr lang="es-ES" sz="1600" dirty="0"/>
              <a:t>SharePoint: biblioteca documental. </a:t>
            </a:r>
          </a:p>
          <a:p>
            <a:pPr marL="342900" indent="-342900">
              <a:buFont typeface="Arial" panose="020B0604020202020204" pitchFamily="34" charset="0"/>
              <a:buChar char="•"/>
            </a:pPr>
            <a:r>
              <a:rPr lang="es-ES" sz="1600" dirty="0"/>
              <a:t>Word Online: conversión Word a PDF. </a:t>
            </a:r>
          </a:p>
          <a:p>
            <a:pPr marL="342900" indent="-342900">
              <a:buFont typeface="Arial" panose="020B0604020202020204" pitchFamily="34" charset="0"/>
              <a:buChar char="•"/>
            </a:pPr>
            <a:r>
              <a:rPr lang="es-ES" sz="1600" dirty="0"/>
              <a:t>SharePoint List: registro de datos. </a:t>
            </a:r>
          </a:p>
          <a:p>
            <a:pPr marL="342900" indent="-342900">
              <a:buFont typeface="Arial" panose="020B0604020202020204" pitchFamily="34" charset="0"/>
              <a:buChar char="•"/>
            </a:pPr>
            <a:r>
              <a:rPr lang="es-ES" sz="1600" dirty="0"/>
              <a:t>Power BI: tablero opcional de seguimiento documental.</a:t>
            </a:r>
          </a:p>
          <a:p>
            <a:pPr marL="342900" indent="-342900">
              <a:buFont typeface="Arial" panose="020B0604020202020204" pitchFamily="34" charset="0"/>
              <a:buChar char="•"/>
            </a:pPr>
            <a:endParaRPr lang="es-ES" sz="1600" dirty="0"/>
          </a:p>
          <a:p>
            <a:r>
              <a:rPr lang="es-ES" sz="1600" b="1" dirty="0"/>
              <a:t>Resultado esperado:</a:t>
            </a:r>
            <a:br>
              <a:rPr lang="es-ES" sz="1600" dirty="0"/>
            </a:br>
            <a:r>
              <a:rPr lang="es-ES" sz="1600" dirty="0"/>
              <a:t>El usuario podrá ingresar a Power Apps y consultar los contratos o facturas procesados automáticamente, con su archivo Word, PDF y estado de registro.</a:t>
            </a:r>
          </a:p>
          <a:p>
            <a:pPr marL="0" marR="0" lvl="0" indent="0" algn="l" defTabSz="914400" rtl="0" eaLnBrk="0" fontAlgn="base" latinLnBrk="0" hangingPunct="0">
              <a:lnSpc>
                <a:spcPct val="100000"/>
              </a:lnSpc>
              <a:spcBef>
                <a:spcPct val="0"/>
              </a:spcBef>
              <a:spcAft>
                <a:spcPct val="0"/>
              </a:spcAft>
              <a:buClrTx/>
              <a:buSzTx/>
              <a:buFontTx/>
              <a:buNone/>
              <a:tabLst/>
            </a:pPr>
            <a:br>
              <a:rPr kumimoji="0" lang="es-PE" altLang="es-PE" sz="1600" b="0" i="0" u="none" strike="noStrike" cap="none" normalizeH="0" baseline="0" dirty="0">
                <a:ln>
                  <a:noFill/>
                </a:ln>
                <a:effectLst/>
                <a:latin typeface="Aptos" panose="020B0004020202020204" pitchFamily="34" charset="0"/>
              </a:rPr>
            </a:br>
            <a:endParaRPr kumimoji="0" lang="es-PE" altLang="es-PE" sz="1600" b="0" i="0" u="none" strike="noStrike" cap="none" normalizeH="0" baseline="0" dirty="0">
              <a:ln>
                <a:noFill/>
              </a:ln>
              <a:effectLst/>
              <a:latin typeface="Aptos" panose="020B0004020202020204" pitchFamily="34" charset="0"/>
            </a:endParaRPr>
          </a:p>
        </p:txBody>
      </p:sp>
    </p:spTree>
    <p:extLst>
      <p:ext uri="{BB962C8B-B14F-4D97-AF65-F5344CB8AC3E}">
        <p14:creationId xmlns:p14="http://schemas.microsoft.com/office/powerpoint/2010/main" val="1050186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CA56E-481E-F6F9-830D-9AC224B0FD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C236AD-E5F9-7E43-2D09-B2676B6E9297}"/>
              </a:ext>
            </a:extLst>
          </p:cNvPr>
          <p:cNvSpPr>
            <a:spLocks noGrp="1"/>
          </p:cNvSpPr>
          <p:nvPr>
            <p:ph type="title"/>
          </p:nvPr>
        </p:nvSpPr>
        <p:spPr/>
        <p:txBody>
          <a:bodyPr/>
          <a:lstStyle/>
          <a:p>
            <a:r>
              <a:rPr lang="es-ES" dirty="0"/>
              <a:t>Conclusiones</a:t>
            </a:r>
            <a:endParaRPr dirty="0"/>
          </a:p>
        </p:txBody>
      </p:sp>
      <p:pic>
        <p:nvPicPr>
          <p:cNvPr id="3" name="Imagen 2">
            <a:extLst>
              <a:ext uri="{FF2B5EF4-FFF2-40B4-BE49-F238E27FC236}">
                <a16:creationId xmlns:a16="http://schemas.microsoft.com/office/drawing/2014/main" id="{8F7E447F-3741-C9F4-73CE-7233C16C11EA}"/>
              </a:ext>
            </a:extLst>
          </p:cNvPr>
          <p:cNvPicPr>
            <a:picLocks noChangeAspect="1"/>
          </p:cNvPicPr>
          <p:nvPr/>
        </p:nvPicPr>
        <p:blipFill>
          <a:blip r:embed="rId2"/>
          <a:stretch>
            <a:fillRect/>
          </a:stretch>
        </p:blipFill>
        <p:spPr>
          <a:xfrm>
            <a:off x="11434928" y="99641"/>
            <a:ext cx="603434" cy="606942"/>
          </a:xfrm>
          <a:prstGeom prst="rect">
            <a:avLst/>
          </a:prstGeom>
        </p:spPr>
      </p:pic>
      <p:sp>
        <p:nvSpPr>
          <p:cNvPr id="4" name="CuadroTexto 3">
            <a:extLst>
              <a:ext uri="{FF2B5EF4-FFF2-40B4-BE49-F238E27FC236}">
                <a16:creationId xmlns:a16="http://schemas.microsoft.com/office/drawing/2014/main" id="{24BDA86E-3D23-61D6-77A1-7C2AE7E3A232}"/>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Tree>
    <p:extLst>
      <p:ext uri="{BB962C8B-B14F-4D97-AF65-F5344CB8AC3E}">
        <p14:creationId xmlns:p14="http://schemas.microsoft.com/office/powerpoint/2010/main" val="4059770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CA56E-481E-F6F9-830D-9AC224B0FD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C236AD-E5F9-7E43-2D09-B2676B6E9297}"/>
              </a:ext>
            </a:extLst>
          </p:cNvPr>
          <p:cNvSpPr>
            <a:spLocks noGrp="1"/>
          </p:cNvSpPr>
          <p:nvPr>
            <p:ph type="title"/>
          </p:nvPr>
        </p:nvSpPr>
        <p:spPr/>
        <p:txBody>
          <a:bodyPr/>
          <a:lstStyle/>
          <a:p>
            <a:r>
              <a:rPr lang="es-ES" dirty="0"/>
              <a:t>Referencias</a:t>
            </a:r>
            <a:endParaRPr dirty="0"/>
          </a:p>
        </p:txBody>
      </p:sp>
      <p:pic>
        <p:nvPicPr>
          <p:cNvPr id="3" name="Imagen 2">
            <a:extLst>
              <a:ext uri="{FF2B5EF4-FFF2-40B4-BE49-F238E27FC236}">
                <a16:creationId xmlns:a16="http://schemas.microsoft.com/office/drawing/2014/main" id="{8F7E447F-3741-C9F4-73CE-7233C16C11EA}"/>
              </a:ext>
            </a:extLst>
          </p:cNvPr>
          <p:cNvPicPr>
            <a:picLocks noChangeAspect="1"/>
          </p:cNvPicPr>
          <p:nvPr/>
        </p:nvPicPr>
        <p:blipFill>
          <a:blip r:embed="rId2"/>
          <a:stretch>
            <a:fillRect/>
          </a:stretch>
        </p:blipFill>
        <p:spPr>
          <a:xfrm>
            <a:off x="11434928" y="99641"/>
            <a:ext cx="603434" cy="606942"/>
          </a:xfrm>
          <a:prstGeom prst="rect">
            <a:avLst/>
          </a:prstGeom>
        </p:spPr>
      </p:pic>
      <p:sp>
        <p:nvSpPr>
          <p:cNvPr id="4" name="CuadroTexto 3">
            <a:extLst>
              <a:ext uri="{FF2B5EF4-FFF2-40B4-BE49-F238E27FC236}">
                <a16:creationId xmlns:a16="http://schemas.microsoft.com/office/drawing/2014/main" id="{24BDA86E-3D23-61D6-77A1-7C2AE7E3A232}"/>
              </a:ext>
            </a:extLst>
          </p:cNvPr>
          <p:cNvSpPr txBox="1"/>
          <p:nvPr/>
        </p:nvSpPr>
        <p:spPr>
          <a:xfrm>
            <a:off x="11385427" y="669302"/>
            <a:ext cx="702436" cy="276999"/>
          </a:xfrm>
          <a:prstGeom prst="rect">
            <a:avLst/>
          </a:prstGeom>
          <a:noFill/>
        </p:spPr>
        <p:txBody>
          <a:bodyPr wrap="none" rtlCol="0">
            <a:spAutoFit/>
          </a:bodyPr>
          <a:lstStyle/>
          <a:p>
            <a:r>
              <a:rPr lang="es-ES" sz="1200" b="1" dirty="0">
                <a:solidFill>
                  <a:srgbClr val="C00000"/>
                </a:solidFill>
              </a:rPr>
              <a:t>2026-10</a:t>
            </a:r>
            <a:endParaRPr lang="es-PE" sz="1200" b="1" dirty="0">
              <a:solidFill>
                <a:srgbClr val="C00000"/>
              </a:solidFill>
            </a:endParaRPr>
          </a:p>
        </p:txBody>
      </p:sp>
      <p:sp>
        <p:nvSpPr>
          <p:cNvPr id="6" name="CuadroTexto 5">
            <a:extLst>
              <a:ext uri="{FF2B5EF4-FFF2-40B4-BE49-F238E27FC236}">
                <a16:creationId xmlns:a16="http://schemas.microsoft.com/office/drawing/2014/main" id="{86284E7B-2E1F-BB41-B187-1C40515171F2}"/>
              </a:ext>
            </a:extLst>
          </p:cNvPr>
          <p:cNvSpPr txBox="1"/>
          <p:nvPr/>
        </p:nvSpPr>
        <p:spPr>
          <a:xfrm>
            <a:off x="1025235" y="1592635"/>
            <a:ext cx="9656619" cy="2308324"/>
          </a:xfrm>
          <a:prstGeom prst="rect">
            <a:avLst/>
          </a:prstGeom>
          <a:noFill/>
        </p:spPr>
        <p:txBody>
          <a:bodyPr wrap="square">
            <a:spAutoFit/>
          </a:bodyPr>
          <a:lstStyle/>
          <a:p>
            <a:r>
              <a:rPr lang="en-US" sz="1800" dirty="0">
                <a:effectLst/>
                <a:latin typeface="Calibri" panose="020F0502020204030204" pitchFamily="34" charset="0"/>
                <a:ea typeface="Helvetica" panose="020B0604020202020204" pitchFamily="34" charset="0"/>
              </a:rPr>
              <a:t>Tripathi, Alok Mani. Learning Robotic Process Automation : Create Software Robots and Automate Business Processes with the Leading RPA Tool - Uipath, Packt Publishing, Limited, 2018. ProQuest Ebook Central, </a:t>
            </a:r>
            <a:r>
              <a:rPr lang="en-US" sz="1800" u="sng" dirty="0">
                <a:solidFill>
                  <a:srgbClr val="0000FF"/>
                </a:solidFill>
                <a:effectLst/>
                <a:latin typeface="Calibri" panose="020F0502020204030204" pitchFamily="34" charset="0"/>
                <a:ea typeface="Helvetica" panose="020B0604020202020204" pitchFamily="34" charset="0"/>
                <a:hlinkClick r:id="rId3"/>
              </a:rPr>
              <a:t>https://ebookcentral.upc.elogim.com/lib/upc-ebooks/detail.action?docID=5332142</a:t>
            </a:r>
            <a:endParaRPr lang="en-US" sz="1800" u="sng" dirty="0">
              <a:solidFill>
                <a:srgbClr val="0000FF"/>
              </a:solidFill>
              <a:effectLst/>
              <a:latin typeface="Calibri" panose="020F0502020204030204" pitchFamily="34" charset="0"/>
              <a:ea typeface="Helvetica" panose="020B0604020202020204" pitchFamily="34" charset="0"/>
            </a:endParaRPr>
          </a:p>
          <a:p>
            <a:endParaRPr lang="en-US" u="sng" dirty="0">
              <a:solidFill>
                <a:srgbClr val="0000FF"/>
              </a:solidFill>
              <a:latin typeface="Calibri" panose="020F0502020204030204" pitchFamily="34" charset="0"/>
            </a:endParaRPr>
          </a:p>
          <a:p>
            <a:r>
              <a:rPr lang="es-ES" sz="1800" dirty="0">
                <a:effectLst/>
                <a:latin typeface="Calibri" panose="020F0502020204030204" pitchFamily="34" charset="0"/>
                <a:ea typeface="Calibri" panose="020F0502020204030204" pitchFamily="34" charset="0"/>
              </a:rPr>
              <a:t>Carlos Arturo Bermúdez Irreño. (2021). RPA - AUTOMATIZACIÓN ROBÓTICA DE PROCESOS: UNA REVISIÓN DE LA LITERATURA. </a:t>
            </a:r>
            <a:r>
              <a:rPr lang="es-ES" sz="1800" i="1" dirty="0">
                <a:effectLst/>
                <a:latin typeface="Calibri" panose="020F0502020204030204" pitchFamily="34" charset="0"/>
                <a:ea typeface="Calibri" panose="020F0502020204030204" pitchFamily="34" charset="0"/>
              </a:rPr>
              <a:t>Revista Ingeniería, Matemáticas y Ciencias de La Información</a:t>
            </a:r>
            <a:r>
              <a:rPr lang="es-ES" sz="1800" dirty="0">
                <a:effectLst/>
                <a:latin typeface="Calibri" panose="020F0502020204030204" pitchFamily="34" charset="0"/>
                <a:ea typeface="Calibri" panose="020F0502020204030204" pitchFamily="34" charset="0"/>
              </a:rPr>
              <a:t>, </a:t>
            </a:r>
            <a:r>
              <a:rPr lang="es-ES" sz="1800" i="1" dirty="0">
                <a:effectLst/>
                <a:latin typeface="Calibri" panose="020F0502020204030204" pitchFamily="34" charset="0"/>
                <a:ea typeface="Calibri" panose="020F0502020204030204" pitchFamily="34" charset="0"/>
              </a:rPr>
              <a:t>8</a:t>
            </a:r>
            <a:r>
              <a:rPr lang="es-ES" sz="1800" dirty="0">
                <a:effectLst/>
                <a:latin typeface="Calibri" panose="020F0502020204030204" pitchFamily="34" charset="0"/>
                <a:ea typeface="Calibri" panose="020F0502020204030204" pitchFamily="34" charset="0"/>
              </a:rPr>
              <a:t>(15), 111–122. </a:t>
            </a:r>
            <a:r>
              <a:rPr lang="es-ES" sz="1800" u="none" strike="noStrike" dirty="0">
                <a:solidFill>
                  <a:srgbClr val="0000FF"/>
                </a:solidFill>
                <a:effectLst/>
                <a:latin typeface="Calibri" panose="020F0502020204030204" pitchFamily="34" charset="0"/>
                <a:ea typeface="Calibri" panose="020F0502020204030204" pitchFamily="34" charset="0"/>
                <a:hlinkClick r:id="rId4"/>
              </a:rPr>
              <a:t>https://doi.org/10.21017/rimci.2021.v8.n15.a97</a:t>
            </a:r>
            <a:endParaRPr lang="es-PE" sz="1800" dirty="0">
              <a:effectLst/>
              <a:latin typeface="Calibri" panose="020F0502020204030204" pitchFamily="34" charset="0"/>
              <a:ea typeface="Calibri" panose="020F0502020204030204" pitchFamily="34" charset="0"/>
            </a:endParaRPr>
          </a:p>
          <a:p>
            <a:endParaRPr lang="es-PE" dirty="0"/>
          </a:p>
        </p:txBody>
      </p:sp>
    </p:spTree>
    <p:extLst>
      <p:ext uri="{BB962C8B-B14F-4D97-AF65-F5344CB8AC3E}">
        <p14:creationId xmlns:p14="http://schemas.microsoft.com/office/powerpoint/2010/main" val="2578674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1703</TotalTime>
  <Words>2577</Words>
  <Application>Microsoft Office PowerPoint</Application>
  <PresentationFormat>Widescreen</PresentationFormat>
  <Paragraphs>378</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Semana 14 - Sesión 1:  Robotización de procesos con RPA</vt:lpstr>
      <vt:lpstr>Agenda</vt:lpstr>
      <vt:lpstr>Logros</vt:lpstr>
      <vt:lpstr>Modelo operativo RPA</vt:lpstr>
      <vt:lpstr>RPA Atendida</vt:lpstr>
      <vt:lpstr>Ejemplo Rpa atendida</vt:lpstr>
      <vt:lpstr>Ejemplo Rpa atendida</vt:lpstr>
      <vt:lpstr>Ejemplo Rpa atendida</vt:lpstr>
      <vt:lpstr>Ejemplo Rpa atendida</vt:lpstr>
      <vt:lpstr>RPA No Atendida</vt:lpstr>
      <vt:lpstr>RPA No Atendida</vt:lpstr>
      <vt:lpstr>RPA No Atendida</vt:lpstr>
      <vt:lpstr>RPA No Atendida</vt:lpstr>
      <vt:lpstr>RPA No Atendida</vt:lpstr>
      <vt:lpstr>RPA Híbrida</vt:lpstr>
      <vt:lpstr>RPA Híbrida</vt:lpstr>
      <vt:lpstr>RPA Híbrida</vt:lpstr>
      <vt:lpstr>RPA Híbrida</vt:lpstr>
      <vt:lpstr>RPA Híbrida</vt:lpstr>
      <vt:lpstr>RPA Híbrida</vt:lpstr>
      <vt:lpstr>RPA Híbrida</vt:lpstr>
      <vt:lpstr>Comparación de RPA</vt:lpstr>
      <vt:lpstr>Técnicas rpa</vt:lpstr>
      <vt:lpstr>Técnicas rpa</vt:lpstr>
      <vt:lpstr>Técnicas rpa</vt:lpstr>
      <vt:lpstr>PowerPoint Presentation</vt:lpstr>
      <vt:lpstr>Conclusiones</vt:lpstr>
      <vt:lpstr>Referencias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1 - Sesión 1:  Fundamentos de Arquitectura Empresarial</dc:title>
  <dc:subject/>
  <dc:creator>USER</dc:creator>
  <cp:keywords/>
  <dc:description>generated using python-pptx</dc:description>
  <cp:lastModifiedBy>PCAPJLUN (LUNA SAAVEDRA, JESUS JAFET)</cp:lastModifiedBy>
  <cp:revision>215</cp:revision>
  <dcterms:created xsi:type="dcterms:W3CDTF">2013-01-27T09:14:16Z</dcterms:created>
  <dcterms:modified xsi:type="dcterms:W3CDTF">2026-06-29T12:10:31Z</dcterms:modified>
  <cp:category/>
</cp:coreProperties>
</file>