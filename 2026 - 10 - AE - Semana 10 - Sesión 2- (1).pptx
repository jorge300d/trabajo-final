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86" r:id="rId3"/>
    <p:sldId id="287" r:id="rId4"/>
    <p:sldId id="282" r:id="rId5"/>
    <p:sldId id="277" r:id="rId6"/>
    <p:sldId id="276" r:id="rId7"/>
    <p:sldId id="865" r:id="rId8"/>
    <p:sldId id="866" r:id="rId9"/>
    <p:sldId id="8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66" autoAdjust="0"/>
    <p:restoredTop sz="93969" autoAdjust="0"/>
  </p:normalViewPr>
  <p:slideViewPr>
    <p:cSldViewPr snapToGrid="0" snapToObjects="1">
      <p:cViewPr varScale="1">
        <p:scale>
          <a:sx n="71" d="100"/>
          <a:sy n="71" d="100"/>
        </p:scale>
        <p:origin x="1020" y="13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-27110"/>
    </p:cViewPr>
  </p:sorterViewPr>
  <p:notesViewPr>
    <p:cSldViewPr snapToGrid="0" snapToObjects="1" showGuides="1">
      <p:cViewPr>
        <p:scale>
          <a:sx n="200" d="100"/>
          <a:sy n="200" d="100"/>
        </p:scale>
        <p:origin x="163" y="-40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7F003BA-13B3-8301-2535-FF62C8E2C8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9A0A13-6527-06EE-2CA5-4B3A7E26E2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A8334B-9A39-4DCF-829B-E37B75A201A5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C8386A-F93B-37CA-AA66-4D8B302A21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980DEB-CDB7-419A-E66C-EDE55AEA18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0AA71C-1270-43DA-AC2E-A01B11389541}" type="slidenum">
              <a:rPr lang="es-PE" smtClean="0"/>
              <a:t>‹#›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97545326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361DBC-C003-A040-803A-0A2A2487F6BB}" type="datetimeFigureOut">
              <a:rPr lang="es-PE" smtClean="0"/>
              <a:t>7/06/2026</a:t>
            </a:fld>
            <a:endParaRPr lang="es-PE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C44E15-CFAE-F84D-80A8-E94B21C806A8}" type="slidenum">
              <a:rPr lang="es-PE" smtClean="0"/>
              <a:t>‹#›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483383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847852"/>
            <a:ext cx="12192000" cy="1752600"/>
          </a:xfrm>
        </p:spPr>
        <p:txBody>
          <a:bodyPr>
            <a:normAutofit/>
          </a:bodyPr>
          <a:lstStyle/>
          <a:p>
            <a:r>
              <a:rPr lang="es-PE" noProof="0" dirty="0"/>
              <a:t>Semana 10 - Sesión 02: </a:t>
            </a:r>
            <a:br>
              <a:rPr lang="es-PE" noProof="0" dirty="0"/>
            </a:br>
            <a:r>
              <a:rPr lang="es-PE" noProof="0" dirty="0"/>
              <a:t>Automatización Robotica de Procesos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noProof="0" dirty="0"/>
              <a:t>Curso: Arquitectura Empresarial</a:t>
            </a:r>
          </a:p>
          <a:p>
            <a:r>
              <a:rPr lang="es-PE" dirty="0"/>
              <a:t>Programa: Ingeniería de Sistemas de Información</a:t>
            </a:r>
            <a:endParaRPr lang="es-PE" noProof="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8DD8B53-BB02-BB44-2662-2617F276E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4928" y="99641"/>
            <a:ext cx="603434" cy="60694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F7D5F28-A033-2D8B-4FA1-EA17949EE036}"/>
              </a:ext>
            </a:extLst>
          </p:cNvPr>
          <p:cNvSpPr txBox="1"/>
          <p:nvPr/>
        </p:nvSpPr>
        <p:spPr>
          <a:xfrm>
            <a:off x="11385427" y="669302"/>
            <a:ext cx="7024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>
                <a:solidFill>
                  <a:srgbClr val="C00000"/>
                </a:solidFill>
              </a:rPr>
              <a:t>2026-10</a:t>
            </a:r>
            <a:endParaRPr lang="es-PE" sz="12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A3994-5864-9E92-AE38-35BAF92A1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A0EFF-652E-2127-62B7-17D3CC862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Agenda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95D9A-6D07-9D19-6897-4EB5138D3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12302"/>
            <a:ext cx="10972800" cy="452596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MX" sz="2400" dirty="0">
                <a:latin typeface="Aptos" panose="020B0004020202020204" pitchFamily="34" charset="0"/>
              </a:rPr>
              <a:t>Microsoft Power Automate</a:t>
            </a:r>
          </a:p>
          <a:p>
            <a:pPr marL="457200" indent="-457200">
              <a:buFont typeface="+mj-lt"/>
              <a:buAutoNum type="arabicPeriod"/>
            </a:pPr>
            <a:r>
              <a:rPr lang="es-MX" sz="2400" dirty="0">
                <a:latin typeface="Aptos" panose="020B0004020202020204" pitchFamily="34" charset="0"/>
              </a:rPr>
              <a:t>Caso: Gestión Documental con Power Automate</a:t>
            </a:r>
            <a:endParaRPr lang="es-ES" sz="2400" dirty="0"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39F051E-C08B-7174-9F3F-077FAAC60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4928" y="99641"/>
            <a:ext cx="603434" cy="60694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2CB002B-18F4-DA84-D9B8-572F429820C1}"/>
              </a:ext>
            </a:extLst>
          </p:cNvPr>
          <p:cNvSpPr txBox="1"/>
          <p:nvPr/>
        </p:nvSpPr>
        <p:spPr>
          <a:xfrm>
            <a:off x="11385427" y="669302"/>
            <a:ext cx="7024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>
                <a:solidFill>
                  <a:srgbClr val="C00000"/>
                </a:solidFill>
              </a:rPr>
              <a:t>2026-10</a:t>
            </a:r>
            <a:endParaRPr lang="es-PE" sz="1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1510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61EC0-8262-8477-A042-15FC6570F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32FCC-9C04-8051-2B0C-F044007C8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Logros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94D74-409A-31F7-A8ED-E93568E5F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sz="2600" dirty="0">
                <a:latin typeface="+mj-lt"/>
              </a:rPr>
              <a:t>Al finalizar la sesión, el alumno será capaz de:</a:t>
            </a:r>
          </a:p>
          <a:p>
            <a:pPr marL="0" indent="0">
              <a:buNone/>
            </a:pPr>
            <a:endParaRPr lang="es-ES" sz="2600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Describir los conceptos fundamentales de Microsoft Power Automate.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Aplicar Microsoft Power Automate en la resolución de un caso práctico.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PE" altLang="es-P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PE" altLang="es-PE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s-MX" sz="2400" dirty="0">
              <a:latin typeface="Aptos" panose="020B0004020202020204" pitchFamily="34" charset="0"/>
            </a:endParaRPr>
          </a:p>
          <a:p>
            <a:endParaRPr sz="2400" dirty="0">
              <a:latin typeface="Aptos" panose="020B00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2204C67-55EC-D15A-D74E-67D1C6323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4928" y="99641"/>
            <a:ext cx="603434" cy="606942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28D68DA-577A-CF40-23F7-A296862AF05F}"/>
              </a:ext>
            </a:extLst>
          </p:cNvPr>
          <p:cNvSpPr txBox="1"/>
          <p:nvPr/>
        </p:nvSpPr>
        <p:spPr>
          <a:xfrm>
            <a:off x="11385427" y="669302"/>
            <a:ext cx="7024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>
                <a:solidFill>
                  <a:srgbClr val="C00000"/>
                </a:solidFill>
              </a:rPr>
              <a:t>2026-10</a:t>
            </a:r>
            <a:endParaRPr lang="es-PE" sz="1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5179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610B51-9060-9FED-4490-5AF59FF31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PE" sz="3600" dirty="0">
                <a:latin typeface="Poppins" panose="00000500000000000000" pitchFamily="2" charset="0"/>
                <a:cs typeface="Poppins" panose="00000500000000000000" pitchFamily="2" charset="0"/>
              </a:rPr>
              <a:t>¿Qué es un </a:t>
            </a:r>
            <a:r>
              <a:rPr lang="es-PE" sz="3600" b="1" dirty="0">
                <a:solidFill>
                  <a:srgbClr val="FF000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flujo</a:t>
            </a:r>
            <a:r>
              <a:rPr lang="es-PE" sz="3600" dirty="0">
                <a:latin typeface="Poppins" panose="00000500000000000000" pitchFamily="2" charset="0"/>
                <a:cs typeface="Poppins" panose="00000500000000000000" pitchFamily="2" charset="0"/>
              </a:rPr>
              <a:t> de Power Automate?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F37B8C-3362-BEFE-FAD8-BCC348324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81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dirty="0">
                <a:latin typeface="Poppins" panose="00000500000000000000" pitchFamily="2" charset="0"/>
                <a:cs typeface="Poppins" panose="00000500000000000000" pitchFamily="2" charset="0"/>
              </a:rPr>
              <a:t>Un flujo es una </a:t>
            </a:r>
            <a:r>
              <a:rPr lang="es-MX" sz="2400" b="1" dirty="0">
                <a:latin typeface="Poppins" panose="00000500000000000000" pitchFamily="2" charset="0"/>
                <a:cs typeface="Poppins" panose="00000500000000000000" pitchFamily="2" charset="0"/>
              </a:rPr>
              <a:t>secuencia lógica </a:t>
            </a:r>
            <a:r>
              <a:rPr lang="es-MX" sz="2400" dirty="0">
                <a:latin typeface="Poppins" panose="00000500000000000000" pitchFamily="2" charset="0"/>
                <a:cs typeface="Poppins" panose="00000500000000000000" pitchFamily="2" charset="0"/>
              </a:rPr>
              <a:t>definida por un Desencadenador (Trigger) y una o más Acciones que permite </a:t>
            </a:r>
            <a:r>
              <a:rPr lang="es-MX" sz="2400" b="1" dirty="0">
                <a:latin typeface="Poppins" panose="00000500000000000000" pitchFamily="2" charset="0"/>
                <a:cs typeface="Poppins" panose="00000500000000000000" pitchFamily="2" charset="0"/>
              </a:rPr>
              <a:t>automatizar flujos de trabajo</a:t>
            </a:r>
            <a:r>
              <a:rPr lang="es-MX" sz="2400" dirty="0">
                <a:latin typeface="Poppins" panose="00000500000000000000" pitchFamily="2" charset="0"/>
                <a:cs typeface="Poppins" panose="00000500000000000000" pitchFamily="2" charset="0"/>
              </a:rPr>
              <a:t> entre aplicaciones y servicios para sincronizar archivos, obtener notificaciones y recopilar datos.</a:t>
            </a:r>
            <a:endParaRPr lang="es-PE" sz="2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F4D1CBAB-D498-AD1E-8340-8EAE431E57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41263" y="0"/>
            <a:ext cx="1050737" cy="1050737"/>
          </a:xfrm>
          <a:prstGeom prst="rect">
            <a:avLst/>
          </a:prstGeom>
        </p:spPr>
      </p:pic>
      <p:pic>
        <p:nvPicPr>
          <p:cNvPr id="1026" name="Picture 2" descr="Microsoft Power Automate - Eenvoudig processen automatiseren - Delta-N">
            <a:extLst>
              <a:ext uri="{FF2B5EF4-FFF2-40B4-BE49-F238E27FC236}">
                <a16:creationId xmlns:a16="http://schemas.microsoft.com/office/drawing/2014/main" id="{FD806303-2C5A-6BB1-456F-7E09658AAB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84" t="13958" r="15162" b="13793"/>
          <a:stretch>
            <a:fillRect/>
          </a:stretch>
        </p:blipFill>
        <p:spPr bwMode="auto">
          <a:xfrm>
            <a:off x="7449505" y="4071801"/>
            <a:ext cx="2730062" cy="1615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icrosoft Power Automate - Automate workflows | AppSumo">
            <a:extLst>
              <a:ext uri="{FF2B5EF4-FFF2-40B4-BE49-F238E27FC236}">
                <a16:creationId xmlns:a16="http://schemas.microsoft.com/office/drawing/2014/main" id="{A329D131-1871-2C13-C832-D3AE07660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0996" y="3707476"/>
            <a:ext cx="4701693" cy="2646770"/>
          </a:xfrm>
          <a:prstGeom prst="roundRect">
            <a:avLst>
              <a:gd name="adj" fmla="val 2371"/>
            </a:avLst>
          </a:prstGeom>
          <a:noFill/>
          <a:ln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7764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F7C57B8-0CD5-79A2-0E9B-976766510C2B}"/>
              </a:ext>
            </a:extLst>
          </p:cNvPr>
          <p:cNvSpPr/>
          <p:nvPr/>
        </p:nvSpPr>
        <p:spPr>
          <a:xfrm>
            <a:off x="4349759" y="1508267"/>
            <a:ext cx="3337305" cy="2419485"/>
          </a:xfrm>
          <a:prstGeom prst="rect">
            <a:avLst/>
          </a:prstGeom>
          <a:noFill/>
          <a:ln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ECF7F83-1485-EB12-9C83-2A91B294EF57}"/>
              </a:ext>
            </a:extLst>
          </p:cNvPr>
          <p:cNvSpPr/>
          <p:nvPr/>
        </p:nvSpPr>
        <p:spPr>
          <a:xfrm>
            <a:off x="591444" y="1537368"/>
            <a:ext cx="3337305" cy="2419485"/>
          </a:xfrm>
          <a:prstGeom prst="rect">
            <a:avLst/>
          </a:prstGeom>
          <a:noFill/>
          <a:ln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B67C1BE-E688-04BA-3AC7-96CC223899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691" r="4043" b="31582"/>
          <a:stretch>
            <a:fillRect/>
          </a:stretch>
        </p:blipFill>
        <p:spPr>
          <a:xfrm>
            <a:off x="726368" y="1603154"/>
            <a:ext cx="3202381" cy="64171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3F4208E-E34B-82F0-F167-D38DA674B0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60272"/>
          <a:stretch>
            <a:fillRect/>
          </a:stretch>
        </p:blipFill>
        <p:spPr>
          <a:xfrm>
            <a:off x="8108074" y="1618751"/>
            <a:ext cx="3337304" cy="64171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710ABE0-F117-7CA2-7362-933837769B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273" r="3874" b="1"/>
          <a:stretch>
            <a:fillRect/>
          </a:stretch>
        </p:blipFill>
        <p:spPr>
          <a:xfrm>
            <a:off x="4417221" y="1537369"/>
            <a:ext cx="3208035" cy="641714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D07AF902-E0C6-2A32-6022-011D742C6164}"/>
              </a:ext>
            </a:extLst>
          </p:cNvPr>
          <p:cNvSpPr txBox="1"/>
          <p:nvPr/>
        </p:nvSpPr>
        <p:spPr>
          <a:xfrm>
            <a:off x="1139798" y="2622044"/>
            <a:ext cx="25104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/>
              <a:t>Ejecución </a:t>
            </a:r>
            <a:r>
              <a:rPr lang="es-PE" b="1" dirty="0"/>
              <a:t>manual</a:t>
            </a:r>
            <a:r>
              <a:rPr lang="es-PE" dirty="0"/>
              <a:t>, desde el móvil, o desde un Power Apps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6412AF3-A345-FFF9-1ADE-9BA2D477949B}"/>
              </a:ext>
            </a:extLst>
          </p:cNvPr>
          <p:cNvSpPr txBox="1"/>
          <p:nvPr/>
        </p:nvSpPr>
        <p:spPr>
          <a:xfrm>
            <a:off x="8521504" y="2628278"/>
            <a:ext cx="25104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/>
              <a:t>Ejecución </a:t>
            </a:r>
            <a:r>
              <a:rPr lang="es-PE" b="1" dirty="0"/>
              <a:t>automática</a:t>
            </a:r>
            <a:r>
              <a:rPr lang="es-PE" dirty="0"/>
              <a:t> basada en eventos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3AAC4F6-245C-CCFD-F294-9F0300619384}"/>
              </a:ext>
            </a:extLst>
          </p:cNvPr>
          <p:cNvSpPr txBox="1"/>
          <p:nvPr/>
        </p:nvSpPr>
        <p:spPr>
          <a:xfrm>
            <a:off x="4830651" y="2622044"/>
            <a:ext cx="25104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dirty="0"/>
              <a:t>Ejecución </a:t>
            </a:r>
            <a:r>
              <a:rPr lang="es-PE" b="1" dirty="0"/>
              <a:t>automática</a:t>
            </a:r>
            <a:r>
              <a:rPr lang="es-PE" dirty="0"/>
              <a:t> basada en una programación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C746292-F535-CFB5-995E-27EB467019AD}"/>
              </a:ext>
            </a:extLst>
          </p:cNvPr>
          <p:cNvSpPr/>
          <p:nvPr/>
        </p:nvSpPr>
        <p:spPr>
          <a:xfrm>
            <a:off x="8040612" y="1488674"/>
            <a:ext cx="3337305" cy="2419485"/>
          </a:xfrm>
          <a:prstGeom prst="rect">
            <a:avLst/>
          </a:prstGeom>
          <a:noFill/>
          <a:ln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2" name="Flecha: hacia abajo 11">
            <a:extLst>
              <a:ext uri="{FF2B5EF4-FFF2-40B4-BE49-F238E27FC236}">
                <a16:creationId xmlns:a16="http://schemas.microsoft.com/office/drawing/2014/main" id="{FBCC79EE-AFB1-4072-2161-EB71D6407230}"/>
              </a:ext>
            </a:extLst>
          </p:cNvPr>
          <p:cNvSpPr/>
          <p:nvPr/>
        </p:nvSpPr>
        <p:spPr>
          <a:xfrm>
            <a:off x="2087449" y="4294304"/>
            <a:ext cx="615142" cy="399011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3" name="Flecha: hacia abajo 12">
            <a:extLst>
              <a:ext uri="{FF2B5EF4-FFF2-40B4-BE49-F238E27FC236}">
                <a16:creationId xmlns:a16="http://schemas.microsoft.com/office/drawing/2014/main" id="{AC1D204F-0261-B5E6-1FC7-7482294D7CE8}"/>
              </a:ext>
            </a:extLst>
          </p:cNvPr>
          <p:cNvSpPr/>
          <p:nvPr/>
        </p:nvSpPr>
        <p:spPr>
          <a:xfrm>
            <a:off x="5788429" y="4236102"/>
            <a:ext cx="615142" cy="399011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4" name="Flecha: hacia abajo 13">
            <a:extLst>
              <a:ext uri="{FF2B5EF4-FFF2-40B4-BE49-F238E27FC236}">
                <a16:creationId xmlns:a16="http://schemas.microsoft.com/office/drawing/2014/main" id="{CC53F9F0-EBB7-9BF2-FB8A-1B56C890F912}"/>
              </a:ext>
            </a:extLst>
          </p:cNvPr>
          <p:cNvSpPr/>
          <p:nvPr/>
        </p:nvSpPr>
        <p:spPr>
          <a:xfrm>
            <a:off x="9401693" y="4236101"/>
            <a:ext cx="615142" cy="399011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B750229-13BC-8B04-72C1-AD5A01F6C68C}"/>
              </a:ext>
            </a:extLst>
          </p:cNvPr>
          <p:cNvSpPr txBox="1"/>
          <p:nvPr/>
        </p:nvSpPr>
        <p:spPr>
          <a:xfrm>
            <a:off x="614705" y="4971063"/>
            <a:ext cx="33140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Ej: </a:t>
            </a:r>
          </a:p>
          <a:p>
            <a:pPr marL="342900" indent="-342900">
              <a:buFont typeface="+mj-lt"/>
              <a:buAutoNum type="arabicPeriod"/>
            </a:pPr>
            <a:r>
              <a:rPr lang="es-PE" dirty="0"/>
              <a:t>Envío manual de correos masivos</a:t>
            </a:r>
          </a:p>
          <a:p>
            <a:pPr marL="342900" indent="-342900">
              <a:buFont typeface="+mj-lt"/>
              <a:buAutoNum type="arabicPeriod"/>
            </a:pPr>
            <a:r>
              <a:rPr lang="es-PE" dirty="0"/>
              <a:t>Ejecuciones desde PowerApps / PowerBi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4D3C8B0-0E7B-3F51-CE28-DC185026E699}"/>
              </a:ext>
            </a:extLst>
          </p:cNvPr>
          <p:cNvSpPr txBox="1"/>
          <p:nvPr/>
        </p:nvSpPr>
        <p:spPr>
          <a:xfrm>
            <a:off x="4438978" y="4971063"/>
            <a:ext cx="33140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Ej: </a:t>
            </a:r>
          </a:p>
          <a:p>
            <a:pPr marL="342900" indent="-342900">
              <a:buFont typeface="+mj-lt"/>
              <a:buAutoNum type="arabicPeriod"/>
            </a:pPr>
            <a:r>
              <a:rPr lang="es-PE" dirty="0"/>
              <a:t>Recordatorío de alertas de vencimiento</a:t>
            </a:r>
          </a:p>
          <a:p>
            <a:pPr marL="342900" indent="-342900">
              <a:buFont typeface="+mj-lt"/>
              <a:buAutoNum type="arabicPeriod"/>
            </a:pPr>
            <a:r>
              <a:rPr lang="es-PE" dirty="0"/>
              <a:t>Envío de reportes con cierta periodicidad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9F8B63C-BDD4-64FB-F290-CD98ABDDA75B}"/>
              </a:ext>
            </a:extLst>
          </p:cNvPr>
          <p:cNvSpPr txBox="1"/>
          <p:nvPr/>
        </p:nvSpPr>
        <p:spPr>
          <a:xfrm>
            <a:off x="8108074" y="4971063"/>
            <a:ext cx="33140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Ej: </a:t>
            </a:r>
          </a:p>
          <a:p>
            <a:pPr marL="342900" indent="-342900">
              <a:buFont typeface="+mj-lt"/>
              <a:buAutoNum type="arabicPeriod"/>
            </a:pPr>
            <a:r>
              <a:rPr lang="es-PE" dirty="0"/>
              <a:t>Seguimiento automatizado de correos</a:t>
            </a:r>
          </a:p>
          <a:p>
            <a:pPr marL="342900" indent="-342900">
              <a:buFont typeface="+mj-lt"/>
              <a:buAutoNum type="arabicPeriod"/>
            </a:pPr>
            <a:r>
              <a:rPr lang="es-PE" dirty="0"/>
              <a:t>Envío de reportes con cierta periodicidad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7F2F890-20DB-A141-566D-9745C0D274EB}"/>
              </a:ext>
            </a:extLst>
          </p:cNvPr>
          <p:cNvSpPr txBox="1"/>
          <p:nvPr/>
        </p:nvSpPr>
        <p:spPr>
          <a:xfrm>
            <a:off x="399011" y="415636"/>
            <a:ext cx="114050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000" b="1" dirty="0">
                <a:solidFill>
                  <a:srgbClr val="FF0000"/>
                </a:solidFill>
              </a:rPr>
              <a:t>Tipos</a:t>
            </a:r>
            <a:r>
              <a:rPr lang="es-PE" sz="4000" b="1" dirty="0"/>
              <a:t> </a:t>
            </a:r>
            <a:r>
              <a:rPr lang="es-PE" sz="4000" dirty="0"/>
              <a:t>de flujos</a:t>
            </a:r>
          </a:p>
        </p:txBody>
      </p:sp>
      <p:pic>
        <p:nvPicPr>
          <p:cNvPr id="19" name="Gráfico 18">
            <a:extLst>
              <a:ext uri="{FF2B5EF4-FFF2-40B4-BE49-F238E27FC236}">
                <a16:creationId xmlns:a16="http://schemas.microsoft.com/office/drawing/2014/main" id="{6A7138C5-E641-B5B2-AEB4-34E761F892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41263" y="0"/>
            <a:ext cx="1050737" cy="105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816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FC0873E-3A62-FF6D-B0E6-75D15D438C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6" r="599"/>
          <a:stretch>
            <a:fillRect/>
          </a:stretch>
        </p:blipFill>
        <p:spPr>
          <a:xfrm>
            <a:off x="604837" y="1218003"/>
            <a:ext cx="10982325" cy="522436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E8B4A393-8BD1-089B-19A1-B6675E2B9E53}"/>
              </a:ext>
            </a:extLst>
          </p:cNvPr>
          <p:cNvSpPr txBox="1"/>
          <p:nvPr/>
        </p:nvSpPr>
        <p:spPr>
          <a:xfrm>
            <a:off x="399011" y="415636"/>
            <a:ext cx="82419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3200" dirty="0"/>
              <a:t>Reconociendo el </a:t>
            </a:r>
            <a:r>
              <a:rPr lang="es-PE" sz="3200" b="1" dirty="0">
                <a:solidFill>
                  <a:srgbClr val="FF0000"/>
                </a:solidFill>
              </a:rPr>
              <a:t>entorno</a:t>
            </a:r>
            <a:r>
              <a:rPr lang="es-PE" sz="3200" dirty="0"/>
              <a:t> de Power Automate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A574FA9A-B3EB-2A82-060D-2533FBF731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41263" y="0"/>
            <a:ext cx="1050737" cy="105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73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84506-713B-DE61-D78F-3EE96248F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0D57C42-7181-11B3-191A-2A454BB18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4928" y="99641"/>
            <a:ext cx="603434" cy="60694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E13CE73-9DB7-6E85-A860-567AC49AF3FB}"/>
              </a:ext>
            </a:extLst>
          </p:cNvPr>
          <p:cNvSpPr txBox="1"/>
          <p:nvPr/>
        </p:nvSpPr>
        <p:spPr>
          <a:xfrm>
            <a:off x="11385427" y="669302"/>
            <a:ext cx="7024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>
                <a:solidFill>
                  <a:srgbClr val="C00000"/>
                </a:solidFill>
              </a:rPr>
              <a:t>2026-10</a:t>
            </a:r>
            <a:endParaRPr lang="es-PE" sz="1200" b="1" dirty="0">
              <a:solidFill>
                <a:srgbClr val="C00000"/>
              </a:solidFill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4B69CE3-0265-BE88-DC90-FE13B1E2D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909538" y="1421948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5251198-087E-8D71-630C-E02FC248C1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61610"/>
            <a:ext cx="216726" cy="5232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10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00BC689-4149-9142-1F3A-D64B7F237DC5}"/>
              </a:ext>
            </a:extLst>
          </p:cNvPr>
          <p:cNvSpPr txBox="1">
            <a:spLocks/>
          </p:cNvSpPr>
          <p:nvPr/>
        </p:nvSpPr>
        <p:spPr>
          <a:xfrm>
            <a:off x="-344557" y="99641"/>
            <a:ext cx="12192000" cy="790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Caso de Uso 1: Flujos de Gestión Documental (1)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BFD9FE-869C-C848-EA16-A598AF2F9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726" y="889689"/>
            <a:ext cx="10977782" cy="83099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1600" b="1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Gestión Automatizada de Contratos y Facturas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  <a:t>, ya que aborda el problema común de las tareas manuales y repetitivas que consumen el tiempo del talento humano</a:t>
            </a:r>
            <a:br>
              <a:rPr kumimoji="0" lang="es-PE" altLang="es-PE" sz="1600" b="0" i="0" u="none" strike="noStrike" cap="none" normalizeH="0" baseline="0" dirty="0">
                <a:ln>
                  <a:noFill/>
                </a:ln>
                <a:effectLst/>
                <a:latin typeface="Aptos" panose="020B0004020202020204" pitchFamily="34" charset="0"/>
              </a:rPr>
            </a:br>
            <a:endParaRPr kumimoji="0" lang="es-PE" altLang="es-PE" sz="1600" b="0" i="0" u="none" strike="noStrike" cap="none" normalizeH="0" baseline="0" dirty="0">
              <a:ln>
                <a:noFill/>
              </a:ln>
              <a:effectLst/>
              <a:latin typeface="Aptos" panose="020B0004020202020204" pitchFamily="34" charset="0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6417D066-40F4-BD68-1878-646368E39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726" y="1824841"/>
            <a:ext cx="10070274" cy="397031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El Problema de Negocio</a:t>
            </a:r>
          </a:p>
          <a:p>
            <a:pPr lvl="1" defTabSz="914400"/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Muchas corporaciones gestionan sus contratos recibiéndolos por correo, guardándolos manualmente en carpetas de red y registrando los datos en una hoja de Excel o base de datos legacy. Este proceso es lento, propenso a errores y aleja a los empleados del "trabajo real" estratégico.</a:t>
            </a:r>
          </a:p>
          <a:p>
            <a:pPr lvl="1" defTabSz="914400"/>
            <a:endParaRPr kumimoji="0" lang="es-PE" altLang="es-P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</a:t>
            </a:r>
            <a:r>
              <a:rPr kumimoji="0" lang="es-PE" altLang="es-PE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Arquitectura de la Solución (Ecosistema)</a:t>
            </a:r>
          </a:p>
          <a:p>
            <a:pPr lvl="1" defTabSz="914400"/>
            <a:r>
              <a:rPr lang="es-PE" altLang="es-PE" dirty="0"/>
              <a:t>Utilizaremos un </a:t>
            </a:r>
            <a:r>
              <a:rPr lang="es-PE" altLang="es-PE" b="1" dirty="0"/>
              <a:t>Flujo de Nube Automatizado</a:t>
            </a:r>
            <a:r>
              <a:rPr lang="es-PE" altLang="es-PE" dirty="0"/>
              <a:t> que integra los siguientes componentes:</a:t>
            </a:r>
          </a:p>
          <a:p>
            <a:pPr marL="742950" lvl="1" indent="-285750" defTabSz="914400">
              <a:buFont typeface="Arial" panose="020B0604020202020204" pitchFamily="34" charset="0"/>
              <a:buChar char="•"/>
            </a:pPr>
            <a:r>
              <a:rPr lang="es-ES" altLang="es-PE" dirty="0"/>
              <a:t>Trigger: Outlook (nuevo correo o registro de cliente)</a:t>
            </a:r>
          </a:p>
          <a:p>
            <a:pPr marL="742950" lvl="1" indent="-285750" defTabSz="914400">
              <a:buFont typeface="Arial" panose="020B0604020202020204" pitchFamily="34" charset="0"/>
              <a:buChar char="•"/>
            </a:pPr>
            <a:r>
              <a:rPr lang="es-ES" altLang="es-PE" dirty="0"/>
              <a:t>Acción: Outlook (envío de correo personalizado)</a:t>
            </a:r>
          </a:p>
          <a:p>
            <a:pPr marL="742950" lvl="1" indent="-285750" defTabSz="914400">
              <a:buFont typeface="Arial" panose="020B0604020202020204" pitchFamily="34" charset="0"/>
              <a:buChar char="•"/>
            </a:pPr>
            <a:r>
              <a:rPr lang="es-ES" altLang="es-PE" dirty="0"/>
              <a:t>Acción de Datos: SharePoint List (fuente de clientes)</a:t>
            </a:r>
          </a:p>
          <a:p>
            <a:pPr marL="742950" lvl="1" indent="-285750" defTabSz="914400">
              <a:buFont typeface="Arial" panose="020B0604020202020204" pitchFamily="34" charset="0"/>
              <a:buChar char="•"/>
            </a:pPr>
            <a:r>
              <a:rPr lang="es-PE" altLang="es-PE" dirty="0"/>
              <a:t>Orquestación: Power Automate (Motor de lógica low-code)</a:t>
            </a:r>
            <a:br>
              <a:rPr lang="es-PE" altLang="es-PE" dirty="0"/>
            </a:br>
            <a:endParaRPr lang="es-PE" altLang="es-PE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1868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A73FC-2817-00C5-42CF-8595C6311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21B14E3-8DEC-D485-16AE-36491DB8D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4928" y="99641"/>
            <a:ext cx="603434" cy="60694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69397344-77A5-0289-0F3A-F636453BF810}"/>
              </a:ext>
            </a:extLst>
          </p:cNvPr>
          <p:cNvSpPr txBox="1"/>
          <p:nvPr/>
        </p:nvSpPr>
        <p:spPr>
          <a:xfrm>
            <a:off x="11385427" y="669302"/>
            <a:ext cx="7024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>
                <a:solidFill>
                  <a:srgbClr val="C00000"/>
                </a:solidFill>
              </a:rPr>
              <a:t>2026-10</a:t>
            </a:r>
            <a:endParaRPr lang="es-PE" sz="1200" b="1" dirty="0">
              <a:solidFill>
                <a:srgbClr val="C00000"/>
              </a:solidFill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2326ED8-2405-8294-B9EF-6B7B6278D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909538" y="1421948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ADA305C-7AEE-0178-4EAA-34827E715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61610"/>
            <a:ext cx="216726" cy="5232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10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4D82493-B278-6446-4D53-456E8B3F6D27}"/>
              </a:ext>
            </a:extLst>
          </p:cNvPr>
          <p:cNvSpPr txBox="1">
            <a:spLocks/>
          </p:cNvSpPr>
          <p:nvPr/>
        </p:nvSpPr>
        <p:spPr>
          <a:xfrm>
            <a:off x="-344557" y="99641"/>
            <a:ext cx="12192000" cy="790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Caso de Uso 1: Flujos de Gestión Documental (2)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5145C3-F4B6-CF6A-9F0C-2A3F44B15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182" y="1479991"/>
            <a:ext cx="11821636" cy="4801314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3. Implementación Paso a Paso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Paso 1: Configurar el Disparador (Trigger)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PE" altLang="es-PE" b="0" i="0" u="none" strike="noStrike" cap="none" normalizeH="0" baseline="0" dirty="0">
                <a:ln>
                  <a:noFill/>
                </a:ln>
                <a:effectLst/>
                <a:latin typeface="Aptos"/>
              </a:rPr>
              <a:t>El flujo comienza con un evento en la nube. Selecciona el conector de </a:t>
            </a:r>
            <a:r>
              <a:rPr kumimoji="0" lang="es-PE" altLang="es-PE" b="1" i="0" u="none" strike="noStrike" cap="none" normalizeH="0" baseline="0" dirty="0">
                <a:ln>
                  <a:noFill/>
                </a:ln>
                <a:effectLst/>
                <a:latin typeface="Aptos"/>
              </a:rPr>
              <a:t>Office 365 Outlook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effectLst/>
                <a:latin typeface="Aptos"/>
              </a:rPr>
              <a:t> y el trigger "Cuando llega un nuevo correo electrónico".</a:t>
            </a:r>
            <a:endParaRPr lang="es-PE" altLang="es-PE" b="0" i="0" u="none" strike="noStrike" cap="none" normalizeH="0" baseline="0" dirty="0">
              <a:ln>
                <a:noFill/>
              </a:ln>
              <a:effectLst/>
              <a:latin typeface="Aptos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PE" altLang="es-PE" b="1" i="0" u="none" strike="noStrike" cap="none" normalizeH="0" baseline="0" dirty="0">
                <a:ln>
                  <a:noFill/>
                </a:ln>
                <a:effectLst/>
                <a:latin typeface="Aptos"/>
              </a:rPr>
              <a:t>Configuración: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effectLst/>
                <a:latin typeface="Aptos"/>
              </a:rPr>
              <a:t> Filtra por una carpeta específica (ej: "Contratos") para asegurar que el flujo solo se </a:t>
            </a:r>
            <a:r>
              <a:rPr lang="es-PE" altLang="es-PE" dirty="0">
                <a:latin typeface="Aptos"/>
              </a:rPr>
              <a:t>active con correos relevantes.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PE" altLang="es-PE" b="1" dirty="0">
                <a:latin typeface="Aptos" panose="020B0004020202020204" pitchFamily="34" charset="0"/>
              </a:rPr>
              <a:t>Paso 2: Procesar el Documento (Acción)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PE" altLang="es-PE" dirty="0">
                <a:latin typeface="Aptos" panose="020B0004020202020204" pitchFamily="34" charset="0"/>
              </a:rPr>
              <a:t>Una vez recibido 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el correo, la primera acción es guardar el archivo adjunto en </a:t>
            </a:r>
            <a: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SharePoint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PE" altLang="es-PE" dirty="0">
                <a:latin typeface="Aptos"/>
              </a:rPr>
              <a:t>Contenido Dinámico: Aquí es donde el alumno usa los datos del trigger (como el nombre del archivo adjunto) como entrada para la acción de "Create file".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PE" altLang="es-PE" b="1" dirty="0">
                <a:latin typeface="Aptos"/>
              </a:rPr>
              <a:t>Paso 3: Estandarización con el Word Connector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PE" altLang="es-PE" b="0" i="0" u="none" strike="noStrike" cap="none" normalizeH="0" baseline="0" dirty="0">
                <a:ln>
                  <a:noFill/>
                </a:ln>
                <a:effectLst/>
                <a:latin typeface="Aptos"/>
              </a:rPr>
              <a:t>Para garantizar que todos los documentos corporativos tengan el mismo formato, añadimos la acción del </a:t>
            </a:r>
            <a:r>
              <a:rPr kumimoji="0" lang="es-PE" altLang="es-PE" b="1" i="0" u="none" strike="noStrike" cap="none" normalizeH="0" baseline="0" dirty="0">
                <a:ln>
                  <a:noFill/>
                </a:ln>
                <a:effectLst/>
                <a:latin typeface="Aptos"/>
              </a:rPr>
              <a:t>Conector de Word (Business)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effectLst/>
                <a:latin typeface="Aptos"/>
              </a:rPr>
              <a:t>: "</a:t>
            </a:r>
            <a:r>
              <a:rPr lang="es-PE" altLang="es-PE" dirty="0">
                <a:latin typeface="Aptos"/>
              </a:rPr>
              <a:t>Convert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effectLst/>
                <a:latin typeface="Aptos"/>
              </a:rPr>
              <a:t> Word </a:t>
            </a:r>
            <a:r>
              <a:rPr lang="es-PE" altLang="es-PE" dirty="0">
                <a:latin typeface="Aptos"/>
              </a:rPr>
              <a:t>document to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effectLst/>
                <a:latin typeface="Aptos"/>
              </a:rPr>
              <a:t> PDF". Esto permite transformar archivos .docx recibidos en archivos .pdf finales antes de archivarlos.</a:t>
            </a:r>
            <a:endParaRPr lang="es-PE" altLang="es-PE" b="0" i="0" u="none" strike="noStrike" cap="none" normalizeH="0" baseline="0" dirty="0">
              <a:ln>
                <a:noFill/>
              </a:ln>
              <a:effectLst/>
              <a:latin typeface="Aptos"/>
            </a:endParaRPr>
          </a:p>
          <a:p>
            <a:pPr lvl="1">
              <a:spcBef>
                <a:spcPct val="0"/>
              </a:spcBef>
              <a:spcAft>
                <a:spcPct val="0"/>
              </a:spcAft>
            </a:pPr>
            <a:r>
              <a:rPr lang="es-PE" altLang="es-PE" b="1" dirty="0">
                <a:latin typeface="Aptos"/>
              </a:rPr>
              <a:t>Paso 4: Guardar resultado de la conversión del archivo</a:t>
            </a:r>
          </a:p>
          <a:p>
            <a:pPr lvl="1">
              <a:spcBef>
                <a:spcPct val="0"/>
              </a:spcBef>
              <a:spcAft>
                <a:spcPct val="0"/>
              </a:spcAft>
            </a:pPr>
            <a:r>
              <a:rPr lang="es-PE" altLang="es-PE" dirty="0">
                <a:latin typeface="Aptos"/>
              </a:rPr>
              <a:t>Para guardar el archivo convertido se debe usar el conector de "Create file" para almacenar dicha versión en el SharePoint.</a:t>
            </a:r>
          </a:p>
        </p:txBody>
      </p:sp>
    </p:spTree>
    <p:extLst>
      <p:ext uri="{BB962C8B-B14F-4D97-AF65-F5344CB8AC3E}">
        <p14:creationId xmlns:p14="http://schemas.microsoft.com/office/powerpoint/2010/main" val="2437328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FE9F1-FC8B-E373-D4A9-62EBA5C2F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94A917E-CABD-D900-2D66-63093B06C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4928" y="99641"/>
            <a:ext cx="603434" cy="606942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BCC63EB-E015-B6C3-CFA3-0D88F0DECD0B}"/>
              </a:ext>
            </a:extLst>
          </p:cNvPr>
          <p:cNvSpPr txBox="1"/>
          <p:nvPr/>
        </p:nvSpPr>
        <p:spPr>
          <a:xfrm>
            <a:off x="11385427" y="669302"/>
            <a:ext cx="7024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>
                <a:solidFill>
                  <a:srgbClr val="C00000"/>
                </a:solidFill>
              </a:rPr>
              <a:t>2026-10</a:t>
            </a:r>
            <a:endParaRPr lang="es-PE" sz="1200" b="1" dirty="0">
              <a:solidFill>
                <a:srgbClr val="C00000"/>
              </a:solidFill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A12CC67-B521-5A6F-2975-FAD64663F1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909538" y="1421948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718BD2D-CA15-5ADE-F0A4-A12F5F32A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61610"/>
            <a:ext cx="216726" cy="5232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1000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PE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8F3DF0C-7C25-6A5A-5F7C-7C5FDB1F47C9}"/>
              </a:ext>
            </a:extLst>
          </p:cNvPr>
          <p:cNvSpPr txBox="1">
            <a:spLocks/>
          </p:cNvSpPr>
          <p:nvPr/>
        </p:nvSpPr>
        <p:spPr>
          <a:xfrm>
            <a:off x="-344557" y="99641"/>
            <a:ext cx="12192000" cy="790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/>
              <a:t>Caso de Uso 1: Flujos de Gestión Documental (3)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05A27A8-2804-EB4D-1642-764285E48C20}"/>
              </a:ext>
            </a:extLst>
          </p:cNvPr>
          <p:cNvSpPr txBox="1"/>
          <p:nvPr/>
        </p:nvSpPr>
        <p:spPr>
          <a:xfrm>
            <a:off x="485774" y="1147286"/>
            <a:ext cx="10474325" cy="286232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PE" altLang="es-PE" b="1" i="0" u="none" strike="noStrike" cap="none" normalizeH="0" baseline="0" dirty="0">
                <a:ln>
                  <a:noFill/>
                </a:ln>
                <a:effectLst/>
                <a:latin typeface="Aptos"/>
              </a:rPr>
              <a:t>Paso </a:t>
            </a:r>
            <a:r>
              <a:rPr lang="es-PE" altLang="es-PE" b="1" dirty="0">
                <a:latin typeface="Aptos"/>
              </a:rPr>
              <a:t>5</a:t>
            </a:r>
            <a:r>
              <a:rPr kumimoji="0" lang="es-PE" altLang="es-PE" b="1" i="0" u="none" strike="noStrike" cap="none" normalizeH="0" baseline="0" dirty="0">
                <a:ln>
                  <a:noFill/>
                </a:ln>
                <a:effectLst/>
                <a:latin typeface="Aptos"/>
              </a:rPr>
              <a:t>: Registro de Datos en Sharepoint </a:t>
            </a:r>
            <a:endParaRPr lang="es-PE" altLang="es-PE" b="1" i="0" u="none" strike="noStrike" cap="none" normalizeH="0" baseline="0" dirty="0">
              <a:ln>
                <a:noFill/>
              </a:ln>
              <a:effectLst/>
              <a:latin typeface="Aptos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PE" altLang="es-PE" b="0" i="0" u="none" strike="noStrike" cap="none" normalizeH="0" baseline="0" dirty="0">
                <a:ln>
                  <a:noFill/>
                </a:ln>
                <a:effectLst/>
                <a:latin typeface="Aptos"/>
              </a:rPr>
              <a:t>Para que la corporación pueda auditar sus documentos, usamos el Sharepoint para registrar la información.</a:t>
            </a:r>
            <a:endParaRPr lang="es-PE" altLang="es-PE" b="0" i="0" u="none" strike="noStrike" cap="none" normalizeH="0" baseline="0" dirty="0">
              <a:ln>
                <a:noFill/>
              </a:ln>
              <a:effectLst/>
              <a:latin typeface="Aptos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PE" altLang="es-PE" dirty="0">
                <a:latin typeface="Aptos"/>
              </a:rPr>
              <a:t>Acción: "Create item".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PE" altLang="es-PE" dirty="0">
                <a:latin typeface="Aptos"/>
              </a:rPr>
              <a:t>Mapeo: Registra el nombre del remitente en la columna "Remitente" y la fecha de recepción en la columna "FechaRecibido".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s-PE" altLang="es-PE" dirty="0">
              <a:latin typeface="Aptos"/>
            </a:endParaRPr>
          </a:p>
          <a:p>
            <a:pPr marR="0" lvl="1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PE" altLang="es-PE" b="1" dirty="0">
                <a:latin typeface="Aptos"/>
              </a:rPr>
              <a:t>Paso 6: El Toque de IA con Copilot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PE" altLang="es-PE" dirty="0">
                <a:latin typeface="Aptos"/>
              </a:rPr>
              <a:t>En lugar de programar condiciones complejas, el alumno puede usar Copilot para describir la lógica final: "    ".</a:t>
            </a:r>
          </a:p>
        </p:txBody>
      </p:sp>
    </p:spTree>
    <p:extLst>
      <p:ext uri="{BB962C8B-B14F-4D97-AF65-F5344CB8AC3E}">
        <p14:creationId xmlns:p14="http://schemas.microsoft.com/office/powerpoint/2010/main" val="3932002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17517</TotalTime>
  <Words>668</Words>
  <Application>Microsoft Office PowerPoint</Application>
  <PresentationFormat>Widescreen</PresentationFormat>
  <Paragraphs>69</Paragraphs>
  <Slides>9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Semana 10 - Sesión 02:  Automatización Robotica de Procesos</vt:lpstr>
      <vt:lpstr>Agenda</vt:lpstr>
      <vt:lpstr>Logros</vt:lpstr>
      <vt:lpstr>¿Qué es un flujo de Power Automate?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10 - Sesión 1:  Continuidad de Negocio</dc:title>
  <dc:subject/>
  <dc:creator>ISBERT JOSE PANEZ WUCHENAUER</dc:creator>
  <cp:keywords/>
  <dc:description>generated using python-pptx</dc:description>
  <cp:lastModifiedBy>PCAPJLUN (LUNA SAAVEDRA, JESUS JAFET)</cp:lastModifiedBy>
  <cp:revision>61</cp:revision>
  <dcterms:created xsi:type="dcterms:W3CDTF">2013-01-27T09:14:16Z</dcterms:created>
  <dcterms:modified xsi:type="dcterms:W3CDTF">2026-06-08T01:51:22Z</dcterms:modified>
  <cp:category/>
</cp:coreProperties>
</file>