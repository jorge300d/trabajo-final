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388" r:id="rId3"/>
    <p:sldId id="374" r:id="rId4"/>
    <p:sldId id="384" r:id="rId5"/>
    <p:sldId id="380" r:id="rId6"/>
    <p:sldId id="376"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99C"/>
    <a:srgbClr val="FFFFFF"/>
    <a:srgbClr val="FFFC00"/>
    <a:srgbClr val="E9876E"/>
    <a:srgbClr val="011893"/>
    <a:srgbClr val="000000"/>
    <a:srgbClr val="092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86"/>
    <p:restoredTop sz="91397"/>
  </p:normalViewPr>
  <p:slideViewPr>
    <p:cSldViewPr snapToGrid="0">
      <p:cViewPr varScale="1">
        <p:scale>
          <a:sx n="66" d="100"/>
          <a:sy n="66" d="100"/>
        </p:scale>
        <p:origin x="68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99C1E-A40B-0846-9E50-B0993DD3C87B}" type="datetimeFigureOut">
              <a:rPr lang="es-PE" smtClean="0"/>
              <a:t>25/05/2026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AFBE3-C553-9A4B-B184-555ECF4FFD13}" type="slidenum">
              <a:rPr lang="es-PE" smtClean="0"/>
              <a:t>‹#›</a:t>
            </a:fld>
            <a:endParaRPr lang="es-PE"/>
          </a:p>
        </p:txBody>
      </p:sp>
    </p:spTree>
    <p:extLst>
      <p:ext uri="{BB962C8B-B14F-4D97-AF65-F5344CB8AC3E}">
        <p14:creationId xmlns:p14="http://schemas.microsoft.com/office/powerpoint/2010/main" val="3855675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25/05/2026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25/05/2026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25/05/2026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25/05/2026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25/05/2026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25/05/2026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25/05/2026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25/05/2026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25/05/2026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25/05/2026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25/05/2026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25/05/2026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002" y="3100053"/>
            <a:ext cx="12192000" cy="1752600"/>
          </a:xfrm>
        </p:spPr>
        <p:txBody>
          <a:bodyPr>
            <a:normAutofit fontScale="90000"/>
          </a:bodyPr>
          <a:lstStyle/>
          <a:p>
            <a:r>
              <a:rPr lang="es-PE" noProof="0" dirty="0"/>
              <a:t>Semana 9 - Sesión 2: </a:t>
            </a:r>
            <a:br>
              <a:rPr lang="es-PE" noProof="0" dirty="0"/>
            </a:br>
            <a:br>
              <a:rPr lang="es-PE" noProof="0" dirty="0"/>
            </a:br>
            <a:r>
              <a:rPr lang="es-PE" noProof="0" dirty="0"/>
              <a:t>Ejercicios: </a:t>
            </a:r>
            <a:r>
              <a:rPr lang="es-PE" dirty="0"/>
              <a:t>Automatización de Procesos Empresariales</a:t>
            </a:r>
            <a:br>
              <a:rPr lang="es-PE" dirty="0"/>
            </a:br>
            <a:br>
              <a:rPr lang="es-PE" dirty="0"/>
            </a:br>
            <a:r>
              <a:rPr lang="es-PE" sz="2200" dirty="0">
                <a:latin typeface="Arial" panose="020B0604020202020204" pitchFamily="34" charset="0"/>
                <a:cs typeface="Arial" panose="020B0604020202020204" pitchFamily="34" charset="0"/>
              </a:rPr>
              <a:t>Entendimiento de la automatización como factor clave en la transformación digital para mejorar la calidad y eficiencia en las tareas diarias </a:t>
            </a:r>
            <a:r>
              <a:rPr lang="es-PE" sz="2200" noProof="0" dirty="0">
                <a:latin typeface="Arial" panose="020B0604020202020204" pitchFamily="34" charset="0"/>
                <a:cs typeface="Arial" panose="020B0604020202020204" pitchFamily="34" charset="0"/>
              </a:rPr>
              <a:t> </a:t>
            </a:r>
          </a:p>
        </p:txBody>
      </p:sp>
      <p:sp>
        <p:nvSpPr>
          <p:cNvPr id="3" name="Subtitle 2"/>
          <p:cNvSpPr>
            <a:spLocks noGrp="1"/>
          </p:cNvSpPr>
          <p:nvPr>
            <p:ph type="subTitle" idx="1"/>
          </p:nvPr>
        </p:nvSpPr>
        <p:spPr>
          <a:xfrm>
            <a:off x="1524000" y="5062328"/>
            <a:ext cx="9144000" cy="1655762"/>
          </a:xfrm>
        </p:spPr>
        <p:txBody>
          <a:bodyPr/>
          <a:lstStyle/>
          <a:p>
            <a:r>
              <a:rPr lang="es-PE" noProof="0" dirty="0"/>
              <a:t>Curso: Arquitectura Empresarial</a:t>
            </a:r>
          </a:p>
          <a:p>
            <a:r>
              <a:rPr lang="es-PE" dirty="0"/>
              <a:t>Programa: Ingeniería de Sistemas de Información</a:t>
            </a:r>
            <a:endParaRPr lang="es-PE" noProof="0" dirty="0"/>
          </a:p>
        </p:txBody>
      </p:sp>
      <p:pic>
        <p:nvPicPr>
          <p:cNvPr id="4" name="Imagen 3">
            <a:extLst>
              <a:ext uri="{FF2B5EF4-FFF2-40B4-BE49-F238E27FC236}">
                <a16:creationId xmlns:a16="http://schemas.microsoft.com/office/drawing/2014/main" id="{5ED558BB-2B60-D489-CAE2-B3101BD661B2}"/>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C5C25284-EDA8-1E1A-91F0-EAE84F1B7BB3}"/>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1915883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E768-C015-D146-F591-BC2E02816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E6F2B-5500-AEA2-9EE2-63AF75077FF5}"/>
              </a:ext>
            </a:extLst>
          </p:cNvPr>
          <p:cNvSpPr>
            <a:spLocks noGrp="1"/>
          </p:cNvSpPr>
          <p:nvPr>
            <p:ph type="title"/>
          </p:nvPr>
        </p:nvSpPr>
        <p:spPr>
          <a:xfrm>
            <a:off x="652684" y="365125"/>
            <a:ext cx="10886630" cy="1325563"/>
          </a:xfrm>
        </p:spPr>
        <p:txBody>
          <a:bodyPr>
            <a:normAutofit fontScale="90000"/>
          </a:bodyPr>
          <a:lstStyle/>
          <a:p>
            <a:r>
              <a:rPr lang="es-PE" sz="2800" b="1" dirty="0"/>
              <a:t>Ejemplo 1: Proceso de implementación de una mesa de ayuda para mejorar la gestión de incidencias en una empresa de servicios de Software</a:t>
            </a:r>
            <a:br>
              <a:rPr lang="es-PE" sz="2800" b="1" dirty="0"/>
            </a:br>
            <a:endParaRPr lang="es-PE" sz="2800" b="1" dirty="0"/>
          </a:p>
        </p:txBody>
      </p:sp>
      <p:pic>
        <p:nvPicPr>
          <p:cNvPr id="4" name="Imagen 3">
            <a:extLst>
              <a:ext uri="{FF2B5EF4-FFF2-40B4-BE49-F238E27FC236}">
                <a16:creationId xmlns:a16="http://schemas.microsoft.com/office/drawing/2014/main" id="{5CEB5738-BD73-BD28-CB4A-22ACF8F2FE00}"/>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7ED68306-8D52-4451-DD6D-B1FF1C146588}"/>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a:solidFill>
                  <a:srgbClr val="C00000"/>
                </a:solidFill>
              </a:rPr>
              <a:t>2026-10</a:t>
            </a:r>
            <a:endParaRPr lang="es-PE" sz="1200" b="1">
              <a:solidFill>
                <a:srgbClr val="C00000"/>
              </a:solidFill>
            </a:endParaRPr>
          </a:p>
        </p:txBody>
      </p:sp>
      <p:sp>
        <p:nvSpPr>
          <p:cNvPr id="8" name="Content Placeholder 2">
            <a:extLst>
              <a:ext uri="{FF2B5EF4-FFF2-40B4-BE49-F238E27FC236}">
                <a16:creationId xmlns:a16="http://schemas.microsoft.com/office/drawing/2014/main" id="{230ACDE0-327C-9780-4CDD-FBA0F9E3B740}"/>
              </a:ext>
            </a:extLst>
          </p:cNvPr>
          <p:cNvSpPr>
            <a:spLocks noGrp="1"/>
          </p:cNvSpPr>
          <p:nvPr>
            <p:ph idx="1"/>
          </p:nvPr>
        </p:nvSpPr>
        <p:spPr>
          <a:xfrm>
            <a:off x="652685" y="1690688"/>
            <a:ext cx="10886629" cy="4221840"/>
          </a:xfrm>
        </p:spPr>
        <p:txBody>
          <a:bodyPr vert="horz" lIns="91440" tIns="45720" rIns="91440" bIns="45720" rtlCol="0" anchor="t">
            <a:normAutofit fontScale="92500" lnSpcReduction="20000"/>
          </a:bodyPr>
          <a:lstStyle/>
          <a:p>
            <a:pPr marL="0" indent="0" algn="just">
              <a:lnSpc>
                <a:spcPct val="110000"/>
              </a:lnSpc>
              <a:spcBef>
                <a:spcPts val="600"/>
              </a:spcBef>
              <a:buNone/>
            </a:pPr>
            <a:r>
              <a:rPr lang="es-419" sz="2000" dirty="0">
                <a:latin typeface="Arial" panose="020B0604020202020204" pitchFamily="34" charset="0"/>
                <a:cs typeface="Arial" panose="020B0604020202020204" pitchFamily="34" charset="0"/>
              </a:rPr>
              <a:t>En una empresa de Software se presenta un problema continuo la tarea de clasificación de tickets de manera manual por varios recursos.</a:t>
            </a:r>
          </a:p>
          <a:p>
            <a:pPr marL="457200" indent="-457200" algn="just">
              <a:lnSpc>
                <a:spcPct val="110000"/>
              </a:lnSpc>
              <a:buFont typeface="+mj-lt"/>
              <a:buAutoNum type="arabicPeriod"/>
            </a:pPr>
            <a:r>
              <a:rPr lang="es-PE" sz="2000" dirty="0">
                <a:latin typeface="Arial" panose="020B0604020202020204" pitchFamily="34" charset="0"/>
                <a:cs typeface="Arial" panose="020B0604020202020204" pitchFamily="34" charset="0"/>
              </a:rPr>
              <a:t>Identificación y análisis: manual y reactivo, basado en la experiencia del personal</a:t>
            </a:r>
          </a:p>
          <a:p>
            <a:pPr marL="457200" indent="-457200" algn="just">
              <a:lnSpc>
                <a:spcPct val="110000"/>
              </a:lnSpc>
              <a:buFont typeface="+mj-lt"/>
              <a:buAutoNum type="arabicPeriod"/>
            </a:pPr>
            <a:r>
              <a:rPr lang="es-PE" sz="2000" dirty="0">
                <a:latin typeface="Arial" panose="020B0604020202020204" pitchFamily="34" charset="0"/>
                <a:cs typeface="Arial" panose="020B0604020202020204" pitchFamily="34" charset="0"/>
              </a:rPr>
              <a:t>Solución de problemas: Procesos no estandarizados, sin seguimiento estructurado. </a:t>
            </a:r>
          </a:p>
          <a:p>
            <a:pPr marL="0" indent="0" algn="just">
              <a:lnSpc>
                <a:spcPct val="110000"/>
              </a:lnSpc>
              <a:buNone/>
            </a:pPr>
            <a:r>
              <a:rPr lang="es-PE" sz="2000" dirty="0">
                <a:latin typeface="Arial" panose="020B0604020202020204" pitchFamily="34" charset="0"/>
                <a:cs typeface="Arial" panose="020B0604020202020204" pitchFamily="34" charset="0"/>
              </a:rPr>
              <a:t>En la actualidad, las incidencias se gestionan a través de la mesa de ayuda, el proceso se realiza con diversos actores quienes asumen roles específicos para la atención, verificación y resolución de problemas, por lo general, cuando una incidencia no se puede solucionar se encuentra en estado de espera, en consecuencia, los usuarios se encuentran insatisfechos. </a:t>
            </a:r>
          </a:p>
          <a:p>
            <a:pPr marL="0" indent="0" algn="just">
              <a:lnSpc>
                <a:spcPct val="110000"/>
              </a:lnSpc>
              <a:buNone/>
            </a:pPr>
            <a:r>
              <a:rPr lang="es-419" sz="2000" dirty="0">
                <a:latin typeface="Arial" panose="020B0604020202020204" pitchFamily="34" charset="0"/>
                <a:cs typeface="Arial" panose="020B0604020202020204" pitchFamily="34" charset="0"/>
              </a:rPr>
              <a:t>Se busca reducir el encolamiento de tickets y mediante la automatización se realizará la clasificación de manera automática por lo que se pueden atender más solicitudes de tickets en menos tiempo y evitar que se acumulen</a:t>
            </a:r>
          </a:p>
          <a:p>
            <a:pPr marL="0" indent="0" algn="just">
              <a:lnSpc>
                <a:spcPct val="110000"/>
              </a:lnSpc>
              <a:buNone/>
            </a:pPr>
            <a:r>
              <a:rPr lang="es-419" sz="2000" dirty="0">
                <a:latin typeface="Arial" panose="020B0604020202020204" pitchFamily="34" charset="0"/>
                <a:cs typeface="Arial" panose="020B0604020202020204" pitchFamily="34" charset="0"/>
              </a:rPr>
              <a:t>En conclusión, se garantiza la mejora en cuanto al tiempo máximo de primera respuesta según los tiempos establecidos en el SLA.</a:t>
            </a:r>
          </a:p>
          <a:p>
            <a:pPr marL="0" indent="0" algn="just">
              <a:lnSpc>
                <a:spcPct val="110000"/>
              </a:lnSpc>
              <a:buNone/>
            </a:pPr>
            <a:endParaRPr lang="es-PE" sz="2000" dirty="0">
              <a:latin typeface="Arial" panose="020B0604020202020204" pitchFamily="34" charset="0"/>
              <a:cs typeface="Arial" panose="020B0604020202020204" pitchFamily="34" charset="0"/>
            </a:endParaRPr>
          </a:p>
          <a:p>
            <a:pPr marL="0" indent="0" algn="just">
              <a:buNone/>
            </a:pPr>
            <a:endParaRPr lang="es-419" sz="2000" dirty="0">
              <a:latin typeface="Arial" panose="020B0604020202020204" pitchFamily="34" charset="0"/>
              <a:cs typeface="Arial" panose="020B0604020202020204" pitchFamily="34" charset="0"/>
            </a:endParaRPr>
          </a:p>
          <a:p>
            <a:pPr algn="just"/>
            <a:endParaRPr lang="es-419" sz="1600" dirty="0"/>
          </a:p>
          <a:p>
            <a:pPr algn="just"/>
            <a:endParaRPr lang="es-419" sz="1600" dirty="0"/>
          </a:p>
          <a:p>
            <a:pPr algn="just"/>
            <a:endParaRPr lang="es-419" sz="1600" dirty="0"/>
          </a:p>
          <a:p>
            <a:pPr algn="just"/>
            <a:endParaRPr lang="es-419" sz="1600" dirty="0"/>
          </a:p>
          <a:p>
            <a:pPr marL="342900" indent="-342900" algn="just">
              <a:buFont typeface="+mj-lt"/>
              <a:buAutoNum type="arabicPeriod"/>
            </a:pPr>
            <a:endParaRPr lang="es-419" sz="1600" dirty="0"/>
          </a:p>
          <a:p>
            <a:pPr marL="342900" indent="-342900" algn="just">
              <a:buFont typeface="+mj-lt"/>
              <a:buAutoNum type="arabicPeriod"/>
            </a:pPr>
            <a:endParaRPr lang="es-419" sz="1600" dirty="0"/>
          </a:p>
          <a:p>
            <a:pPr marL="342900" indent="-342900" algn="just">
              <a:buFont typeface="+mj-lt"/>
              <a:buAutoNum type="arabicPeriod"/>
            </a:pPr>
            <a:endParaRPr lang="es-419" sz="1600" dirty="0"/>
          </a:p>
          <a:p>
            <a:pPr marL="342900" indent="-342900" algn="just">
              <a:buFont typeface="+mj-lt"/>
              <a:buAutoNum type="arabicPeriod"/>
            </a:pPr>
            <a:endParaRPr sz="1600" dirty="0"/>
          </a:p>
        </p:txBody>
      </p:sp>
    </p:spTree>
    <p:extLst>
      <p:ext uri="{BB962C8B-B14F-4D97-AF65-F5344CB8AC3E}">
        <p14:creationId xmlns:p14="http://schemas.microsoft.com/office/powerpoint/2010/main" val="8179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88FF-4E6F-5AB7-27C0-069C99A75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10649-2C74-CBAB-AD74-2723BDFB773B}"/>
              </a:ext>
            </a:extLst>
          </p:cNvPr>
          <p:cNvSpPr>
            <a:spLocks noGrp="1"/>
          </p:cNvSpPr>
          <p:nvPr>
            <p:ph type="title"/>
          </p:nvPr>
        </p:nvSpPr>
        <p:spPr>
          <a:xfrm>
            <a:off x="548298" y="6520"/>
            <a:ext cx="10886630" cy="1325563"/>
          </a:xfrm>
        </p:spPr>
        <p:txBody>
          <a:bodyPr>
            <a:normAutofit/>
          </a:bodyPr>
          <a:lstStyle/>
          <a:p>
            <a:r>
              <a:rPr lang="es-PE" sz="2800" b="1" dirty="0"/>
              <a:t>Solución 1: </a:t>
            </a:r>
            <a:r>
              <a:rPr lang="es-PE" sz="2800" b="1" dirty="0">
                <a:latin typeface="Arial" panose="020B0604020202020204" pitchFamily="34" charset="0"/>
                <a:cs typeface="Arial" panose="020B0604020202020204" pitchFamily="34" charset="0"/>
              </a:rPr>
              <a:t>Proceso de gestión de incidencias</a:t>
            </a:r>
            <a:endParaRPr lang="es-PE" sz="2800" b="1" dirty="0"/>
          </a:p>
        </p:txBody>
      </p:sp>
      <p:pic>
        <p:nvPicPr>
          <p:cNvPr id="4" name="Imagen 3">
            <a:extLst>
              <a:ext uri="{FF2B5EF4-FFF2-40B4-BE49-F238E27FC236}">
                <a16:creationId xmlns:a16="http://schemas.microsoft.com/office/drawing/2014/main" id="{F7A406AA-AD34-E886-903C-BBE407795075}"/>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A53BA5B7-8A7E-046B-F036-95180B516B39}"/>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a:solidFill>
                  <a:srgbClr val="C00000"/>
                </a:solidFill>
              </a:rPr>
              <a:t>2026-10</a:t>
            </a:r>
            <a:endParaRPr lang="es-PE" sz="1200" b="1">
              <a:solidFill>
                <a:srgbClr val="C00000"/>
              </a:solidFill>
            </a:endParaRPr>
          </a:p>
        </p:txBody>
      </p:sp>
      <p:sp>
        <p:nvSpPr>
          <p:cNvPr id="6" name="Marcador de contenido 5">
            <a:extLst>
              <a:ext uri="{FF2B5EF4-FFF2-40B4-BE49-F238E27FC236}">
                <a16:creationId xmlns:a16="http://schemas.microsoft.com/office/drawing/2014/main" id="{A6C729AB-96FB-A507-F384-9F077E5AF354}"/>
              </a:ext>
            </a:extLst>
          </p:cNvPr>
          <p:cNvSpPr>
            <a:spLocks noGrp="1"/>
          </p:cNvSpPr>
          <p:nvPr>
            <p:ph idx="1"/>
          </p:nvPr>
        </p:nvSpPr>
        <p:spPr>
          <a:xfrm>
            <a:off x="838200" y="1111072"/>
            <a:ext cx="10515600" cy="4351338"/>
          </a:xfrm>
        </p:spPr>
        <p:txBody>
          <a:bodyPr>
            <a:noAutofit/>
          </a:bodyPr>
          <a:lstStyle/>
          <a:p>
            <a:pPr marL="0" indent="0" algn="just">
              <a:buNone/>
            </a:pPr>
            <a:r>
              <a:rPr lang="es-419" sz="1400" dirty="0">
                <a:latin typeface="Arial" panose="020B0604020202020204" pitchFamily="34" charset="0"/>
                <a:cs typeface="Arial" panose="020B0604020202020204" pitchFamily="34" charset="0"/>
              </a:rPr>
              <a:t>Dolor:</a:t>
            </a:r>
          </a:p>
          <a:p>
            <a:pPr algn="just"/>
            <a:r>
              <a:rPr lang="es-419" sz="1400" dirty="0">
                <a:latin typeface="Arial" panose="020B0604020202020204" pitchFamily="34" charset="0"/>
                <a:cs typeface="Arial" panose="020B0604020202020204" pitchFamily="34" charset="0"/>
              </a:rPr>
              <a:t>Cuello de botella operativo</a:t>
            </a:r>
          </a:p>
          <a:p>
            <a:pPr algn="just"/>
            <a:r>
              <a:rPr lang="es-419" sz="1400" dirty="0">
                <a:latin typeface="Arial" panose="020B0604020202020204" pitchFamily="34" charset="0"/>
                <a:cs typeface="Arial" panose="020B0604020202020204" pitchFamily="34" charset="0"/>
              </a:rPr>
              <a:t>Mayores costos operativos</a:t>
            </a:r>
          </a:p>
          <a:p>
            <a:pPr algn="just"/>
            <a:r>
              <a:rPr lang="es-419" sz="1400" dirty="0">
                <a:latin typeface="Arial" panose="020B0604020202020204" pitchFamily="34" charset="0"/>
                <a:cs typeface="Arial" panose="020B0604020202020204" pitchFamily="34" charset="0"/>
              </a:rPr>
              <a:t>Gestión Manual</a:t>
            </a:r>
          </a:p>
          <a:p>
            <a:pPr algn="just"/>
            <a:r>
              <a:rPr lang="es-419" sz="1400" dirty="0">
                <a:latin typeface="Arial" panose="020B0604020202020204" pitchFamily="34" charset="0"/>
                <a:cs typeface="Arial" panose="020B0604020202020204" pitchFamily="34" charset="0"/>
              </a:rPr>
              <a:t>Mala gestión de prioridades sujeto a errores continuos</a:t>
            </a:r>
          </a:p>
          <a:p>
            <a:pPr marL="0" indent="0" algn="just">
              <a:buNone/>
            </a:pPr>
            <a:endParaRPr lang="es-419" sz="1400" dirty="0">
              <a:latin typeface="Arial" panose="020B0604020202020204" pitchFamily="34" charset="0"/>
              <a:cs typeface="Arial" panose="020B0604020202020204" pitchFamily="34" charset="0"/>
            </a:endParaRPr>
          </a:p>
          <a:p>
            <a:pPr marL="0" indent="0" algn="just">
              <a:buNone/>
            </a:pPr>
            <a:r>
              <a:rPr lang="es-419" sz="1400" dirty="0">
                <a:latin typeface="Arial" panose="020B0604020202020204" pitchFamily="34" charset="0"/>
                <a:cs typeface="Arial" panose="020B0604020202020204" pitchFamily="34" charset="0"/>
              </a:rPr>
              <a:t>Automatización:</a:t>
            </a:r>
          </a:p>
          <a:p>
            <a:pPr algn="just"/>
            <a:r>
              <a:rPr lang="es-419" sz="1400" dirty="0">
                <a:latin typeface="Arial" panose="020B0604020202020204" pitchFamily="34" charset="0"/>
                <a:cs typeface="Arial" panose="020B0604020202020204" pitchFamily="34" charset="0"/>
              </a:rPr>
              <a:t>Reducir el uso de recursos humanos</a:t>
            </a:r>
          </a:p>
          <a:p>
            <a:pPr algn="just"/>
            <a:r>
              <a:rPr lang="es-419" sz="1400" dirty="0">
                <a:latin typeface="Arial" panose="020B0604020202020204" pitchFamily="34" charset="0"/>
                <a:cs typeface="Arial" panose="020B0604020202020204" pitchFamily="34" charset="0"/>
              </a:rPr>
              <a:t>Reducir errores</a:t>
            </a:r>
          </a:p>
          <a:p>
            <a:pPr algn="just"/>
            <a:r>
              <a:rPr lang="es-PE" sz="1400" dirty="0">
                <a:latin typeface="Arial" panose="020B0604020202020204" pitchFamily="34" charset="0"/>
                <a:cs typeface="Arial" panose="020B0604020202020204" pitchFamily="34" charset="0"/>
              </a:rPr>
              <a:t>Escalamiento por SLA </a:t>
            </a:r>
          </a:p>
          <a:p>
            <a:r>
              <a:rPr lang="es-PE" sz="1400" dirty="0"/>
              <a:t>Mejora en la atención de incidencias</a:t>
            </a:r>
          </a:p>
          <a:p>
            <a:pPr marL="0" indent="0">
              <a:buNone/>
            </a:pPr>
            <a:endParaRPr lang="es-PE" sz="1400" dirty="0"/>
          </a:p>
          <a:p>
            <a:pPr marL="0" indent="0" algn="just">
              <a:buNone/>
            </a:pPr>
            <a:r>
              <a:rPr lang="es-419" sz="1400" dirty="0">
                <a:latin typeface="Arial" panose="020B0604020202020204" pitchFamily="34" charset="0"/>
                <a:cs typeface="Arial" panose="020B0604020202020204" pitchFamily="34" charset="0"/>
              </a:rPr>
              <a:t>Impacto:</a:t>
            </a:r>
          </a:p>
          <a:p>
            <a:pPr algn="just"/>
            <a:r>
              <a:rPr lang="es-419" sz="1400" dirty="0">
                <a:latin typeface="Arial" panose="020B0604020202020204" pitchFamily="34" charset="0"/>
                <a:cs typeface="Arial" panose="020B0604020202020204" pitchFamily="34" charset="0"/>
              </a:rPr>
              <a:t>Optimización de Horas hombre</a:t>
            </a:r>
          </a:p>
          <a:p>
            <a:pPr algn="just"/>
            <a:r>
              <a:rPr lang="es-419" sz="1400" dirty="0">
                <a:latin typeface="Arial" panose="020B0604020202020204" pitchFamily="34" charset="0"/>
                <a:cs typeface="Arial" panose="020B0604020202020204" pitchFamily="34" charset="0"/>
              </a:rPr>
              <a:t>Cumplimiento del SLA</a:t>
            </a:r>
          </a:p>
          <a:p>
            <a:pPr algn="just"/>
            <a:r>
              <a:rPr lang="es-419" sz="1400" dirty="0">
                <a:latin typeface="Arial" panose="020B0604020202020204" pitchFamily="34" charset="0"/>
                <a:cs typeface="Arial" panose="020B0604020202020204" pitchFamily="34" charset="0"/>
              </a:rPr>
              <a:t>Identificación de tendencias</a:t>
            </a:r>
          </a:p>
          <a:p>
            <a:pPr algn="just"/>
            <a:r>
              <a:rPr lang="es-419" sz="1400" dirty="0">
                <a:latin typeface="Arial" panose="020B0604020202020204" pitchFamily="34" charset="0"/>
                <a:cs typeface="Arial" panose="020B0604020202020204" pitchFamily="34" charset="0"/>
              </a:rPr>
              <a:t>Ahorro en gastos operativos</a:t>
            </a:r>
          </a:p>
          <a:p>
            <a:pPr marL="0" indent="0" algn="just">
              <a:buNone/>
            </a:pPr>
            <a:endParaRPr lang="es-419" sz="1400" dirty="0">
              <a:latin typeface="Arial" panose="020B0604020202020204" pitchFamily="34" charset="0"/>
              <a:cs typeface="Arial" panose="020B0604020202020204" pitchFamily="34" charset="0"/>
            </a:endParaRPr>
          </a:p>
          <a:p>
            <a:endParaRPr lang="es-PE" sz="1400" dirty="0"/>
          </a:p>
        </p:txBody>
      </p:sp>
    </p:spTree>
    <p:extLst>
      <p:ext uri="{BB962C8B-B14F-4D97-AF65-F5344CB8AC3E}">
        <p14:creationId xmlns:p14="http://schemas.microsoft.com/office/powerpoint/2010/main" val="3937705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C9990-D4EC-8D05-818A-0E19A9821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7C48E-EE55-3DEB-365E-0CE6ADBAD1AF}"/>
              </a:ext>
            </a:extLst>
          </p:cNvPr>
          <p:cNvSpPr>
            <a:spLocks noGrp="1"/>
          </p:cNvSpPr>
          <p:nvPr>
            <p:ph type="title"/>
          </p:nvPr>
        </p:nvSpPr>
        <p:spPr>
          <a:xfrm>
            <a:off x="838200" y="365125"/>
            <a:ext cx="10886630" cy="1325563"/>
          </a:xfrm>
        </p:spPr>
        <p:txBody>
          <a:bodyPr>
            <a:normAutofit/>
          </a:bodyPr>
          <a:lstStyle/>
          <a:p>
            <a:r>
              <a:rPr lang="es-PE" sz="2800" b="1" dirty="0"/>
              <a:t>Ejemplo 2: Proceso de matricula en una universidad privada</a:t>
            </a:r>
            <a:br>
              <a:rPr lang="es-PE" sz="2800" dirty="0"/>
            </a:br>
            <a:endParaRPr lang="es-PE" sz="2800" b="1" dirty="0"/>
          </a:p>
        </p:txBody>
      </p:sp>
      <p:sp>
        <p:nvSpPr>
          <p:cNvPr id="3" name="Content Placeholder 2">
            <a:extLst>
              <a:ext uri="{FF2B5EF4-FFF2-40B4-BE49-F238E27FC236}">
                <a16:creationId xmlns:a16="http://schemas.microsoft.com/office/drawing/2014/main" id="{8FB8565F-1BD1-03BA-CA85-43E83B64B43B}"/>
              </a:ext>
            </a:extLst>
          </p:cNvPr>
          <p:cNvSpPr>
            <a:spLocks noGrp="1"/>
          </p:cNvSpPr>
          <p:nvPr>
            <p:ph idx="1"/>
          </p:nvPr>
        </p:nvSpPr>
        <p:spPr>
          <a:xfrm>
            <a:off x="710610" y="1444651"/>
            <a:ext cx="10515600" cy="4351338"/>
          </a:xfrm>
        </p:spPr>
        <p:txBody>
          <a:bodyPr vert="horz" lIns="91440" tIns="45720" rIns="91440" bIns="45720" rtlCol="0" anchor="t">
            <a:normAutofit lnSpcReduction="10000"/>
          </a:bodyPr>
          <a:lstStyle/>
          <a:p>
            <a:pPr marL="0" indent="0" algn="just">
              <a:lnSpc>
                <a:spcPct val="110000"/>
              </a:lnSpc>
              <a:buNone/>
            </a:pPr>
            <a:r>
              <a:rPr lang="es-419" sz="2300" dirty="0">
                <a:latin typeface="Arial" panose="020B0604020202020204" pitchFamily="34" charset="0"/>
                <a:cs typeface="Arial" panose="020B0604020202020204" pitchFamily="34" charset="0"/>
              </a:rPr>
              <a:t>En una universidad privada del pais existen muchos procesos aún no resueltos, como problemas burocráticos, procesos documentarios realizados de forma manual, errores frecuentes, colapso de plataformas, colas largas, quejas por la lentitud del servicio por la pérdida de cupos en la matricula, problemas en los aplicativos de pagos.</a:t>
            </a:r>
          </a:p>
          <a:p>
            <a:pPr marL="0" indent="0" algn="just">
              <a:lnSpc>
                <a:spcPct val="110000"/>
              </a:lnSpc>
              <a:buNone/>
            </a:pPr>
            <a:r>
              <a:rPr lang="es-419" sz="2300" dirty="0">
                <a:latin typeface="Arial" panose="020B0604020202020204" pitchFamily="34" charset="0"/>
                <a:cs typeface="Arial" panose="020B0604020202020204" pitchFamily="34" charset="0"/>
              </a:rPr>
              <a:t>Esto genera malestar, baja productividad y bajo retorno económico.</a:t>
            </a:r>
          </a:p>
          <a:p>
            <a:pPr marL="0" indent="0" algn="just">
              <a:lnSpc>
                <a:spcPct val="110000"/>
              </a:lnSpc>
              <a:buNone/>
            </a:pPr>
            <a:r>
              <a:rPr lang="es-PE" sz="2400" dirty="0"/>
              <a:t>Proceso verificar datos: se verifica si la información entregada por el acudiente cumple con los lineamientos dados por la universidad. </a:t>
            </a:r>
          </a:p>
          <a:p>
            <a:pPr marL="0" indent="0" algn="just">
              <a:lnSpc>
                <a:spcPct val="110000"/>
              </a:lnSpc>
              <a:buNone/>
            </a:pPr>
            <a:r>
              <a:rPr lang="es-PE" sz="2400" dirty="0"/>
              <a:t>Llenar ficha de Inscripción: se realiza el registro en un libro de Excel con los datos personales del estudiante.</a:t>
            </a:r>
            <a:endParaRPr lang="es-419" sz="2300" dirty="0">
              <a:latin typeface="Arial" panose="020B0604020202020204" pitchFamily="34" charset="0"/>
              <a:cs typeface="Arial" panose="020B0604020202020204" pitchFamily="34" charset="0"/>
            </a:endParaRPr>
          </a:p>
          <a:p>
            <a:pPr marL="0" indent="0">
              <a:buNone/>
            </a:pPr>
            <a:endParaRPr lang="es-419" sz="3200" dirty="0">
              <a:latin typeface="Arial" panose="020B0604020202020204" pitchFamily="34" charset="0"/>
              <a:cs typeface="Arial" panose="020B0604020202020204" pitchFamily="34" charset="0"/>
            </a:endParaRPr>
          </a:p>
          <a:p>
            <a:pPr marL="342900" indent="-342900">
              <a:buFont typeface="+mj-lt"/>
              <a:buAutoNum type="arabicPeriod"/>
            </a:pPr>
            <a:endParaRPr sz="1600" dirty="0"/>
          </a:p>
        </p:txBody>
      </p:sp>
      <p:pic>
        <p:nvPicPr>
          <p:cNvPr id="4" name="Imagen 3">
            <a:extLst>
              <a:ext uri="{FF2B5EF4-FFF2-40B4-BE49-F238E27FC236}">
                <a16:creationId xmlns:a16="http://schemas.microsoft.com/office/drawing/2014/main" id="{692BD9CE-8A23-C422-CE56-57D2457BBC08}"/>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48385D27-E42C-A2F8-0AC4-5B4BBBB12D0F}"/>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a:solidFill>
                  <a:srgbClr val="C00000"/>
                </a:solidFill>
              </a:rPr>
              <a:t>2026-10</a:t>
            </a:r>
            <a:endParaRPr lang="es-PE" sz="1200" b="1">
              <a:solidFill>
                <a:srgbClr val="C00000"/>
              </a:solidFill>
            </a:endParaRPr>
          </a:p>
        </p:txBody>
      </p:sp>
    </p:spTree>
    <p:extLst>
      <p:ext uri="{BB962C8B-B14F-4D97-AF65-F5344CB8AC3E}">
        <p14:creationId xmlns:p14="http://schemas.microsoft.com/office/powerpoint/2010/main" val="52651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C9990-D4EC-8D05-818A-0E19A9821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7C48E-EE55-3DEB-365E-0CE6ADBAD1AF}"/>
              </a:ext>
            </a:extLst>
          </p:cNvPr>
          <p:cNvSpPr>
            <a:spLocks noGrp="1"/>
          </p:cNvSpPr>
          <p:nvPr>
            <p:ph type="title"/>
          </p:nvPr>
        </p:nvSpPr>
        <p:spPr>
          <a:xfrm>
            <a:off x="838200" y="365125"/>
            <a:ext cx="10886630" cy="1325563"/>
          </a:xfrm>
        </p:spPr>
        <p:txBody>
          <a:bodyPr>
            <a:normAutofit/>
          </a:bodyPr>
          <a:lstStyle/>
          <a:p>
            <a:r>
              <a:rPr lang="es-PE" sz="2800" b="1" dirty="0"/>
              <a:t>Solución  2: Proceso de matricula en una universidad privada</a:t>
            </a:r>
            <a:br>
              <a:rPr lang="es-PE" sz="2800" dirty="0"/>
            </a:br>
            <a:endParaRPr lang="es-PE" sz="2800" b="1" dirty="0"/>
          </a:p>
        </p:txBody>
      </p:sp>
      <p:sp>
        <p:nvSpPr>
          <p:cNvPr id="3" name="Content Placeholder 2">
            <a:extLst>
              <a:ext uri="{FF2B5EF4-FFF2-40B4-BE49-F238E27FC236}">
                <a16:creationId xmlns:a16="http://schemas.microsoft.com/office/drawing/2014/main" id="{8FB8565F-1BD1-03BA-CA85-43E83B64B43B}"/>
              </a:ext>
            </a:extLst>
          </p:cNvPr>
          <p:cNvSpPr>
            <a:spLocks noGrp="1"/>
          </p:cNvSpPr>
          <p:nvPr>
            <p:ph idx="1"/>
          </p:nvPr>
        </p:nvSpPr>
        <p:spPr>
          <a:xfrm>
            <a:off x="838200" y="1529712"/>
            <a:ext cx="10515600" cy="4351338"/>
          </a:xfrm>
        </p:spPr>
        <p:txBody>
          <a:bodyPr vert="horz" lIns="91440" tIns="45720" rIns="91440" bIns="45720" rtlCol="0" anchor="t">
            <a:noAutofit/>
          </a:bodyPr>
          <a:lstStyle/>
          <a:p>
            <a:pPr marL="0" indent="0" algn="just">
              <a:buNone/>
            </a:pPr>
            <a:r>
              <a:rPr lang="es-419" sz="2000" dirty="0">
                <a:latin typeface="Arial" panose="020B0604020202020204" pitchFamily="34" charset="0"/>
                <a:cs typeface="Arial" panose="020B0604020202020204" pitchFamily="34" charset="0"/>
              </a:rPr>
              <a:t>En una universidad privada existen muchos procesos aún no resueltos con puntos de dolor, </a:t>
            </a:r>
          </a:p>
          <a:p>
            <a:pPr marL="0" indent="0">
              <a:buNone/>
            </a:pPr>
            <a:r>
              <a:rPr lang="es-419" sz="2000" dirty="0">
                <a:latin typeface="Arial" panose="020B0604020202020204" pitchFamily="34" charset="0"/>
                <a:cs typeface="Arial" panose="020B0604020202020204" pitchFamily="34" charset="0"/>
              </a:rPr>
              <a:t>Dolor:</a:t>
            </a:r>
          </a:p>
          <a:p>
            <a:r>
              <a:rPr lang="es-419" sz="2000" dirty="0">
                <a:latin typeface="Arial" panose="020B0604020202020204" pitchFamily="34" charset="0"/>
                <a:cs typeface="Arial" panose="020B0604020202020204" pitchFamily="34" charset="0"/>
              </a:rPr>
              <a:t>Trámites manuales</a:t>
            </a:r>
          </a:p>
          <a:p>
            <a:r>
              <a:rPr lang="es-419" sz="2000" dirty="0">
                <a:latin typeface="Arial" panose="020B0604020202020204" pitchFamily="34" charset="0"/>
                <a:cs typeface="Arial" panose="020B0604020202020204" pitchFamily="34" charset="0"/>
              </a:rPr>
              <a:t>Errores en curso</a:t>
            </a:r>
          </a:p>
          <a:p>
            <a:r>
              <a:rPr lang="es-419" sz="2000" dirty="0">
                <a:latin typeface="Arial" panose="020B0604020202020204" pitchFamily="34" charset="0"/>
                <a:cs typeface="Arial" panose="020B0604020202020204" pitchFamily="34" charset="0"/>
              </a:rPr>
              <a:t>Colas y reclamos</a:t>
            </a:r>
          </a:p>
          <a:p>
            <a:pPr marL="0" indent="0">
              <a:buNone/>
            </a:pPr>
            <a:endParaRPr lang="es-419" sz="2000" dirty="0">
              <a:latin typeface="Arial" panose="020B0604020202020204" pitchFamily="34" charset="0"/>
              <a:cs typeface="Arial" panose="020B0604020202020204" pitchFamily="34" charset="0"/>
            </a:endParaRPr>
          </a:p>
          <a:p>
            <a:pPr marL="0" indent="0">
              <a:buNone/>
            </a:pPr>
            <a:r>
              <a:rPr lang="es-419" sz="2000" dirty="0">
                <a:latin typeface="Arial" panose="020B0604020202020204" pitchFamily="34" charset="0"/>
                <a:cs typeface="Arial" panose="020B0604020202020204" pitchFamily="34" charset="0"/>
              </a:rPr>
              <a:t>Automatización:</a:t>
            </a:r>
          </a:p>
          <a:p>
            <a:r>
              <a:rPr lang="es-419" sz="2000" dirty="0">
                <a:latin typeface="Arial" panose="020B0604020202020204" pitchFamily="34" charset="0"/>
                <a:cs typeface="Arial" panose="020B0604020202020204" pitchFamily="34" charset="0"/>
              </a:rPr>
              <a:t>Validación automática de requisitos</a:t>
            </a:r>
          </a:p>
          <a:p>
            <a:pPr marL="0" indent="0">
              <a:buNone/>
            </a:pPr>
            <a:endParaRPr lang="es-419" sz="2000" dirty="0">
              <a:latin typeface="Arial" panose="020B0604020202020204" pitchFamily="34" charset="0"/>
              <a:cs typeface="Arial" panose="020B0604020202020204" pitchFamily="34" charset="0"/>
            </a:endParaRPr>
          </a:p>
          <a:p>
            <a:pPr marL="0" indent="0">
              <a:buNone/>
            </a:pPr>
            <a:r>
              <a:rPr lang="es-419" sz="2000" dirty="0">
                <a:latin typeface="Arial" panose="020B0604020202020204" pitchFamily="34" charset="0"/>
                <a:cs typeface="Arial" panose="020B0604020202020204" pitchFamily="34" charset="0"/>
              </a:rPr>
              <a:t>Impacto:</a:t>
            </a:r>
          </a:p>
          <a:p>
            <a:r>
              <a:rPr lang="es-419" sz="2000" dirty="0">
                <a:latin typeface="Arial" panose="020B0604020202020204" pitchFamily="34" charset="0"/>
                <a:cs typeface="Arial" panose="020B0604020202020204" pitchFamily="34" charset="0"/>
              </a:rPr>
              <a:t>Eficiencia</a:t>
            </a:r>
          </a:p>
          <a:p>
            <a:r>
              <a:rPr lang="es-419" sz="2000" dirty="0">
                <a:latin typeface="Arial" panose="020B0604020202020204" pitchFamily="34" charset="0"/>
                <a:cs typeface="Arial" panose="020B0604020202020204" pitchFamily="34" charset="0"/>
              </a:rPr>
              <a:t>Sartisfacción del cliente</a:t>
            </a:r>
          </a:p>
          <a:p>
            <a:pPr marL="342900" indent="-342900">
              <a:buFont typeface="+mj-lt"/>
              <a:buAutoNum type="arabicPeriod"/>
            </a:pPr>
            <a:endParaRPr lang="es-419" sz="2000" dirty="0">
              <a:latin typeface="Arial" panose="020B0604020202020204" pitchFamily="34" charset="0"/>
              <a:cs typeface="Arial" panose="020B0604020202020204" pitchFamily="34" charset="0"/>
            </a:endParaRPr>
          </a:p>
          <a:p>
            <a:pPr marL="342900" indent="-342900">
              <a:buFont typeface="+mj-lt"/>
              <a:buAutoNum type="arabicPeriod"/>
            </a:pPr>
            <a:endParaRPr lang="es-419" sz="2000" dirty="0">
              <a:latin typeface="Arial" panose="020B0604020202020204" pitchFamily="34" charset="0"/>
              <a:cs typeface="Arial" panose="020B0604020202020204" pitchFamily="34" charset="0"/>
            </a:endParaRPr>
          </a:p>
          <a:p>
            <a:pPr marL="342900" indent="-342900">
              <a:buFont typeface="+mj-lt"/>
              <a:buAutoNum type="arabicPeriod"/>
            </a:pPr>
            <a:endParaRPr lang="es-419" sz="2000" dirty="0">
              <a:latin typeface="Arial" panose="020B0604020202020204" pitchFamily="34" charset="0"/>
              <a:cs typeface="Arial" panose="020B0604020202020204" pitchFamily="34" charset="0"/>
            </a:endParaRPr>
          </a:p>
          <a:p>
            <a:pPr marL="342900" indent="-342900">
              <a:buFont typeface="+mj-lt"/>
              <a:buAutoNum type="arabicPeriod"/>
            </a:pPr>
            <a:endParaRPr sz="200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692BD9CE-8A23-C422-CE56-57D2457BBC08}"/>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48385D27-E42C-A2F8-0AC4-5B4BBBB12D0F}"/>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a:solidFill>
                  <a:srgbClr val="C00000"/>
                </a:solidFill>
              </a:rPr>
              <a:t>2026-10</a:t>
            </a:r>
            <a:endParaRPr lang="es-PE" sz="1200" b="1">
              <a:solidFill>
                <a:srgbClr val="C00000"/>
              </a:solidFill>
            </a:endParaRPr>
          </a:p>
        </p:txBody>
      </p:sp>
    </p:spTree>
    <p:extLst>
      <p:ext uri="{BB962C8B-B14F-4D97-AF65-F5344CB8AC3E}">
        <p14:creationId xmlns:p14="http://schemas.microsoft.com/office/powerpoint/2010/main" val="13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6652-4A0B-54F1-EE15-6BEAB131F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1E352-1FCD-71B9-9C3F-6B50D537AF03}"/>
              </a:ext>
            </a:extLst>
          </p:cNvPr>
          <p:cNvSpPr>
            <a:spLocks noGrp="1"/>
          </p:cNvSpPr>
          <p:nvPr>
            <p:ph type="title"/>
          </p:nvPr>
        </p:nvSpPr>
        <p:spPr/>
        <p:txBody>
          <a:bodyPr>
            <a:normAutofit/>
          </a:bodyPr>
          <a:lstStyle/>
          <a:p>
            <a:br>
              <a:rPr lang="es-PE" dirty="0"/>
            </a:br>
            <a:endParaRPr lang="es-PE" b="1" dirty="0"/>
          </a:p>
        </p:txBody>
      </p:sp>
      <p:pic>
        <p:nvPicPr>
          <p:cNvPr id="4" name="Imagen 3">
            <a:extLst>
              <a:ext uri="{FF2B5EF4-FFF2-40B4-BE49-F238E27FC236}">
                <a16:creationId xmlns:a16="http://schemas.microsoft.com/office/drawing/2014/main" id="{88848299-8A18-B502-69E6-EED61FDF3B4D}"/>
              </a:ext>
            </a:extLst>
          </p:cNvPr>
          <p:cNvPicPr>
            <a:picLocks noChangeAspect="1"/>
          </p:cNvPicPr>
          <p:nvPr/>
        </p:nvPicPr>
        <p:blipFill>
          <a:blip r:embed="rId2"/>
          <a:stretch>
            <a:fillRect/>
          </a:stretch>
        </p:blipFill>
        <p:spPr>
          <a:xfrm>
            <a:off x="11434928" y="62360"/>
            <a:ext cx="603434" cy="606942"/>
          </a:xfrm>
          <a:prstGeom prst="rect">
            <a:avLst/>
          </a:prstGeom>
        </p:spPr>
      </p:pic>
      <p:sp>
        <p:nvSpPr>
          <p:cNvPr id="7" name="CuadroTexto 6">
            <a:extLst>
              <a:ext uri="{FF2B5EF4-FFF2-40B4-BE49-F238E27FC236}">
                <a16:creationId xmlns:a16="http://schemas.microsoft.com/office/drawing/2014/main" id="{D003922C-3EE4-0580-D3D5-EFD32E6E2A2F}"/>
              </a:ext>
            </a:extLst>
          </p:cNvPr>
          <p:cNvSpPr txBox="1"/>
          <p:nvPr/>
        </p:nvSpPr>
        <p:spPr>
          <a:xfrm>
            <a:off x="11385427" y="669302"/>
            <a:ext cx="728084" cy="276999"/>
          </a:xfrm>
          <a:prstGeom prst="rect">
            <a:avLst/>
          </a:prstGeom>
          <a:noFill/>
        </p:spPr>
        <p:txBody>
          <a:bodyPr wrap="none" lIns="91440" tIns="45720" rIns="91440" bIns="45720" rtlCol="0" anchor="t">
            <a:spAutoFit/>
          </a:bodyPr>
          <a:lstStyle/>
          <a:p>
            <a:r>
              <a:rPr lang="es-ES" sz="1200" b="1">
                <a:solidFill>
                  <a:srgbClr val="C00000"/>
                </a:solidFill>
              </a:rPr>
              <a:t>2026-10</a:t>
            </a:r>
            <a:endParaRPr lang="es-PE" sz="1200" b="1">
              <a:solidFill>
                <a:srgbClr val="C00000"/>
              </a:solidFill>
            </a:endParaRPr>
          </a:p>
        </p:txBody>
      </p:sp>
      <p:sp>
        <p:nvSpPr>
          <p:cNvPr id="3" name="CuadroTexto 2">
            <a:extLst>
              <a:ext uri="{FF2B5EF4-FFF2-40B4-BE49-F238E27FC236}">
                <a16:creationId xmlns:a16="http://schemas.microsoft.com/office/drawing/2014/main" id="{1DD01E76-33F6-69A2-D3FB-4EBCC48CF6CB}"/>
              </a:ext>
            </a:extLst>
          </p:cNvPr>
          <p:cNvSpPr txBox="1"/>
          <p:nvPr/>
        </p:nvSpPr>
        <p:spPr>
          <a:xfrm>
            <a:off x="5061097" y="3244334"/>
            <a:ext cx="4008475" cy="646331"/>
          </a:xfrm>
          <a:prstGeom prst="rect">
            <a:avLst/>
          </a:prstGeom>
          <a:noFill/>
        </p:spPr>
        <p:txBody>
          <a:bodyPr wrap="square" rtlCol="0">
            <a:spAutoFit/>
          </a:bodyPr>
          <a:lstStyle/>
          <a:p>
            <a:r>
              <a:rPr lang="es-PE" sz="3600" b="1" dirty="0"/>
              <a:t>GRACIAS</a:t>
            </a:r>
          </a:p>
        </p:txBody>
      </p:sp>
    </p:spTree>
    <p:extLst>
      <p:ext uri="{BB962C8B-B14F-4D97-AF65-F5344CB8AC3E}">
        <p14:creationId xmlns:p14="http://schemas.microsoft.com/office/powerpoint/2010/main" val="125404170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1691</TotalTime>
  <Words>484</Words>
  <Application>Microsoft Office PowerPoint</Application>
  <PresentationFormat>Widescreen</PresentationFormat>
  <Paragraphs>64</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Tema de Office</vt:lpstr>
      <vt:lpstr>Semana 9 - Sesión 2:   Ejercicios: Automatización de Procesos Empresariales  Entendimiento de la automatización como factor clave en la transformación digital para mejorar la calidad y eficiencia en las tareas diarias  </vt:lpstr>
      <vt:lpstr>Ejemplo 1: Proceso de implementación de una mesa de ayuda para mejorar la gestión de incidencias en una empresa de servicios de Software </vt:lpstr>
      <vt:lpstr>Solución 1: Proceso de gestión de incidencias</vt:lpstr>
      <vt:lpstr>Ejemplo 2: Proceso de matricula en una universidad privada </vt:lpstr>
      <vt:lpstr>Solución  2: Proceso de matricula en una universidad privada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9 - Sesión 2:   Ejercicios: Automatización de Procesos Empresariales  Entendimiento de la automatización como factor clave en la transformación digital para mejorar la calidad y eficiencia en las tareas diarias  </dc:title>
  <dc:creator/>
  <cp:lastModifiedBy>PCAPJLUN (LUNA SAAVEDRA, JESUS JAFET)</cp:lastModifiedBy>
  <cp:revision>648</cp:revision>
  <dcterms:created xsi:type="dcterms:W3CDTF">2026-02-27T03:44:33Z</dcterms:created>
  <dcterms:modified xsi:type="dcterms:W3CDTF">2026-05-25T13:27:13Z</dcterms:modified>
</cp:coreProperties>
</file>