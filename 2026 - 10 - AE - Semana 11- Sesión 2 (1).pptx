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handoutMasterIdLst>
    <p:handoutMasterId r:id="rId9"/>
  </p:handoutMasterIdLst>
  <p:sldIdLst>
    <p:sldId id="256" r:id="rId2"/>
    <p:sldId id="286" r:id="rId3"/>
    <p:sldId id="287" r:id="rId4"/>
    <p:sldId id="803" r:id="rId5"/>
    <p:sldId id="804" r:id="rId6"/>
    <p:sldId id="805"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66" autoAdjust="0"/>
    <p:restoredTop sz="93969" autoAdjust="0"/>
  </p:normalViewPr>
  <p:slideViewPr>
    <p:cSldViewPr snapToGrid="0" snapToObjects="1">
      <p:cViewPr varScale="1">
        <p:scale>
          <a:sx n="73" d="100"/>
          <a:sy n="73" d="100"/>
        </p:scale>
        <p:origin x="222" y="66"/>
      </p:cViewPr>
      <p:guideLst>
        <p:guide orient="horz" pos="2160"/>
        <p:guide pos="3840"/>
      </p:guideLst>
    </p:cSldViewPr>
  </p:slideViewPr>
  <p:notesTextViewPr>
    <p:cViewPr>
      <p:scale>
        <a:sx n="100" d="100"/>
        <a:sy n="100" d="100"/>
      </p:scale>
      <p:origin x="0" y="0"/>
    </p:cViewPr>
  </p:notesTextViewPr>
  <p:sorterViewPr>
    <p:cViewPr>
      <p:scale>
        <a:sx n="150" d="100"/>
        <a:sy n="150" d="100"/>
      </p:scale>
      <p:origin x="0" y="-27110"/>
    </p:cViewPr>
  </p:sorterViewPr>
  <p:notesViewPr>
    <p:cSldViewPr snapToGrid="0" snapToObjects="1" showGuides="1">
      <p:cViewPr>
        <p:scale>
          <a:sx n="200" d="100"/>
          <a:sy n="200" d="100"/>
        </p:scale>
        <p:origin x="163" y="-40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F003BA-13B3-8301-2535-FF62C8E2C86F}"/>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PE" dirty="0"/>
          </a:p>
        </p:txBody>
      </p:sp>
      <p:sp>
        <p:nvSpPr>
          <p:cNvPr id="3" name="Date Placeholder 2">
            <a:extLst>
              <a:ext uri="{FF2B5EF4-FFF2-40B4-BE49-F238E27FC236}">
                <a16:creationId xmlns:a16="http://schemas.microsoft.com/office/drawing/2014/main" id="{FD9A0A13-6527-06EE-2CA5-4B3A7E26E243}"/>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1DA8334B-9A39-4DCF-829B-E37B75A201A5}" type="datetimeFigureOut">
              <a:rPr lang="es-PE" smtClean="0"/>
              <a:t>7/06/2026</a:t>
            </a:fld>
            <a:endParaRPr lang="es-PE" dirty="0"/>
          </a:p>
        </p:txBody>
      </p:sp>
      <p:sp>
        <p:nvSpPr>
          <p:cNvPr id="4" name="Footer Placeholder 3">
            <a:extLst>
              <a:ext uri="{FF2B5EF4-FFF2-40B4-BE49-F238E27FC236}">
                <a16:creationId xmlns:a16="http://schemas.microsoft.com/office/drawing/2014/main" id="{A6C8386A-F93B-37CA-AA66-4D8B302A211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dirty="0"/>
          </a:p>
        </p:txBody>
      </p:sp>
      <p:sp>
        <p:nvSpPr>
          <p:cNvPr id="5" name="Slide Number Placeholder 4">
            <a:extLst>
              <a:ext uri="{FF2B5EF4-FFF2-40B4-BE49-F238E27FC236}">
                <a16:creationId xmlns:a16="http://schemas.microsoft.com/office/drawing/2014/main" id="{B4980DEB-CDB7-419A-E66C-EDE55AEA18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0AA71C-1270-43DA-AC2E-A01B11389541}" type="slidenum">
              <a:rPr lang="es-PE" smtClean="0"/>
              <a:t>‹Nº›</a:t>
            </a:fld>
            <a:endParaRPr lang="es-PE" dirty="0"/>
          </a:p>
        </p:txBody>
      </p:sp>
    </p:spTree>
    <p:extLst>
      <p:ext uri="{BB962C8B-B14F-4D97-AF65-F5344CB8AC3E}">
        <p14:creationId xmlns:p14="http://schemas.microsoft.com/office/powerpoint/2010/main" val="397545326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PE" dirty="0"/>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DD361DBC-C003-A040-803A-0A2A2487F6BB}" type="datetimeFigureOut">
              <a:rPr lang="es-PE" smtClean="0"/>
              <a:t>7/06/2026</a:t>
            </a:fld>
            <a:endParaRPr lang="es-PE"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dirty="0"/>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44E15-CFAE-F84D-80A8-E94B21C806A8}" type="slidenum">
              <a:rPr lang="es-PE" smtClean="0"/>
              <a:t>‹Nº›</a:t>
            </a:fld>
            <a:endParaRPr lang="es-PE" dirty="0"/>
          </a:p>
        </p:txBody>
      </p:sp>
    </p:spTree>
    <p:extLst>
      <p:ext uri="{BB962C8B-B14F-4D97-AF65-F5344CB8AC3E}">
        <p14:creationId xmlns:p14="http://schemas.microsoft.com/office/powerpoint/2010/main" val="3483383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6/7/2026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847852"/>
            <a:ext cx="12192000" cy="1752600"/>
          </a:xfrm>
        </p:spPr>
        <p:txBody>
          <a:bodyPr>
            <a:normAutofit/>
          </a:bodyPr>
          <a:lstStyle/>
          <a:p>
            <a:r>
              <a:rPr lang="es-PE" noProof="0" dirty="0"/>
              <a:t>Semana 11 - Sesión 02: </a:t>
            </a:r>
            <a:br>
              <a:rPr lang="es-PE" noProof="0" dirty="0"/>
            </a:br>
            <a:r>
              <a:rPr lang="es-PE" noProof="0" dirty="0"/>
              <a:t>Automatización Robotica de Procesos</a:t>
            </a:r>
          </a:p>
        </p:txBody>
      </p:sp>
      <p:sp>
        <p:nvSpPr>
          <p:cNvPr id="3" name="Subtitle 2"/>
          <p:cNvSpPr>
            <a:spLocks noGrp="1"/>
          </p:cNvSpPr>
          <p:nvPr>
            <p:ph type="subTitle" idx="1"/>
          </p:nvPr>
        </p:nvSpPr>
        <p:spPr/>
        <p:txBody>
          <a:bodyPr/>
          <a:lstStyle/>
          <a:p>
            <a:r>
              <a:rPr lang="es-PE" noProof="0" dirty="0"/>
              <a:t>Curso: Arquitectura Empresarial</a:t>
            </a:r>
          </a:p>
          <a:p>
            <a:r>
              <a:rPr lang="es-PE" dirty="0"/>
              <a:t>Programa: Ingeniería de Sistemas de Información</a:t>
            </a:r>
            <a:endParaRPr lang="es-PE" noProof="0" dirty="0"/>
          </a:p>
        </p:txBody>
      </p:sp>
      <p:pic>
        <p:nvPicPr>
          <p:cNvPr id="5" name="Imagen 4">
            <a:extLst>
              <a:ext uri="{FF2B5EF4-FFF2-40B4-BE49-F238E27FC236}">
                <a16:creationId xmlns:a16="http://schemas.microsoft.com/office/drawing/2014/main" id="{B8DD8B53-BB02-BB44-2662-2617F276EDE2}"/>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FF7D5F28-A033-2D8B-4FA1-EA17949EE036}"/>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A3994-5864-9E92-AE38-35BAF92A1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A0EFF-652E-2127-62B7-17D3CC862A1E}"/>
              </a:ext>
            </a:extLst>
          </p:cNvPr>
          <p:cNvSpPr>
            <a:spLocks noGrp="1"/>
          </p:cNvSpPr>
          <p:nvPr>
            <p:ph type="title"/>
          </p:nvPr>
        </p:nvSpPr>
        <p:spPr/>
        <p:txBody>
          <a:bodyPr>
            <a:normAutofit/>
          </a:bodyPr>
          <a:lstStyle/>
          <a:p>
            <a:r>
              <a:rPr lang="es-ES" dirty="0"/>
              <a:t>Agenda</a:t>
            </a:r>
            <a:endParaRPr dirty="0"/>
          </a:p>
        </p:txBody>
      </p:sp>
      <p:sp>
        <p:nvSpPr>
          <p:cNvPr id="3" name="Content Placeholder 2">
            <a:extLst>
              <a:ext uri="{FF2B5EF4-FFF2-40B4-BE49-F238E27FC236}">
                <a16:creationId xmlns:a16="http://schemas.microsoft.com/office/drawing/2014/main" id="{25995D9A-6D07-9D19-6897-4EB5138D3A4C}"/>
              </a:ext>
            </a:extLst>
          </p:cNvPr>
          <p:cNvSpPr>
            <a:spLocks noGrp="1"/>
          </p:cNvSpPr>
          <p:nvPr>
            <p:ph idx="1"/>
          </p:nvPr>
        </p:nvSpPr>
        <p:spPr>
          <a:xfrm>
            <a:off x="609600" y="1812302"/>
            <a:ext cx="10972800" cy="4525963"/>
          </a:xfrm>
        </p:spPr>
        <p:txBody>
          <a:bodyPr>
            <a:normAutofit/>
          </a:bodyPr>
          <a:lstStyle/>
          <a:p>
            <a:pPr marL="0" indent="0">
              <a:buNone/>
            </a:pPr>
            <a:endParaRPr lang="es-MX" sz="2400" dirty="0">
              <a:latin typeface="Aptos" panose="020B0004020202020204" pitchFamily="34" charset="0"/>
            </a:endParaRPr>
          </a:p>
          <a:p>
            <a:pPr algn="l"/>
            <a:r>
              <a:rPr lang="es-MX" sz="2400" dirty="0">
                <a:latin typeface="Aptos" panose="020B0004020202020204" pitchFamily="34" charset="0"/>
              </a:rPr>
              <a:t>Caso: </a:t>
            </a:r>
            <a:r>
              <a:rPr lang="es-PE" altLang="es-PE" sz="2400" dirty="0">
                <a:latin typeface="Aptos" panose="020B0004020202020204" pitchFamily="34" charset="0"/>
              </a:rPr>
              <a:t>Sistema Inteligente de Gestión de Proyectos de Investigación Académica </a:t>
            </a:r>
            <a:r>
              <a:rPr lang="es-MX" sz="2400" dirty="0">
                <a:latin typeface="Aptos" panose="020B0004020202020204" pitchFamily="34" charset="0"/>
              </a:rPr>
              <a:t>con Power Automate</a:t>
            </a:r>
            <a:endParaRPr lang="es-ES" sz="2400" dirty="0">
              <a:latin typeface="Aptos" panose="020B0004020202020204" pitchFamily="34" charset="0"/>
            </a:endParaRPr>
          </a:p>
        </p:txBody>
      </p:sp>
      <p:pic>
        <p:nvPicPr>
          <p:cNvPr id="5" name="Imagen 4">
            <a:extLst>
              <a:ext uri="{FF2B5EF4-FFF2-40B4-BE49-F238E27FC236}">
                <a16:creationId xmlns:a16="http://schemas.microsoft.com/office/drawing/2014/main" id="{839F051E-C08B-7174-9F3F-077FAAC60897}"/>
              </a:ext>
            </a:extLst>
          </p:cNvPr>
          <p:cNvPicPr>
            <a:picLocks noChangeAspect="1"/>
          </p:cNvPicPr>
          <p:nvPr/>
        </p:nvPicPr>
        <p:blipFill>
          <a:blip r:embed="rId2"/>
          <a:stretch>
            <a:fillRect/>
          </a:stretch>
        </p:blipFill>
        <p:spPr>
          <a:xfrm>
            <a:off x="11434928" y="99641"/>
            <a:ext cx="603434" cy="606942"/>
          </a:xfrm>
          <a:prstGeom prst="rect">
            <a:avLst/>
          </a:prstGeom>
        </p:spPr>
      </p:pic>
      <p:sp>
        <p:nvSpPr>
          <p:cNvPr id="4" name="CuadroTexto 3">
            <a:extLst>
              <a:ext uri="{FF2B5EF4-FFF2-40B4-BE49-F238E27FC236}">
                <a16:creationId xmlns:a16="http://schemas.microsoft.com/office/drawing/2014/main" id="{72CB002B-18F4-DA84-D9B8-572F429820C1}"/>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Tree>
    <p:extLst>
      <p:ext uri="{BB962C8B-B14F-4D97-AF65-F5344CB8AC3E}">
        <p14:creationId xmlns:p14="http://schemas.microsoft.com/office/powerpoint/2010/main" val="601510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61EC0-8262-8477-A042-15FC6570F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32FCC-9C04-8051-2B0C-F044007C8A5F}"/>
              </a:ext>
            </a:extLst>
          </p:cNvPr>
          <p:cNvSpPr>
            <a:spLocks noGrp="1"/>
          </p:cNvSpPr>
          <p:nvPr>
            <p:ph type="title"/>
          </p:nvPr>
        </p:nvSpPr>
        <p:spPr/>
        <p:txBody>
          <a:bodyPr>
            <a:normAutofit/>
          </a:bodyPr>
          <a:lstStyle/>
          <a:p>
            <a:r>
              <a:rPr lang="es-ES" dirty="0"/>
              <a:t>Logros</a:t>
            </a:r>
            <a:endParaRPr dirty="0"/>
          </a:p>
        </p:txBody>
      </p:sp>
      <p:sp>
        <p:nvSpPr>
          <p:cNvPr id="3" name="Content Placeholder 2">
            <a:extLst>
              <a:ext uri="{FF2B5EF4-FFF2-40B4-BE49-F238E27FC236}">
                <a16:creationId xmlns:a16="http://schemas.microsoft.com/office/drawing/2014/main" id="{9E894D74-409A-31F7-A8ED-E93568E5F263}"/>
              </a:ext>
            </a:extLst>
          </p:cNvPr>
          <p:cNvSpPr>
            <a:spLocks noGrp="1"/>
          </p:cNvSpPr>
          <p:nvPr>
            <p:ph idx="1"/>
          </p:nvPr>
        </p:nvSpPr>
        <p:spPr/>
        <p:txBody>
          <a:bodyPr>
            <a:normAutofit/>
          </a:bodyPr>
          <a:lstStyle/>
          <a:p>
            <a:pPr marL="0" indent="0">
              <a:buNone/>
            </a:pPr>
            <a:r>
              <a:rPr lang="es-ES" sz="2600" dirty="0">
                <a:latin typeface="+mj-lt"/>
              </a:rPr>
              <a:t>Al finalizar la sesión, el alumno será capaz de:</a:t>
            </a:r>
          </a:p>
          <a:p>
            <a:pPr marL="0" indent="0">
              <a:buNone/>
            </a:pPr>
            <a:endParaRPr lang="es-ES" sz="2600" dirty="0">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2600" b="0" i="0" u="none" strike="noStrike" cap="none" normalizeH="0" baseline="0" dirty="0">
                <a:ln>
                  <a:noFill/>
                </a:ln>
                <a:solidFill>
                  <a:schemeClr val="tx1"/>
                </a:solidFill>
                <a:effectLst/>
                <a:latin typeface="+mj-lt"/>
              </a:rPr>
              <a:t> Aplicar Microsoft Power Automate en la resolución de un caso práctico.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PE" altLang="es-PE"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PE" altLang="es-PE" sz="2400" b="0" i="0" u="none" strike="noStrike" cap="none" normalizeH="0" baseline="0" dirty="0">
              <a:ln>
                <a:noFill/>
              </a:ln>
              <a:solidFill>
                <a:schemeClr val="tx1"/>
              </a:solidFill>
              <a:effectLst/>
              <a:latin typeface="Arial" panose="020B0604020202020204" pitchFamily="34" charset="0"/>
            </a:endParaRPr>
          </a:p>
          <a:p>
            <a:endParaRPr lang="es-MX" sz="2400" dirty="0">
              <a:latin typeface="Aptos" panose="020B0004020202020204" pitchFamily="34" charset="0"/>
            </a:endParaRPr>
          </a:p>
          <a:p>
            <a:endParaRPr sz="2400" dirty="0">
              <a:latin typeface="Aptos" panose="020B0004020202020204" pitchFamily="34" charset="0"/>
            </a:endParaRPr>
          </a:p>
        </p:txBody>
      </p:sp>
      <p:pic>
        <p:nvPicPr>
          <p:cNvPr id="5" name="Imagen 4">
            <a:extLst>
              <a:ext uri="{FF2B5EF4-FFF2-40B4-BE49-F238E27FC236}">
                <a16:creationId xmlns:a16="http://schemas.microsoft.com/office/drawing/2014/main" id="{92204C67-55EC-D15A-D74E-67D1C6323B28}"/>
              </a:ext>
            </a:extLst>
          </p:cNvPr>
          <p:cNvPicPr>
            <a:picLocks noChangeAspect="1"/>
          </p:cNvPicPr>
          <p:nvPr/>
        </p:nvPicPr>
        <p:blipFill>
          <a:blip r:embed="rId2"/>
          <a:stretch>
            <a:fillRect/>
          </a:stretch>
        </p:blipFill>
        <p:spPr>
          <a:xfrm>
            <a:off x="11434928" y="99641"/>
            <a:ext cx="603434" cy="606942"/>
          </a:xfrm>
          <a:prstGeom prst="rect">
            <a:avLst/>
          </a:prstGeom>
        </p:spPr>
      </p:pic>
      <p:sp>
        <p:nvSpPr>
          <p:cNvPr id="4" name="CuadroTexto 3">
            <a:extLst>
              <a:ext uri="{FF2B5EF4-FFF2-40B4-BE49-F238E27FC236}">
                <a16:creationId xmlns:a16="http://schemas.microsoft.com/office/drawing/2014/main" id="{228D68DA-577A-CF40-23F7-A296862AF05F}"/>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Tree>
    <p:extLst>
      <p:ext uri="{BB962C8B-B14F-4D97-AF65-F5344CB8AC3E}">
        <p14:creationId xmlns:p14="http://schemas.microsoft.com/office/powerpoint/2010/main" val="1305179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0798E-698E-E059-1746-D6B49AEBA9C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DBF883B-8B95-98BC-9334-E61FAEE2D23F}"/>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AC7D6706-9A99-8487-2EA2-009D65D08465}"/>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9" name="Rectangle 2">
            <a:extLst>
              <a:ext uri="{FF2B5EF4-FFF2-40B4-BE49-F238E27FC236}">
                <a16:creationId xmlns:a16="http://schemas.microsoft.com/office/drawing/2014/main" id="{A1E90D5E-FE6B-584A-2EB7-927FCF1FF11A}"/>
              </a:ext>
            </a:extLst>
          </p:cNvPr>
          <p:cNvSpPr>
            <a:spLocks noChangeArrowheads="1"/>
          </p:cNvSpPr>
          <p:nvPr/>
        </p:nvSpPr>
        <p:spPr bwMode="auto">
          <a:xfrm>
            <a:off x="-2909538" y="1421948"/>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44257AD5-8ACE-1FC9-0334-C97218761A7E}"/>
              </a:ext>
            </a:extLst>
          </p:cNvPr>
          <p:cNvSpPr>
            <a:spLocks noChangeArrowheads="1"/>
          </p:cNvSpPr>
          <p:nvPr/>
        </p:nvSpPr>
        <p:spPr bwMode="auto">
          <a:xfrm>
            <a:off x="0" y="-261610"/>
            <a:ext cx="216726"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000" b="0" i="0" u="none" strike="noStrike" cap="none" normalizeH="0" baseline="0" dirty="0">
                <a:ln>
                  <a:noFill/>
                </a:ln>
                <a:solidFill>
                  <a:srgbClr val="303030"/>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sp>
        <p:nvSpPr>
          <p:cNvPr id="8" name="Title 1">
            <a:extLst>
              <a:ext uri="{FF2B5EF4-FFF2-40B4-BE49-F238E27FC236}">
                <a16:creationId xmlns:a16="http://schemas.microsoft.com/office/drawing/2014/main" id="{0516D30C-F9EC-72B5-A1EA-4153679BE17B}"/>
              </a:ext>
            </a:extLst>
          </p:cNvPr>
          <p:cNvSpPr txBox="1">
            <a:spLocks/>
          </p:cNvSpPr>
          <p:nvPr/>
        </p:nvSpPr>
        <p:spPr>
          <a:xfrm>
            <a:off x="216726" y="576010"/>
            <a:ext cx="12192000" cy="790048"/>
          </a:xfrm>
          <a:prstGeom prst="rect">
            <a:avLst/>
          </a:prstGeom>
        </p:spPr>
        <p:txBody>
          <a:bodyPr vert="horz" lIns="91440" tIns="45720" rIns="91440" bIns="45720" rtlCol="0" anchor="ctr">
            <a:normAutofit fontScale="6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dirty="0"/>
              <a:t>Caso de Uso 2: </a:t>
            </a:r>
            <a:r>
              <a:rPr lang="es-PE" altLang="es-PE" dirty="0">
                <a:latin typeface="Arial" panose="020B0604020202020204" pitchFamily="34" charset="0"/>
              </a:rPr>
              <a:t>Sistema Inteligente de Gestión de Proyectos de </a:t>
            </a:r>
          </a:p>
          <a:p>
            <a:pPr algn="l"/>
            <a:r>
              <a:rPr lang="es-PE" altLang="es-PE" dirty="0">
                <a:latin typeface="Arial" panose="020B0604020202020204" pitchFamily="34" charset="0"/>
              </a:rPr>
              <a:t>Investigación Académica</a:t>
            </a:r>
          </a:p>
          <a:p>
            <a:pPr algn="l"/>
            <a:endParaRPr lang="es-ES" dirty="0"/>
          </a:p>
        </p:txBody>
      </p:sp>
      <p:sp>
        <p:nvSpPr>
          <p:cNvPr id="2" name="Rectangle 1">
            <a:extLst>
              <a:ext uri="{FF2B5EF4-FFF2-40B4-BE49-F238E27FC236}">
                <a16:creationId xmlns:a16="http://schemas.microsoft.com/office/drawing/2014/main" id="{56214820-BADD-FE07-CA6B-1460995BEB32}"/>
              </a:ext>
            </a:extLst>
          </p:cNvPr>
          <p:cNvSpPr>
            <a:spLocks noChangeArrowheads="1"/>
          </p:cNvSpPr>
          <p:nvPr/>
        </p:nvSpPr>
        <p:spPr bwMode="auto">
          <a:xfrm>
            <a:off x="216725" y="1475435"/>
            <a:ext cx="11871137" cy="517064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600" b="1" i="0" u="none" strike="noStrike" cap="none" normalizeH="0" baseline="0" dirty="0">
                <a:ln>
                  <a:noFill/>
                </a:ln>
                <a:solidFill>
                  <a:schemeClr val="tx1"/>
                </a:solidFill>
                <a:effectLst/>
                <a:latin typeface="Aptos" panose="020B0004020202020204" pitchFamily="34" charset="0"/>
              </a:rPr>
              <a:t>1. El Escenario (Problemática)</a:t>
            </a:r>
          </a:p>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600" b="0" i="0" u="none" strike="noStrike" cap="none" normalizeH="0" baseline="0" dirty="0">
                <a:ln>
                  <a:noFill/>
                </a:ln>
                <a:solidFill>
                  <a:schemeClr val="tx1"/>
                </a:solidFill>
                <a:effectLst/>
                <a:latin typeface="Aptos" panose="020B0004020202020204" pitchFamily="34" charset="0"/>
              </a:rPr>
              <a:t>Actualmente, la Facultad de Ingeniería recibe propuestas de proyectos de investigación vía correo electrónico. Los coordinadores deben:</a:t>
            </a:r>
          </a:p>
          <a:p>
            <a:pPr lvl="1" defTabSz="914400" eaLnBrk="0" fontAlgn="base" hangingPunct="0">
              <a:spcBef>
                <a:spcPct val="0"/>
              </a:spcBef>
              <a:spcAft>
                <a:spcPct val="0"/>
              </a:spcAft>
              <a:buFontTx/>
              <a:buAutoNum type="arabicPeriod"/>
            </a:pPr>
            <a:r>
              <a:rPr kumimoji="0" lang="es-PE" altLang="es-PE" sz="1600" b="0" i="0" u="none" strike="noStrike" cap="none" normalizeH="0" baseline="0" dirty="0">
                <a:ln>
                  <a:noFill/>
                </a:ln>
                <a:effectLst/>
                <a:latin typeface="Aptos" panose="020B0004020202020204" pitchFamily="34" charset="0"/>
              </a:rPr>
              <a:t>Descargar manualmente el documento de la propuesta.</a:t>
            </a:r>
          </a:p>
          <a:p>
            <a:pPr lvl="1" defTabSz="914400" eaLnBrk="0" fontAlgn="base" hangingPunct="0">
              <a:spcBef>
                <a:spcPct val="0"/>
              </a:spcBef>
              <a:spcAft>
                <a:spcPct val="0"/>
              </a:spcAft>
              <a:buFontTx/>
              <a:buAutoNum type="arabicPeriod" startAt="2"/>
            </a:pPr>
            <a:r>
              <a:rPr kumimoji="0" lang="es-PE" altLang="es-PE" sz="1600" b="0" i="0" u="none" strike="noStrike" cap="none" normalizeH="0" baseline="0" dirty="0">
                <a:ln>
                  <a:noFill/>
                </a:ln>
                <a:effectLst/>
                <a:latin typeface="Aptos" panose="020B0004020202020204" pitchFamily="34" charset="0"/>
              </a:rPr>
              <a:t>Registrar los datos del alumno en una base de datos.</a:t>
            </a:r>
          </a:p>
          <a:p>
            <a:pPr lvl="1" defTabSz="914400" eaLnBrk="0" fontAlgn="base" hangingPunct="0">
              <a:spcBef>
                <a:spcPct val="0"/>
              </a:spcBef>
              <a:spcAft>
                <a:spcPct val="0"/>
              </a:spcAft>
              <a:buFontTx/>
              <a:buAutoNum type="arabicPeriod" startAt="3"/>
            </a:pPr>
            <a:r>
              <a:rPr kumimoji="0" lang="es-PE" altLang="es-PE" sz="1600" b="0" i="0" u="none" strike="noStrike" cap="none" normalizeH="0" baseline="0" dirty="0">
                <a:ln>
                  <a:noFill/>
                </a:ln>
                <a:effectLst/>
                <a:latin typeface="Aptos" panose="020B0004020202020204" pitchFamily="34" charset="0"/>
              </a:rPr>
              <a:t>Notificar al equipo revisor por Microsoft Teams.</a:t>
            </a:r>
          </a:p>
          <a:p>
            <a:pPr lvl="1" defTabSz="914400" eaLnBrk="0" fontAlgn="base" hangingPunct="0">
              <a:spcBef>
                <a:spcPct val="0"/>
              </a:spcBef>
              <a:spcAft>
                <a:spcPct val="0"/>
              </a:spcAft>
              <a:buFontTx/>
              <a:buAutoNum type="arabicPeriod" startAt="4"/>
            </a:pPr>
            <a:r>
              <a:rPr kumimoji="0" lang="es-PE" altLang="es-PE" sz="1600" b="0" i="0" u="none" strike="noStrike" cap="none" normalizeH="0" baseline="0" dirty="0">
                <a:ln>
                  <a:noFill/>
                </a:ln>
                <a:effectLst/>
                <a:latin typeface="Aptos" panose="020B0004020202020204" pitchFamily="34" charset="0"/>
              </a:rPr>
              <a:t>Gestionar la aprobación del decano.</a:t>
            </a:r>
          </a:p>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600" b="0" i="0" u="none" strike="noStrike" cap="none" normalizeH="0" baseline="0" dirty="0">
                <a:ln>
                  <a:noFill/>
                </a:ln>
                <a:effectLst/>
                <a:latin typeface="Aptos" panose="020B0004020202020204" pitchFamily="34" charset="0"/>
              </a:rPr>
              <a:t>Este proceso manual consume tiempo que los docentes deberían dedicar al "trabajo real" y estratégico.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600" b="1" i="0" u="none" strike="noStrike" cap="none" normalizeH="0" baseline="0" dirty="0">
              <a:ln>
                <a:noFill/>
              </a:ln>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600" b="1" i="0" u="none" strike="noStrike" cap="none" normalizeH="0" baseline="0" dirty="0">
                <a:ln>
                  <a:noFill/>
                </a:ln>
                <a:effectLst/>
                <a:latin typeface="Aptos" panose="020B0004020202020204" pitchFamily="34" charset="0"/>
              </a:rPr>
              <a:t>2. Arquitectura de la Solución (El Flujo)</a:t>
            </a:r>
          </a:p>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600" b="0" i="0" u="none" strike="noStrike" cap="none" normalizeH="0" baseline="0" dirty="0">
                <a:ln>
                  <a:noFill/>
                </a:ln>
                <a:effectLst/>
                <a:latin typeface="Aptos" panose="020B0004020202020204" pitchFamily="34" charset="0"/>
              </a:rPr>
              <a:t>Los alumnos construirán un flujo automatizado que conecte cuatro servicios mediante </a:t>
            </a:r>
            <a:r>
              <a:rPr kumimoji="0" lang="es-PE" altLang="es-PE" sz="1600" b="1" i="0" u="none" strike="noStrike" cap="none" normalizeH="0" baseline="0" dirty="0">
                <a:ln>
                  <a:noFill/>
                </a:ln>
                <a:effectLst/>
                <a:latin typeface="Aptos" panose="020B0004020202020204" pitchFamily="34" charset="0"/>
              </a:rPr>
              <a:t>disparadores y acciones</a:t>
            </a:r>
            <a:r>
              <a:rPr kumimoji="0" lang="es-PE" altLang="es-PE" sz="1600" b="0" i="0" u="none" strike="noStrike" cap="none" normalizeH="0" baseline="0" dirty="0">
                <a:ln>
                  <a:noFill/>
                </a:ln>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600" b="0" i="0" u="none" strike="noStrike" cap="none" normalizeH="0" baseline="0" dirty="0">
              <a:ln>
                <a:noFill/>
              </a:ln>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1600" b="1" i="0" u="none" strike="noStrike" cap="none" normalizeH="0" baseline="0" dirty="0">
                <a:ln>
                  <a:noFill/>
                </a:ln>
                <a:effectLst/>
                <a:latin typeface="Aptos" panose="020B0004020202020204" pitchFamily="34" charset="0"/>
              </a:rPr>
              <a:t>Trigger (Disparador):</a:t>
            </a:r>
            <a:r>
              <a:rPr kumimoji="0" lang="es-PE" altLang="es-PE" sz="1600" b="0" i="0" u="none" strike="noStrike" cap="none" normalizeH="0" baseline="0" dirty="0">
                <a:ln>
                  <a:noFill/>
                </a:ln>
                <a:effectLst/>
                <a:latin typeface="Aptos" panose="020B0004020202020204" pitchFamily="34" charset="0"/>
              </a:rPr>
              <a:t> Recepción de un correo en Outlook con el asunto "Propuesta Proyecto".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1600" b="1" i="0" u="none" strike="noStrike" cap="none" normalizeH="0" baseline="0" dirty="0">
                <a:ln>
                  <a:noFill/>
                </a:ln>
                <a:effectLst/>
                <a:latin typeface="Aptos" panose="020B0004020202020204" pitchFamily="34" charset="0"/>
              </a:rPr>
              <a:t>Acción 1 (Almacenamiento):</a:t>
            </a:r>
            <a:r>
              <a:rPr kumimoji="0" lang="es-PE" altLang="es-PE" sz="1600" b="0" i="0" u="none" strike="noStrike" cap="none" normalizeH="0" baseline="0" dirty="0">
                <a:ln>
                  <a:noFill/>
                </a:ln>
                <a:effectLst/>
                <a:latin typeface="Aptos" panose="020B0004020202020204" pitchFamily="34" charset="0"/>
              </a:rPr>
              <a:t> Guardar automáticamente el archivo adjunto en una carpeta específica de </a:t>
            </a:r>
            <a:r>
              <a:rPr kumimoji="0" lang="es-PE" altLang="es-PE" sz="1600" b="1" i="0" u="none" strike="noStrike" cap="none" normalizeH="0" baseline="0" dirty="0">
                <a:ln>
                  <a:noFill/>
                </a:ln>
                <a:effectLst/>
                <a:latin typeface="Aptos" panose="020B0004020202020204" pitchFamily="34" charset="0"/>
              </a:rPr>
              <a:t>SharePoint</a:t>
            </a:r>
            <a:r>
              <a:rPr kumimoji="0" lang="es-PE" altLang="es-PE" sz="1600" b="0" i="0" u="none" strike="noStrike" cap="none" normalizeH="0" baseline="0" dirty="0">
                <a:ln>
                  <a:noFill/>
                </a:ln>
                <a:effectLst/>
                <a:latin typeface="Aptos" panose="020B0004020202020204" pitchFamily="34" charset="0"/>
              </a:rPr>
              <a:t> o OneDrive.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1600" b="1" i="0" u="none" strike="noStrike" cap="none" normalizeH="0" baseline="0" dirty="0">
                <a:ln>
                  <a:noFill/>
                </a:ln>
                <a:effectLst/>
                <a:latin typeface="Aptos" panose="020B0004020202020204" pitchFamily="34" charset="0"/>
              </a:rPr>
              <a:t>Acción 2 (Datos):</a:t>
            </a:r>
            <a:r>
              <a:rPr kumimoji="0" lang="es-PE" altLang="es-PE" sz="1600" b="0" i="0" u="none" strike="noStrike" cap="none" normalizeH="0" baseline="0" dirty="0">
                <a:ln>
                  <a:noFill/>
                </a:ln>
                <a:effectLst/>
                <a:latin typeface="Aptos" panose="020B0004020202020204" pitchFamily="34" charset="0"/>
              </a:rPr>
              <a:t> Crear una nueva lista de SharePoint) con el nombre del alumno y la fecha de recepción.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1600" b="1" i="0" u="none" strike="noStrike" cap="none" normalizeH="0" baseline="0" dirty="0">
                <a:ln>
                  <a:noFill/>
                </a:ln>
                <a:effectLst/>
                <a:latin typeface="Aptos" panose="020B0004020202020204" pitchFamily="34" charset="0"/>
              </a:rPr>
              <a:t>Acción 3 (Intervención Humana):</a:t>
            </a:r>
            <a:r>
              <a:rPr kumimoji="0" lang="es-PE" altLang="es-PE" sz="1600" b="0" i="0" u="none" strike="noStrike" cap="none" normalizeH="0" baseline="0" dirty="0">
                <a:ln>
                  <a:noFill/>
                </a:ln>
                <a:effectLst/>
                <a:latin typeface="Aptos" panose="020B0004020202020204" pitchFamily="34" charset="0"/>
              </a:rPr>
              <a:t> Iniciar un </a:t>
            </a:r>
            <a:r>
              <a:rPr kumimoji="0" lang="es-PE" altLang="es-PE" sz="1600" b="1" i="0" u="none" strike="noStrike" cap="none" normalizeH="0" baseline="0" dirty="0">
                <a:ln>
                  <a:noFill/>
                </a:ln>
                <a:effectLst/>
                <a:latin typeface="Aptos" panose="020B0004020202020204" pitchFamily="34" charset="0"/>
              </a:rPr>
              <a:t>Flujo de Aprobación</a:t>
            </a:r>
            <a:r>
              <a:rPr kumimoji="0" lang="es-PE" altLang="es-PE" sz="1600" b="0" i="0" u="none" strike="noStrike" cap="none" normalizeH="0" baseline="0" dirty="0">
                <a:ln>
                  <a:noFill/>
                </a:ln>
                <a:effectLst/>
                <a:latin typeface="Aptos" panose="020B0004020202020204" pitchFamily="34" charset="0"/>
              </a:rPr>
              <a:t>. El sistema envía una notificación al coordinador, quien puede aprobar o rechazar desde su celular o correo.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1600" b="1" i="0" u="none" strike="noStrike" cap="none" normalizeH="0" baseline="0" dirty="0">
                <a:ln>
                  <a:noFill/>
                </a:ln>
                <a:effectLst/>
                <a:latin typeface="Aptos" panose="020B0004020202020204" pitchFamily="34" charset="0"/>
              </a:rPr>
              <a:t>Acción 4 (Notificación):</a:t>
            </a:r>
            <a:r>
              <a:rPr kumimoji="0" lang="es-PE" altLang="es-PE" sz="1600" b="0" i="0" u="none" strike="noStrike" cap="none" normalizeH="0" baseline="0" dirty="0">
                <a:ln>
                  <a:noFill/>
                </a:ln>
                <a:effectLst/>
                <a:latin typeface="Aptos" panose="020B0004020202020204" pitchFamily="34" charset="0"/>
              </a:rPr>
              <a:t> Si se aprueba, enviar un mensaje automático a un canal de </a:t>
            </a:r>
            <a:r>
              <a:rPr kumimoji="0" lang="es-PE" altLang="es-PE" sz="1600" b="1" i="0" u="none" strike="noStrike" cap="none" normalizeH="0" baseline="0" dirty="0">
                <a:ln>
                  <a:noFill/>
                </a:ln>
                <a:effectLst/>
                <a:latin typeface="Aptos" panose="020B0004020202020204" pitchFamily="34" charset="0"/>
              </a:rPr>
              <a:t>Microsoft Teams</a:t>
            </a:r>
            <a:r>
              <a:rPr kumimoji="0" lang="es-PE" altLang="es-PE" sz="1600" b="0" i="0" u="none" strike="noStrike" cap="none" normalizeH="0" baseline="0" dirty="0">
                <a:ln>
                  <a:noFill/>
                </a:ln>
                <a:effectLst/>
                <a:latin typeface="Aptos" panose="020B0004020202020204" pitchFamily="34" charset="0"/>
              </a:rPr>
              <a:t> informando al equipo de investigación.</a:t>
            </a:r>
          </a:p>
          <a:p>
            <a:pPr marL="0" marR="0" lvl="0" indent="0" algn="l" defTabSz="914400" rtl="0" eaLnBrk="0" fontAlgn="base" latinLnBrk="0" hangingPunct="0">
              <a:lnSpc>
                <a:spcPct val="100000"/>
              </a:lnSpc>
              <a:spcBef>
                <a:spcPct val="0"/>
              </a:spcBef>
              <a:spcAft>
                <a:spcPct val="0"/>
              </a:spcAft>
              <a:buClrTx/>
              <a:buSzTx/>
              <a:buFontTx/>
              <a:buNone/>
              <a:tabLst/>
            </a:pPr>
            <a:br>
              <a:rPr kumimoji="0" lang="es-PE" altLang="es-PE" sz="800" b="0" i="0" u="none" strike="noStrike" cap="none" normalizeH="0" baseline="0" dirty="0">
                <a:ln>
                  <a:noFill/>
                </a:ln>
                <a:solidFill>
                  <a:schemeClr val="tx1"/>
                </a:solidFill>
                <a:effectLst/>
              </a:rPr>
            </a:b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8800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F9C47-1792-E5D5-E220-BED392450E2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B801321-D8D3-1AB9-AC99-D980F9D184A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86CE46F8-2E0B-C27A-818D-74E030FCD8AA}"/>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9" name="Rectangle 2">
            <a:extLst>
              <a:ext uri="{FF2B5EF4-FFF2-40B4-BE49-F238E27FC236}">
                <a16:creationId xmlns:a16="http://schemas.microsoft.com/office/drawing/2014/main" id="{6A153A0C-9D9A-B952-679C-9EB4CFE58F91}"/>
              </a:ext>
            </a:extLst>
          </p:cNvPr>
          <p:cNvSpPr>
            <a:spLocks noChangeArrowheads="1"/>
          </p:cNvSpPr>
          <p:nvPr/>
        </p:nvSpPr>
        <p:spPr bwMode="auto">
          <a:xfrm>
            <a:off x="-2909538" y="1421948"/>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2B46FFF3-5260-A13B-71C3-80AA0107E9AB}"/>
              </a:ext>
            </a:extLst>
          </p:cNvPr>
          <p:cNvSpPr>
            <a:spLocks noChangeArrowheads="1"/>
          </p:cNvSpPr>
          <p:nvPr/>
        </p:nvSpPr>
        <p:spPr bwMode="auto">
          <a:xfrm>
            <a:off x="0" y="-261610"/>
            <a:ext cx="216726"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000" b="0" i="0" u="none" strike="noStrike" cap="none" normalizeH="0" baseline="0" dirty="0">
                <a:ln>
                  <a:noFill/>
                </a:ln>
                <a:solidFill>
                  <a:srgbClr val="303030"/>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sp>
        <p:nvSpPr>
          <p:cNvPr id="4" name="Title 1">
            <a:extLst>
              <a:ext uri="{FF2B5EF4-FFF2-40B4-BE49-F238E27FC236}">
                <a16:creationId xmlns:a16="http://schemas.microsoft.com/office/drawing/2014/main" id="{4ECA8D2C-3E56-98C9-C315-C6872D6A79BF}"/>
              </a:ext>
            </a:extLst>
          </p:cNvPr>
          <p:cNvSpPr txBox="1">
            <a:spLocks/>
          </p:cNvSpPr>
          <p:nvPr/>
        </p:nvSpPr>
        <p:spPr>
          <a:xfrm>
            <a:off x="216726" y="576010"/>
            <a:ext cx="12192000" cy="790048"/>
          </a:xfrm>
          <a:prstGeom prst="rect">
            <a:avLst/>
          </a:prstGeom>
        </p:spPr>
        <p:txBody>
          <a:bodyPr vert="horz" lIns="91440" tIns="45720" rIns="91440" bIns="45720" rtlCol="0" anchor="ctr">
            <a:normAutofit fontScale="6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dirty="0"/>
              <a:t>Caso de Uso 2: </a:t>
            </a:r>
            <a:r>
              <a:rPr lang="es-PE" altLang="es-PE" dirty="0">
                <a:latin typeface="Arial" panose="020B0604020202020204" pitchFamily="34" charset="0"/>
              </a:rPr>
              <a:t>Sistema Inteligente de Gestión de Proyectos de </a:t>
            </a:r>
          </a:p>
          <a:p>
            <a:pPr algn="l"/>
            <a:r>
              <a:rPr lang="es-PE" altLang="es-PE" dirty="0">
                <a:latin typeface="Arial" panose="020B0604020202020204" pitchFamily="34" charset="0"/>
              </a:rPr>
              <a:t>Investigación Académica</a:t>
            </a:r>
          </a:p>
          <a:p>
            <a:pPr algn="l"/>
            <a:endParaRPr lang="es-ES" dirty="0"/>
          </a:p>
        </p:txBody>
      </p:sp>
      <p:sp>
        <p:nvSpPr>
          <p:cNvPr id="10" name="Rectangle 1">
            <a:extLst>
              <a:ext uri="{FF2B5EF4-FFF2-40B4-BE49-F238E27FC236}">
                <a16:creationId xmlns:a16="http://schemas.microsoft.com/office/drawing/2014/main" id="{1C85AB03-EBE6-58EF-B24D-FE77DAEF523A}"/>
              </a:ext>
            </a:extLst>
          </p:cNvPr>
          <p:cNvSpPr>
            <a:spLocks noChangeArrowheads="1"/>
          </p:cNvSpPr>
          <p:nvPr/>
        </p:nvSpPr>
        <p:spPr bwMode="auto">
          <a:xfrm>
            <a:off x="216726" y="1203677"/>
            <a:ext cx="95123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800" b="0" i="0" u="none" strike="noStrike" cap="none" normalizeH="0" baseline="0" dirty="0">
                <a:ln>
                  <a:noFill/>
                </a:ln>
                <a:solidFill>
                  <a:schemeClr val="tx1"/>
                </a:solidFill>
                <a:effectLst/>
                <a:latin typeface="Arial" panose="020B0604020202020204" pitchFamily="34" charset="0"/>
              </a:rPr>
              <a:t>3. Conceptos Técnicos Clave: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es-PE" altLang="es-PE" b="0" i="0" u="none" strike="noStrike" cap="none" normalizeH="0" baseline="0" dirty="0">
                <a:ln>
                  <a:noFill/>
                </a:ln>
                <a:solidFill>
                  <a:schemeClr val="tx1"/>
                </a:solidFill>
                <a:effectLst/>
                <a:latin typeface="Arial" panose="020B0604020202020204" pitchFamily="34" charset="0"/>
              </a:rPr>
              <a:t>A. Contenido Dinámico (Dynamic Content)</a:t>
            </a:r>
          </a:p>
          <a:p>
            <a:pPr lvl="2" defTabSz="914400" eaLnBrk="0" fontAlgn="base" hangingPunct="0">
              <a:spcBef>
                <a:spcPct val="0"/>
              </a:spcBef>
              <a:spcAft>
                <a:spcPct val="0"/>
              </a:spcAft>
            </a:pPr>
            <a:r>
              <a:rPr kumimoji="0" lang="es-PE" altLang="es-PE" b="0" i="0" u="none" strike="noStrike" cap="none" normalizeH="0" baseline="0" dirty="0">
                <a:ln>
                  <a:noFill/>
                </a:ln>
                <a:solidFill>
                  <a:schemeClr val="tx1"/>
                </a:solidFill>
                <a:effectLst/>
                <a:latin typeface="Arial" panose="020B0604020202020204" pitchFamily="34" charset="0"/>
              </a:rPr>
              <a:t>Es el concepto más importante. Los alumnos aprenderán que la salida (output) del Trigger (ej. el nombre del remitente del correo) se convierte en la entrada (input) de la acción siguiente (ej. el nombre en la base de datos).</a:t>
            </a:r>
          </a:p>
          <a:p>
            <a:pPr lvl="2" defTabSz="914400" eaLnBrk="0" fontAlgn="base" hangingPunct="0">
              <a:spcBef>
                <a:spcPct val="0"/>
              </a:spcBef>
              <a:spcAft>
                <a:spcPct val="0"/>
              </a:spcAft>
            </a:pPr>
            <a:endParaRPr kumimoji="0" lang="es-PE" altLang="es-PE"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es-PE" altLang="es-PE" b="0" i="0" u="none" strike="noStrike" cap="none" normalizeH="0" baseline="0" dirty="0">
                <a:ln>
                  <a:noFill/>
                </a:ln>
                <a:solidFill>
                  <a:schemeClr val="tx1"/>
                </a:solidFill>
                <a:effectLst/>
                <a:latin typeface="Arial" panose="020B0604020202020204" pitchFamily="34" charset="0"/>
              </a:rPr>
              <a:t>B. Uso de Copilot (IA Generativa)</a:t>
            </a:r>
          </a:p>
          <a:p>
            <a:pPr lvl="2" defTabSz="914400" eaLnBrk="0" fontAlgn="base" hangingPunct="0">
              <a:spcBef>
                <a:spcPct val="0"/>
              </a:spcBef>
              <a:spcAft>
                <a:spcPct val="0"/>
              </a:spcAft>
            </a:pPr>
            <a:r>
              <a:rPr kumimoji="0" lang="es-PE" altLang="es-PE" b="0" i="0" u="none" strike="noStrike" cap="none" normalizeH="0" baseline="0" dirty="0">
                <a:ln>
                  <a:noFill/>
                </a:ln>
                <a:solidFill>
                  <a:schemeClr val="tx1"/>
                </a:solidFill>
                <a:effectLst/>
                <a:latin typeface="Arial" panose="020B0604020202020204" pitchFamily="34" charset="0"/>
              </a:rPr>
              <a:t>En lugar de arrastrar cajas manualmente, los alumnos pueden usar </a:t>
            </a:r>
            <a:r>
              <a:rPr kumimoji="0" lang="es-PE" altLang="es-PE" b="1" i="0" u="none" strike="noStrike" cap="none" normalizeH="0" baseline="0" dirty="0">
                <a:ln>
                  <a:noFill/>
                </a:ln>
                <a:solidFill>
                  <a:schemeClr val="tx1"/>
                </a:solidFill>
                <a:effectLst/>
                <a:latin typeface="Arial" panose="020B0604020202020204" pitchFamily="34" charset="0"/>
              </a:rPr>
              <a:t>Copilot en Power Automate</a:t>
            </a:r>
            <a:r>
              <a:rPr kumimoji="0" lang="es-PE" altLang="es-PE" b="0" i="0" u="none" strike="noStrike" cap="none" normalizeH="0" baseline="0" dirty="0">
                <a:ln>
                  <a:noFill/>
                </a:ln>
                <a:solidFill>
                  <a:schemeClr val="tx1"/>
                </a:solidFill>
                <a:effectLst/>
                <a:latin typeface="Arial" panose="020B0604020202020204" pitchFamily="34" charset="0"/>
              </a:rPr>
              <a:t> para describir el flujo en lenguaje natural: </a:t>
            </a:r>
            <a:r>
              <a:rPr kumimoji="0" lang="es-PE" altLang="es-PE" b="0" i="1" u="none" strike="noStrike" cap="none" normalizeH="0" baseline="0" dirty="0">
                <a:ln>
                  <a:noFill/>
                </a:ln>
                <a:solidFill>
                  <a:schemeClr val="tx1"/>
                </a:solidFill>
                <a:effectLst/>
                <a:latin typeface="Arial" panose="020B0604020202020204" pitchFamily="34" charset="0"/>
              </a:rPr>
              <a:t>"Crea un flujo que cuando llegue un correo con adjunto, lo guarde en SharePoint y pida una aprobación"</a:t>
            </a:r>
            <a:r>
              <a:rPr kumimoji="0" lang="es-PE" altLang="es-PE" b="0" i="0" u="none" strike="noStrike" cap="none" normalizeH="0" baseline="0" dirty="0">
                <a:ln>
                  <a:noFill/>
                </a:ln>
                <a:solidFill>
                  <a:schemeClr val="tx1"/>
                </a:solidFill>
                <a:effectLst/>
                <a:latin typeface="Arial" panose="020B0604020202020204" pitchFamily="34" charset="0"/>
              </a:rPr>
              <a:t>. La IA generará el esqueleto del proceso automáticamente.</a:t>
            </a:r>
          </a:p>
          <a:p>
            <a:pPr lvl="2" defTabSz="914400" eaLnBrk="0" fontAlgn="base" hangingPunct="0">
              <a:spcBef>
                <a:spcPct val="0"/>
              </a:spcBef>
              <a:spcAft>
                <a:spcPct val="0"/>
              </a:spcAft>
            </a:pPr>
            <a:endParaRPr kumimoji="0" lang="es-PE" altLang="es-PE"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es-PE" altLang="es-PE" b="0" i="0" u="none" strike="noStrike" cap="none" normalizeH="0" baseline="0" dirty="0">
                <a:ln>
                  <a:noFill/>
                </a:ln>
                <a:solidFill>
                  <a:schemeClr val="tx1"/>
                </a:solidFill>
                <a:effectLst/>
                <a:latin typeface="Arial" panose="020B0604020202020204" pitchFamily="34" charset="0"/>
              </a:rPr>
              <a:t>C. Lógica de Negocio con Bajo Código</a:t>
            </a:r>
          </a:p>
          <a:p>
            <a:pPr lvl="1" defTabSz="914400" eaLnBrk="0" fontAlgn="base" hangingPunct="0">
              <a:spcBef>
                <a:spcPct val="0"/>
              </a:spcBef>
              <a:spcAft>
                <a:spcPct val="0"/>
              </a:spcAft>
            </a:pPr>
            <a:r>
              <a:rPr lang="es-PE" altLang="es-PE" dirty="0">
                <a:latin typeface="Arial" panose="020B0604020202020204" pitchFamily="34" charset="0"/>
              </a:rPr>
              <a:t>	</a:t>
            </a:r>
            <a:r>
              <a:rPr kumimoji="0" lang="es-PE" altLang="es-PE" b="0" i="0" u="none" strike="noStrike" cap="none" normalizeH="0" baseline="0" dirty="0">
                <a:ln>
                  <a:noFill/>
                </a:ln>
                <a:solidFill>
                  <a:schemeClr val="tx1"/>
                </a:solidFill>
                <a:effectLst/>
                <a:latin typeface="Arial" panose="020B0604020202020204" pitchFamily="34" charset="0"/>
              </a:rPr>
              <a:t>A pesar de ser visual, el flujo permite implementar lógica booleana (Condiciones: 	"Si es aprobado, hacer A; si es rechazado, hacer B"). Esto refuerza su 	pensamiento lógico sin las barreras sintácticas de un lenguaje de programación 	tradicional.</a:t>
            </a:r>
          </a:p>
        </p:txBody>
      </p:sp>
    </p:spTree>
    <p:extLst>
      <p:ext uri="{BB962C8B-B14F-4D97-AF65-F5344CB8AC3E}">
        <p14:creationId xmlns:p14="http://schemas.microsoft.com/office/powerpoint/2010/main" val="278506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01BA8-68AF-F00D-1995-F873FACC682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5F03AC5-FFF9-EA03-E47E-EC09E78E5431}"/>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9531A279-98B8-07FE-33D0-AC90C1AC3F7F}"/>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9" name="Rectangle 2">
            <a:extLst>
              <a:ext uri="{FF2B5EF4-FFF2-40B4-BE49-F238E27FC236}">
                <a16:creationId xmlns:a16="http://schemas.microsoft.com/office/drawing/2014/main" id="{8DCFDC7A-EB2C-AC20-37E6-AC6C327589A0}"/>
              </a:ext>
            </a:extLst>
          </p:cNvPr>
          <p:cNvSpPr>
            <a:spLocks noChangeArrowheads="1"/>
          </p:cNvSpPr>
          <p:nvPr/>
        </p:nvSpPr>
        <p:spPr bwMode="auto">
          <a:xfrm>
            <a:off x="-2909538" y="1421948"/>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F2049C2C-6A89-385B-50BC-18C862F1562C}"/>
              </a:ext>
            </a:extLst>
          </p:cNvPr>
          <p:cNvSpPr>
            <a:spLocks noChangeArrowheads="1"/>
          </p:cNvSpPr>
          <p:nvPr/>
        </p:nvSpPr>
        <p:spPr bwMode="auto">
          <a:xfrm>
            <a:off x="0" y="-261610"/>
            <a:ext cx="216726"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000" b="0" i="0" u="none" strike="noStrike" cap="none" normalizeH="0" baseline="0" dirty="0">
                <a:ln>
                  <a:noFill/>
                </a:ln>
                <a:solidFill>
                  <a:srgbClr val="303030"/>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CA8D02C4-FAF4-5251-D430-42A8E292806E}"/>
              </a:ext>
            </a:extLst>
          </p:cNvPr>
          <p:cNvSpPr>
            <a:spLocks noChangeArrowheads="1"/>
          </p:cNvSpPr>
          <p:nvPr/>
        </p:nvSpPr>
        <p:spPr bwMode="auto">
          <a:xfrm>
            <a:off x="216726" y="1880785"/>
            <a:ext cx="11454574" cy="378565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2000" b="0" i="0" u="none" strike="noStrike" cap="none" normalizeH="0" baseline="0" dirty="0">
                <a:ln>
                  <a:noFill/>
                </a:ln>
                <a:solidFill>
                  <a:schemeClr val="tx1"/>
                </a:solidFill>
                <a:effectLst/>
                <a:latin typeface="Aptos" panose="020B0004020202020204" pitchFamily="34" charset="0"/>
              </a:rPr>
              <a:t>4. Guía de Ejecución para los Alumnos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2000" b="0" i="0" u="none" strike="noStrike" cap="none" normalizeH="0" baseline="0" dirty="0">
              <a:ln>
                <a:noFill/>
              </a:ln>
              <a:solidFill>
                <a:schemeClr val="tx1"/>
              </a:solidFill>
              <a:effectLst/>
              <a:latin typeface="Aptos" panose="020B0004020202020204" pitchFamily="34" charset="0"/>
            </a:endParaRPr>
          </a:p>
          <a:p>
            <a:pPr lvl="1" defTabSz="914400" eaLnBrk="0" fontAlgn="base" hangingPunct="0">
              <a:spcBef>
                <a:spcPct val="0"/>
              </a:spcBef>
              <a:spcAft>
                <a:spcPct val="0"/>
              </a:spcAft>
              <a:buFontTx/>
              <a:buAutoNum type="arabicPeriod"/>
            </a:pPr>
            <a:r>
              <a:rPr kumimoji="0" lang="es-PE" altLang="es-PE" sz="2000" b="1" i="0" u="none" strike="noStrike" cap="none" normalizeH="0" baseline="0" dirty="0">
                <a:ln>
                  <a:noFill/>
                </a:ln>
                <a:effectLst/>
                <a:latin typeface="Aptos" panose="020B0004020202020204" pitchFamily="34" charset="0"/>
              </a:rPr>
              <a:t>Exploración:</a:t>
            </a:r>
            <a:r>
              <a:rPr kumimoji="0" lang="es-PE" altLang="es-PE" sz="2000" b="0" i="0" u="none" strike="noStrike" cap="none" normalizeH="0" baseline="0" dirty="0">
                <a:ln>
                  <a:noFill/>
                </a:ln>
                <a:effectLst/>
                <a:latin typeface="Aptos" panose="020B0004020202020204" pitchFamily="34" charset="0"/>
              </a:rPr>
              <a:t> Entrar al portal de Power Automate y seleccionar "Crear".</a:t>
            </a:r>
          </a:p>
          <a:p>
            <a:pPr lvl="1" defTabSz="914400" eaLnBrk="0" fontAlgn="base" hangingPunct="0">
              <a:spcBef>
                <a:spcPct val="0"/>
              </a:spcBef>
              <a:spcAft>
                <a:spcPct val="0"/>
              </a:spcAft>
              <a:buFontTx/>
              <a:buAutoNum type="arabicPeriod" startAt="2"/>
            </a:pPr>
            <a:r>
              <a:rPr kumimoji="0" lang="es-PE" altLang="es-PE" sz="2000" b="1" i="0" u="none" strike="noStrike" cap="none" normalizeH="0" baseline="0" dirty="0">
                <a:ln>
                  <a:noFill/>
                </a:ln>
                <a:effectLst/>
                <a:latin typeface="Aptos" panose="020B0004020202020204" pitchFamily="34" charset="0"/>
              </a:rPr>
              <a:t>Diseño con IA:</a:t>
            </a:r>
            <a:r>
              <a:rPr kumimoji="0" lang="es-PE" altLang="es-PE" sz="2000" b="0" i="0" u="none" strike="noStrike" cap="none" normalizeH="0" baseline="0" dirty="0">
                <a:ln>
                  <a:noFill/>
                </a:ln>
                <a:effectLst/>
                <a:latin typeface="Aptos" panose="020B0004020202020204" pitchFamily="34" charset="0"/>
              </a:rPr>
              <a:t> Usar la barra de </a:t>
            </a:r>
            <a:r>
              <a:rPr kumimoji="0" lang="es-PE" altLang="es-PE" sz="2000" b="1" i="0" u="none" strike="noStrike" cap="none" normalizeH="0" baseline="0" dirty="0">
                <a:ln>
                  <a:noFill/>
                </a:ln>
                <a:effectLst/>
                <a:latin typeface="Aptos" panose="020B0004020202020204" pitchFamily="34" charset="0"/>
              </a:rPr>
              <a:t>Copilot</a:t>
            </a:r>
            <a:r>
              <a:rPr kumimoji="0" lang="es-PE" altLang="es-PE" sz="2000" b="0" i="0" u="none" strike="noStrike" cap="none" normalizeH="0" baseline="0" dirty="0">
                <a:ln>
                  <a:noFill/>
                </a:ln>
                <a:effectLst/>
                <a:latin typeface="Aptos" panose="020B0004020202020204" pitchFamily="34" charset="0"/>
              </a:rPr>
              <a:t> para describir el proceso mencionado.</a:t>
            </a:r>
          </a:p>
          <a:p>
            <a:pPr lvl="1" defTabSz="914400" eaLnBrk="0" fontAlgn="base" hangingPunct="0">
              <a:spcBef>
                <a:spcPct val="0"/>
              </a:spcBef>
              <a:spcAft>
                <a:spcPct val="0"/>
              </a:spcAft>
              <a:buFontTx/>
              <a:buAutoNum type="arabicPeriod" startAt="3"/>
            </a:pPr>
            <a:r>
              <a:rPr kumimoji="0" lang="es-PE" altLang="es-PE" sz="2000" b="1" i="0" u="none" strike="noStrike" cap="none" normalizeH="0" baseline="0" dirty="0">
                <a:ln>
                  <a:noFill/>
                </a:ln>
                <a:effectLst/>
                <a:latin typeface="Aptos" panose="020B0004020202020204" pitchFamily="34" charset="0"/>
              </a:rPr>
              <a:t>Configuración de Conectores:</a:t>
            </a:r>
            <a:r>
              <a:rPr kumimoji="0" lang="es-PE" altLang="es-PE" sz="2000" b="0" i="0" u="none" strike="noStrike" cap="none" normalizeH="0" baseline="0" dirty="0">
                <a:ln>
                  <a:noFill/>
                </a:ln>
                <a:effectLst/>
                <a:latin typeface="Aptos" panose="020B0004020202020204" pitchFamily="34" charset="0"/>
              </a:rPr>
              <a:t> Autenticarse en Outlook, SharePoint y Teams para "desbloquear el valor" de la integración.</a:t>
            </a:r>
          </a:p>
          <a:p>
            <a:pPr lvl="1" defTabSz="914400" eaLnBrk="0" fontAlgn="base" hangingPunct="0">
              <a:spcBef>
                <a:spcPct val="0"/>
              </a:spcBef>
              <a:spcAft>
                <a:spcPct val="0"/>
              </a:spcAft>
              <a:buFontTx/>
              <a:buAutoNum type="arabicPeriod" startAt="4"/>
            </a:pPr>
            <a:r>
              <a:rPr kumimoji="0" lang="es-PE" altLang="es-PE" sz="2000" b="1" i="0" u="none" strike="noStrike" cap="none" normalizeH="0" baseline="0" dirty="0">
                <a:ln>
                  <a:noFill/>
                </a:ln>
                <a:effectLst/>
                <a:latin typeface="Aptos" panose="020B0004020202020204" pitchFamily="34" charset="0"/>
              </a:rPr>
              <a:t>Mapeo de Datos:</a:t>
            </a:r>
            <a:r>
              <a:rPr kumimoji="0" lang="es-PE" altLang="es-PE" sz="2000" b="0" i="0" u="none" strike="noStrike" cap="none" normalizeH="0" baseline="0" dirty="0">
                <a:ln>
                  <a:noFill/>
                </a:ln>
                <a:effectLst/>
                <a:latin typeface="Aptos" panose="020B0004020202020204" pitchFamily="34" charset="0"/>
              </a:rPr>
              <a:t> Utilizar el panel de </a:t>
            </a:r>
            <a:r>
              <a:rPr kumimoji="0" lang="es-PE" altLang="es-PE" sz="2000" b="1" i="0" u="none" strike="noStrike" cap="none" normalizeH="0" baseline="0" dirty="0">
                <a:ln>
                  <a:noFill/>
                </a:ln>
                <a:effectLst/>
                <a:latin typeface="Aptos" panose="020B0004020202020204" pitchFamily="34" charset="0"/>
              </a:rPr>
              <a:t>contenido dinámico</a:t>
            </a:r>
            <a:r>
              <a:rPr kumimoji="0" lang="es-PE" altLang="es-PE" sz="2000" b="0" i="0" u="none" strike="noStrike" cap="none" normalizeH="0" baseline="0" dirty="0">
                <a:ln>
                  <a:noFill/>
                </a:ln>
                <a:effectLst/>
                <a:latin typeface="Aptos" panose="020B0004020202020204" pitchFamily="34" charset="0"/>
              </a:rPr>
              <a:t> para pasar el nombre del archivo y el cuerpo del mensaje entre pasos.</a:t>
            </a:r>
          </a:p>
          <a:p>
            <a:pPr lvl="1" defTabSz="914400" eaLnBrk="0" fontAlgn="base" hangingPunct="0">
              <a:spcBef>
                <a:spcPct val="0"/>
              </a:spcBef>
              <a:spcAft>
                <a:spcPct val="0"/>
              </a:spcAft>
              <a:buFontTx/>
              <a:buAutoNum type="arabicPeriod" startAt="5"/>
            </a:pPr>
            <a:r>
              <a:rPr kumimoji="0" lang="es-PE" altLang="es-PE" sz="2000" b="1" i="0" u="none" strike="noStrike" cap="none" normalizeH="0" baseline="0" dirty="0">
                <a:ln>
                  <a:noFill/>
                </a:ln>
                <a:effectLst/>
                <a:latin typeface="Aptos" panose="020B0004020202020204" pitchFamily="34" charset="0"/>
              </a:rPr>
              <a:t>Testing:</a:t>
            </a:r>
            <a:r>
              <a:rPr kumimoji="0" lang="es-PE" altLang="es-PE" sz="2000" b="0" i="0" u="none" strike="noStrike" cap="none" normalizeH="0" baseline="0" dirty="0">
                <a:ln>
                  <a:noFill/>
                </a:ln>
                <a:effectLst/>
                <a:latin typeface="Aptos" panose="020B0004020202020204" pitchFamily="34" charset="0"/>
              </a:rPr>
              <a:t> Enviar un correo de prueba y monitorear la ejecución del flujo en tiempo real desde el panel de control.</a:t>
            </a:r>
          </a:p>
          <a:p>
            <a:pPr marL="0" marR="0" lvl="0" indent="0" algn="l" defTabSz="914400" rtl="0" eaLnBrk="0" fontAlgn="base" latinLnBrk="0" hangingPunct="0">
              <a:lnSpc>
                <a:spcPct val="100000"/>
              </a:lnSpc>
              <a:spcBef>
                <a:spcPct val="0"/>
              </a:spcBef>
              <a:spcAft>
                <a:spcPct val="0"/>
              </a:spcAft>
              <a:buClrTx/>
              <a:buSzTx/>
              <a:buFontTx/>
              <a:buNone/>
              <a:tabLst/>
            </a:pPr>
            <a:br>
              <a:rPr kumimoji="0" lang="es-PE" altLang="es-PE" sz="2000" b="0" i="0" u="none" strike="noStrike" cap="none" normalizeH="0" baseline="0" dirty="0">
                <a:ln>
                  <a:noFill/>
                </a:ln>
                <a:solidFill>
                  <a:schemeClr val="tx1"/>
                </a:solidFill>
                <a:effectLst/>
                <a:latin typeface="Aptos" panose="020B0004020202020204" pitchFamily="34" charset="0"/>
              </a:rPr>
            </a:br>
            <a:endParaRPr kumimoji="0" lang="es-PE" altLang="es-PE" sz="2000" b="0" i="0" u="none" strike="noStrike" cap="none" normalizeH="0" baseline="0" dirty="0">
              <a:ln>
                <a:noFill/>
              </a:ln>
              <a:solidFill>
                <a:schemeClr val="tx1"/>
              </a:solidFill>
              <a:effectLst/>
              <a:latin typeface="Aptos" panose="020B0004020202020204" pitchFamily="34" charset="0"/>
            </a:endParaRPr>
          </a:p>
        </p:txBody>
      </p:sp>
      <p:sp>
        <p:nvSpPr>
          <p:cNvPr id="10" name="Title 1">
            <a:extLst>
              <a:ext uri="{FF2B5EF4-FFF2-40B4-BE49-F238E27FC236}">
                <a16:creationId xmlns:a16="http://schemas.microsoft.com/office/drawing/2014/main" id="{95CA89DA-5F4A-0C3A-F816-8BE8A06690A3}"/>
              </a:ext>
            </a:extLst>
          </p:cNvPr>
          <p:cNvSpPr txBox="1">
            <a:spLocks/>
          </p:cNvSpPr>
          <p:nvPr/>
        </p:nvSpPr>
        <p:spPr>
          <a:xfrm>
            <a:off x="216726" y="576010"/>
            <a:ext cx="12192000" cy="790048"/>
          </a:xfrm>
          <a:prstGeom prst="rect">
            <a:avLst/>
          </a:prstGeom>
        </p:spPr>
        <p:txBody>
          <a:bodyPr vert="horz" lIns="91440" tIns="45720" rIns="91440" bIns="45720" rtlCol="0" anchor="ctr">
            <a:normAutofit fontScale="6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dirty="0"/>
              <a:t>Caso de Uso 2: </a:t>
            </a:r>
            <a:r>
              <a:rPr lang="es-PE" altLang="es-PE" dirty="0">
                <a:latin typeface="Arial" panose="020B0604020202020204" pitchFamily="34" charset="0"/>
              </a:rPr>
              <a:t>Sistema Inteligente de Gestión de Proyectos de </a:t>
            </a:r>
          </a:p>
          <a:p>
            <a:pPr algn="l"/>
            <a:r>
              <a:rPr lang="es-PE" altLang="es-PE" dirty="0">
                <a:latin typeface="Arial" panose="020B0604020202020204" pitchFamily="34" charset="0"/>
              </a:rPr>
              <a:t>Investigación Académica</a:t>
            </a:r>
          </a:p>
          <a:p>
            <a:pPr algn="l"/>
            <a:endParaRPr lang="es-ES" dirty="0"/>
          </a:p>
        </p:txBody>
      </p:sp>
    </p:spTree>
    <p:extLst>
      <p:ext uri="{BB962C8B-B14F-4D97-AF65-F5344CB8AC3E}">
        <p14:creationId xmlns:p14="http://schemas.microsoft.com/office/powerpoint/2010/main" val="3114053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17528</TotalTime>
  <Words>620</Words>
  <Application>Microsoft Office PowerPoint</Application>
  <PresentationFormat>Panorámica</PresentationFormat>
  <Paragraphs>62</Paragraphs>
  <Slides>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Aptos</vt:lpstr>
      <vt:lpstr>Arial</vt:lpstr>
      <vt:lpstr>Calibri</vt:lpstr>
      <vt:lpstr>Google Sans Text</vt:lpstr>
      <vt:lpstr>Office Theme</vt:lpstr>
      <vt:lpstr>Semana 11 - Sesión 02:  Automatización Robotica de Procesos</vt:lpstr>
      <vt:lpstr>Agenda</vt:lpstr>
      <vt:lpstr>Logros</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10 - Sesión 1:  Continuidad de Negocio</dc:title>
  <dc:subject/>
  <dc:creator>ISBERT JOSE PANEZ WUCHENAUER</dc:creator>
  <cp:keywords/>
  <dc:description>generated using python-pptx</dc:description>
  <cp:lastModifiedBy>PCAPJLUN (LUNA SAAVEDRA, JESUS JAFET)</cp:lastModifiedBy>
  <cp:revision>64</cp:revision>
  <dcterms:created xsi:type="dcterms:W3CDTF">2013-01-27T09:14:16Z</dcterms:created>
  <dcterms:modified xsi:type="dcterms:W3CDTF">2026-06-07T06:05:32Z</dcterms:modified>
  <cp:category/>
</cp:coreProperties>
</file>